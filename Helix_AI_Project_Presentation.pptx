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Default Extension="png" ContentType="image/png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33932" y="1720418"/>
            <a:ext cx="9724135" cy="1939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6983" y="232663"/>
            <a:ext cx="11433683" cy="793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68222" y="2780410"/>
            <a:ext cx="9458960" cy="25958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jp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jpg"/><Relationship Id="rId15" Type="http://schemas.openxmlformats.org/officeDocument/2006/relationships/image" Target="../media/image16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9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5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pranathi0104/Helix-AI.git" TargetMode="External"/><Relationship Id="rId3" Type="http://schemas.openxmlformats.org/officeDocument/2006/relationships/hyperlink" Target="https://helix-ai-qjc9.onrender.com/" TargetMode="Externa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3825" rIns="0" bIns="0" rtlCol="0" vert="horz">
            <a:spAutoFit/>
          </a:bodyPr>
          <a:lstStyle/>
          <a:p>
            <a:pPr marL="1545590" marR="5080" indent="-1533525">
              <a:lnSpc>
                <a:spcPts val="7150"/>
              </a:lnSpc>
              <a:spcBef>
                <a:spcPts val="975"/>
              </a:spcBef>
            </a:pPr>
            <a:r>
              <a:rPr dirty="0" sz="6600">
                <a:latin typeface="Calibri"/>
                <a:cs typeface="Calibri"/>
              </a:rPr>
              <a:t>IBM</a:t>
            </a:r>
            <a:r>
              <a:rPr dirty="0" sz="6600" spc="-140">
                <a:latin typeface="Calibri"/>
                <a:cs typeface="Calibri"/>
              </a:rPr>
              <a:t> </a:t>
            </a:r>
            <a:r>
              <a:rPr dirty="0" sz="6600" spc="-10">
                <a:latin typeface="Calibri"/>
                <a:cs typeface="Calibri"/>
              </a:rPr>
              <a:t>University</a:t>
            </a:r>
            <a:r>
              <a:rPr dirty="0" sz="6600" spc="-190">
                <a:latin typeface="Calibri"/>
                <a:cs typeface="Calibri"/>
              </a:rPr>
              <a:t> </a:t>
            </a:r>
            <a:r>
              <a:rPr dirty="0" sz="6600" spc="-10">
                <a:latin typeface="Calibri"/>
                <a:cs typeface="Calibri"/>
              </a:rPr>
              <a:t>Engagement </a:t>
            </a:r>
            <a:r>
              <a:rPr dirty="0" sz="6600">
                <a:latin typeface="Calibri"/>
                <a:cs typeface="Calibri"/>
              </a:rPr>
              <a:t>Project</a:t>
            </a:r>
            <a:r>
              <a:rPr dirty="0" sz="6600" spc="-195">
                <a:latin typeface="Calibri"/>
                <a:cs typeface="Calibri"/>
              </a:rPr>
              <a:t> </a:t>
            </a:r>
            <a:r>
              <a:rPr dirty="0" sz="6600" spc="-10">
                <a:latin typeface="Calibri"/>
                <a:cs typeface="Calibri"/>
              </a:rPr>
              <a:t>Submission</a:t>
            </a:r>
            <a:endParaRPr sz="6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89150" y="4005453"/>
            <a:ext cx="86048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868686"/>
                </a:solidFill>
                <a:latin typeface="Calibri"/>
                <a:cs typeface="Calibri"/>
              </a:rPr>
              <a:t>“Exploring</a:t>
            </a:r>
            <a:r>
              <a:rPr dirty="0" sz="2400" spc="-80" b="1" i="1">
                <a:solidFill>
                  <a:srgbClr val="868686"/>
                </a:solidFill>
                <a:latin typeface="Calibri"/>
                <a:cs typeface="Calibri"/>
              </a:rPr>
              <a:t> </a:t>
            </a:r>
            <a:r>
              <a:rPr dirty="0" sz="2400" b="1" i="1">
                <a:solidFill>
                  <a:srgbClr val="868686"/>
                </a:solidFill>
                <a:latin typeface="Calibri"/>
                <a:cs typeface="Calibri"/>
              </a:rPr>
              <a:t>the</a:t>
            </a:r>
            <a:r>
              <a:rPr dirty="0" sz="2400" spc="-65" b="1" i="1">
                <a:solidFill>
                  <a:srgbClr val="868686"/>
                </a:solidFill>
                <a:latin typeface="Calibri"/>
                <a:cs typeface="Calibri"/>
              </a:rPr>
              <a:t> </a:t>
            </a:r>
            <a:r>
              <a:rPr dirty="0" sz="2400" b="1" i="1">
                <a:solidFill>
                  <a:srgbClr val="868686"/>
                </a:solidFill>
                <a:latin typeface="Calibri"/>
                <a:cs typeface="Calibri"/>
              </a:rPr>
              <a:t>Power</a:t>
            </a:r>
            <a:r>
              <a:rPr dirty="0" sz="2400" spc="-40" b="1" i="1">
                <a:solidFill>
                  <a:srgbClr val="868686"/>
                </a:solidFill>
                <a:latin typeface="Calibri"/>
                <a:cs typeface="Calibri"/>
              </a:rPr>
              <a:t> </a:t>
            </a:r>
            <a:r>
              <a:rPr dirty="0" sz="2400" b="1" i="1">
                <a:solidFill>
                  <a:srgbClr val="868686"/>
                </a:solidFill>
                <a:latin typeface="Calibri"/>
                <a:cs typeface="Calibri"/>
              </a:rPr>
              <a:t>of</a:t>
            </a:r>
            <a:r>
              <a:rPr dirty="0" sz="2400" spc="-20" b="1" i="1">
                <a:solidFill>
                  <a:srgbClr val="868686"/>
                </a:solidFill>
                <a:latin typeface="Calibri"/>
                <a:cs typeface="Calibri"/>
              </a:rPr>
              <a:t> </a:t>
            </a:r>
            <a:r>
              <a:rPr dirty="0" sz="2400" b="1" i="1">
                <a:solidFill>
                  <a:srgbClr val="868686"/>
                </a:solidFill>
                <a:latin typeface="Calibri"/>
                <a:cs typeface="Calibri"/>
              </a:rPr>
              <a:t>Agentic</a:t>
            </a:r>
            <a:r>
              <a:rPr dirty="0" sz="2400" spc="-35" b="1" i="1">
                <a:solidFill>
                  <a:srgbClr val="868686"/>
                </a:solidFill>
                <a:latin typeface="Calibri"/>
                <a:cs typeface="Calibri"/>
              </a:rPr>
              <a:t> </a:t>
            </a:r>
            <a:r>
              <a:rPr dirty="0" sz="2400" b="1" i="1">
                <a:solidFill>
                  <a:srgbClr val="868686"/>
                </a:solidFill>
                <a:latin typeface="Calibri"/>
                <a:cs typeface="Calibri"/>
              </a:rPr>
              <a:t>AI</a:t>
            </a:r>
            <a:r>
              <a:rPr dirty="0" sz="2400" spc="-30" b="1" i="1">
                <a:solidFill>
                  <a:srgbClr val="868686"/>
                </a:solidFill>
                <a:latin typeface="Calibri"/>
                <a:cs typeface="Calibri"/>
              </a:rPr>
              <a:t> </a:t>
            </a:r>
            <a:r>
              <a:rPr dirty="0" sz="2400" b="1" i="1">
                <a:solidFill>
                  <a:srgbClr val="868686"/>
                </a:solidFill>
                <a:latin typeface="Calibri"/>
                <a:cs typeface="Calibri"/>
              </a:rPr>
              <a:t>with</a:t>
            </a:r>
            <a:r>
              <a:rPr dirty="0" sz="2400" spc="-70" b="1" i="1">
                <a:solidFill>
                  <a:srgbClr val="868686"/>
                </a:solidFill>
                <a:latin typeface="Calibri"/>
                <a:cs typeface="Calibri"/>
              </a:rPr>
              <a:t> </a:t>
            </a:r>
            <a:r>
              <a:rPr dirty="0" sz="2400" b="1" i="1">
                <a:solidFill>
                  <a:srgbClr val="868686"/>
                </a:solidFill>
                <a:latin typeface="Calibri"/>
                <a:cs typeface="Calibri"/>
              </a:rPr>
              <a:t>IBM</a:t>
            </a:r>
            <a:r>
              <a:rPr dirty="0" sz="2400" spc="-75" b="1" i="1">
                <a:solidFill>
                  <a:srgbClr val="868686"/>
                </a:solidFill>
                <a:latin typeface="Calibri"/>
                <a:cs typeface="Calibri"/>
              </a:rPr>
              <a:t> </a:t>
            </a:r>
            <a:r>
              <a:rPr dirty="0" sz="2400" b="1" i="1">
                <a:solidFill>
                  <a:srgbClr val="868686"/>
                </a:solidFill>
                <a:latin typeface="Calibri"/>
                <a:cs typeface="Calibri"/>
              </a:rPr>
              <a:t>Cloud</a:t>
            </a:r>
            <a:r>
              <a:rPr dirty="0" sz="2400" spc="-80" b="1" i="1">
                <a:solidFill>
                  <a:srgbClr val="868686"/>
                </a:solidFill>
                <a:latin typeface="Calibri"/>
                <a:cs typeface="Calibri"/>
              </a:rPr>
              <a:t> </a:t>
            </a:r>
            <a:r>
              <a:rPr dirty="0" sz="2400" b="1" i="1">
                <a:solidFill>
                  <a:srgbClr val="868686"/>
                </a:solidFill>
                <a:latin typeface="Calibri"/>
                <a:cs typeface="Calibri"/>
              </a:rPr>
              <a:t>and</a:t>
            </a:r>
            <a:r>
              <a:rPr dirty="0" sz="2400" spc="-70" b="1" i="1">
                <a:solidFill>
                  <a:srgbClr val="868686"/>
                </a:solidFill>
                <a:latin typeface="Calibri"/>
                <a:cs typeface="Calibri"/>
              </a:rPr>
              <a:t> </a:t>
            </a:r>
            <a:r>
              <a:rPr dirty="0" sz="2400" spc="-10" b="1" i="1">
                <a:solidFill>
                  <a:srgbClr val="868686"/>
                </a:solidFill>
                <a:latin typeface="Calibri"/>
                <a:cs typeface="Calibri"/>
              </a:rPr>
              <a:t>Orchestrate”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3694" rIns="0" bIns="0" rtlCol="0" vert="horz">
            <a:spAutoFit/>
          </a:bodyPr>
          <a:lstStyle/>
          <a:p>
            <a:pPr marL="791210">
              <a:lnSpc>
                <a:spcPct val="100000"/>
              </a:lnSpc>
              <a:spcBef>
                <a:spcPts val="95"/>
              </a:spcBef>
            </a:pPr>
            <a:r>
              <a:rPr dirty="0"/>
              <a:t>Project</a:t>
            </a:r>
            <a:r>
              <a:rPr dirty="0" spc="-130"/>
              <a:t> </a:t>
            </a:r>
            <a:r>
              <a:rPr dirty="0"/>
              <a:t>Tile</a:t>
            </a:r>
            <a:r>
              <a:rPr dirty="0" spc="-95"/>
              <a:t> </a:t>
            </a:r>
            <a:r>
              <a:rPr dirty="0"/>
              <a:t>–</a:t>
            </a:r>
            <a:r>
              <a:rPr dirty="0" spc="-80"/>
              <a:t> </a:t>
            </a:r>
            <a:r>
              <a:rPr dirty="0"/>
              <a:t>Helix</a:t>
            </a:r>
            <a:r>
              <a:rPr dirty="0" spc="-80"/>
              <a:t> </a:t>
            </a:r>
            <a:r>
              <a:rPr dirty="0"/>
              <a:t>AI</a:t>
            </a:r>
            <a:r>
              <a:rPr dirty="0" spc="-65"/>
              <a:t> </a:t>
            </a:r>
            <a:r>
              <a:rPr dirty="0"/>
              <a:t>–</a:t>
            </a:r>
            <a:r>
              <a:rPr dirty="0" spc="-90"/>
              <a:t> </a:t>
            </a:r>
            <a:r>
              <a:rPr dirty="0"/>
              <a:t>Smart</a:t>
            </a:r>
            <a:r>
              <a:rPr dirty="0" spc="-95"/>
              <a:t> </a:t>
            </a:r>
            <a:r>
              <a:rPr dirty="0" spc="-20"/>
              <a:t>Multi-</a:t>
            </a:r>
            <a:r>
              <a:rPr dirty="0"/>
              <a:t>Agent</a:t>
            </a:r>
            <a:r>
              <a:rPr dirty="0" spc="-75"/>
              <a:t> </a:t>
            </a:r>
            <a:r>
              <a:rPr dirty="0" spc="-10"/>
              <a:t>Healthcare</a:t>
            </a:r>
            <a:r>
              <a:rPr dirty="0" spc="-95"/>
              <a:t> </a:t>
            </a:r>
            <a:r>
              <a:rPr dirty="0" spc="-10"/>
              <a:t>Assistant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86002" y="1599946"/>
            <a:ext cx="53568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Arial"/>
                <a:cs typeface="Arial"/>
              </a:rPr>
              <a:t>Domain</a:t>
            </a:r>
            <a:r>
              <a:rPr dirty="0" sz="2800" spc="-90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of</a:t>
            </a:r>
            <a:r>
              <a:rPr dirty="0" sz="2800" spc="565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Project</a:t>
            </a:r>
            <a:r>
              <a:rPr dirty="0" sz="2800" spc="-65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–</a:t>
            </a:r>
            <a:r>
              <a:rPr dirty="0" sz="2800" spc="-60" b="1">
                <a:latin typeface="Arial"/>
                <a:cs typeface="Arial"/>
              </a:rPr>
              <a:t> </a:t>
            </a:r>
            <a:r>
              <a:rPr dirty="0" sz="2800" spc="-10" b="1">
                <a:latin typeface="Arial"/>
                <a:cs typeface="Arial"/>
              </a:rPr>
              <a:t>Healthcare</a:t>
            </a:r>
            <a:endParaRPr sz="28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306322" y="2780410"/>
          <a:ext cx="9458960" cy="25958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8035"/>
                <a:gridCol w="2444115"/>
                <a:gridCol w="2443479"/>
                <a:gridCol w="2437129"/>
              </a:tblGrid>
              <a:tr h="9671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02895">
                        <a:lnSpc>
                          <a:spcPct val="100000"/>
                        </a:lnSpc>
                      </a:pPr>
                      <a:r>
                        <a:rPr dirty="0" sz="1800" b="1">
                          <a:latin typeface="Arial"/>
                          <a:cs typeface="Arial"/>
                        </a:rPr>
                        <a:t>Student</a:t>
                      </a:r>
                      <a:r>
                        <a:rPr dirty="0" sz="1800" spc="-9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20" b="1">
                          <a:latin typeface="Arial"/>
                          <a:cs typeface="Arial"/>
                        </a:rPr>
                        <a:t>Name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73660">
                    <a:lnR w="1905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3"/>
                    </a:solidFill>
                  </a:tcPr>
                </a:tc>
                <a:tc>
                  <a:txBody>
                    <a:bodyPr/>
                    <a:lstStyle/>
                    <a:p>
                      <a:pPr marL="933450" marR="262255" indent="-548005">
                        <a:lnSpc>
                          <a:spcPct val="100600"/>
                        </a:lnSpc>
                        <a:spcBef>
                          <a:spcPts val="1570"/>
                        </a:spcBef>
                      </a:pPr>
                      <a:r>
                        <a:rPr dirty="0" sz="1800" spc="-10" b="1">
                          <a:latin typeface="Arial"/>
                          <a:cs typeface="Arial"/>
                        </a:rPr>
                        <a:t>Recent</a:t>
                      </a:r>
                      <a:r>
                        <a:rPr dirty="0" sz="1800" spc="-7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 b="1">
                          <a:latin typeface="Arial"/>
                          <a:cs typeface="Arial"/>
                        </a:rPr>
                        <a:t>Passport Photo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9939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00100">
                        <a:lnSpc>
                          <a:spcPct val="100000"/>
                        </a:lnSpc>
                      </a:pPr>
                      <a:r>
                        <a:rPr dirty="0" sz="1800" b="1">
                          <a:latin typeface="Arial"/>
                          <a:cs typeface="Arial"/>
                        </a:rPr>
                        <a:t>Email</a:t>
                      </a:r>
                      <a:r>
                        <a:rPr dirty="0" sz="18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25" b="1">
                          <a:latin typeface="Arial"/>
                          <a:cs typeface="Arial"/>
                        </a:rPr>
                        <a:t>ID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736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3"/>
                    </a:solidFill>
                  </a:tcPr>
                </a:tc>
                <a:tc>
                  <a:txBody>
                    <a:bodyPr/>
                    <a:lstStyle/>
                    <a:p>
                      <a:pPr marL="642620" marR="342265" indent="-165100">
                        <a:lnSpc>
                          <a:spcPct val="100600"/>
                        </a:lnSpc>
                        <a:spcBef>
                          <a:spcPts val="1570"/>
                        </a:spcBef>
                      </a:pPr>
                      <a:r>
                        <a:rPr dirty="0" sz="1800" spc="-10" b="1">
                          <a:latin typeface="Arial"/>
                          <a:cs typeface="Arial"/>
                        </a:rPr>
                        <a:t>Mobile</a:t>
                      </a:r>
                      <a:r>
                        <a:rPr dirty="0" sz="1800" spc="-114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 b="1">
                          <a:latin typeface="Arial"/>
                          <a:cs typeface="Arial"/>
                        </a:rPr>
                        <a:t>number [WhatsApp]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99390">
                    <a:lnL w="127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3"/>
                    </a:solidFill>
                  </a:tcPr>
                </a:tc>
              </a:tr>
              <a:tr h="1628775">
                <a:tc>
                  <a:txBody>
                    <a:bodyPr/>
                    <a:lstStyle/>
                    <a:p>
                      <a:pPr marL="528320" marR="490855" indent="-36830">
                        <a:lnSpc>
                          <a:spcPts val="2410"/>
                        </a:lnSpc>
                        <a:spcBef>
                          <a:spcPts val="190"/>
                        </a:spcBef>
                      </a:pPr>
                      <a:r>
                        <a:rPr dirty="0" sz="2100" spc="-10">
                          <a:latin typeface="Arial MT"/>
                          <a:cs typeface="Arial MT"/>
                        </a:rPr>
                        <a:t>Korupolu Pranathi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B="0" marT="24130"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D0DE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D0DEED"/>
                    </a:solidFill>
                  </a:tcPr>
                </a:tc>
                <a:tc>
                  <a:txBody>
                    <a:bodyPr/>
                    <a:lstStyle/>
                    <a:p>
                      <a:pPr marL="614045" marR="86360" indent="-523240">
                        <a:lnSpc>
                          <a:spcPts val="2410"/>
                        </a:lnSpc>
                        <a:spcBef>
                          <a:spcPts val="190"/>
                        </a:spcBef>
                      </a:pPr>
                      <a:r>
                        <a:rPr dirty="0" sz="2100" spc="-10">
                          <a:latin typeface="Arial MT"/>
                          <a:cs typeface="Arial MT"/>
                        </a:rPr>
                        <a:t>korupolupranathi@ gmail.com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B="0" marT="241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D0DEED"/>
                    </a:solidFill>
                  </a:tcPr>
                </a:tc>
                <a:tc>
                  <a:txBody>
                    <a:bodyPr/>
                    <a:lstStyle/>
                    <a:p>
                      <a:pPr marL="47942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2100" spc="-10">
                          <a:latin typeface="Arial MT"/>
                          <a:cs typeface="Arial MT"/>
                        </a:rPr>
                        <a:t>8978502434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12700">
                      <a:solidFill>
                        <a:srgbClr val="FFFFFF"/>
                      </a:solidFill>
                      <a:prstDash val="solid"/>
                    </a:lnL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D0DEED"/>
                    </a:solidFill>
                  </a:tcPr>
                </a:tc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4000" y="3907282"/>
            <a:ext cx="1155598" cy="14678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54812" y="726693"/>
            <a:ext cx="347726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Problem</a:t>
            </a:r>
            <a:r>
              <a:rPr dirty="0" spc="-175"/>
              <a:t> </a:t>
            </a:r>
            <a:r>
              <a:rPr dirty="0"/>
              <a:t>Statement</a:t>
            </a:r>
            <a:r>
              <a:rPr dirty="0" spc="-135"/>
              <a:t> </a:t>
            </a:r>
            <a:r>
              <a:rPr dirty="0" spc="-50"/>
              <a:t>-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4812" y="1316482"/>
            <a:ext cx="10096500" cy="4641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Arial"/>
                <a:cs typeface="Arial"/>
              </a:rPr>
              <a:t>Problem</a:t>
            </a:r>
            <a:r>
              <a:rPr dirty="0" sz="2000" spc="-1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Statement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:</a:t>
            </a:r>
            <a:r>
              <a:rPr dirty="0" sz="2000" spc="434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AI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agent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for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chronic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disease</a:t>
            </a:r>
            <a:r>
              <a:rPr dirty="0" sz="2000" spc="-2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monitoring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90"/>
              </a:spcBef>
            </a:pPr>
            <a:endParaRPr sz="2000">
              <a:latin typeface="Arial"/>
              <a:cs typeface="Arial"/>
            </a:endParaRPr>
          </a:p>
          <a:p>
            <a:pPr marL="12700">
              <a:lnSpc>
                <a:spcPts val="2350"/>
              </a:lnSpc>
            </a:pPr>
            <a:r>
              <a:rPr dirty="0" sz="2000" b="1">
                <a:latin typeface="Arial"/>
                <a:cs typeface="Arial"/>
              </a:rPr>
              <a:t>The</a:t>
            </a:r>
            <a:r>
              <a:rPr dirty="0" sz="2000" spc="-12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Challenge</a:t>
            </a:r>
            <a:r>
              <a:rPr dirty="0" sz="2000" spc="-80" b="1">
                <a:latin typeface="Arial"/>
                <a:cs typeface="Arial"/>
              </a:rPr>
              <a:t> </a:t>
            </a:r>
            <a:r>
              <a:rPr dirty="0" sz="2000" spc="-50" b="1">
                <a:latin typeface="Arial"/>
                <a:cs typeface="Arial"/>
              </a:rPr>
              <a:t>-</a:t>
            </a:r>
            <a:endParaRPr sz="2000">
              <a:latin typeface="Arial"/>
              <a:cs typeface="Arial"/>
            </a:endParaRPr>
          </a:p>
          <a:p>
            <a:pPr marL="91440" marR="5080">
              <a:lnSpc>
                <a:spcPct val="97400"/>
              </a:lnSpc>
              <a:spcBef>
                <a:spcPts val="15"/>
              </a:spcBef>
            </a:pPr>
            <a:r>
              <a:rPr dirty="0" sz="2000" spc="-25">
                <a:latin typeface="Arial MT"/>
                <a:cs typeface="Arial MT"/>
              </a:rPr>
              <a:t>Healthcare</a:t>
            </a:r>
            <a:r>
              <a:rPr dirty="0" sz="2000" spc="-9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systems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often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face</a:t>
            </a:r>
            <a:r>
              <a:rPr dirty="0" sz="2000" spc="-9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challenges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such</a:t>
            </a:r>
            <a:r>
              <a:rPr dirty="0" sz="2000" spc="-9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as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delayed</a:t>
            </a:r>
            <a:r>
              <a:rPr dirty="0" sz="2000" spc="-9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access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9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medical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guidance, </a:t>
            </a:r>
            <a:r>
              <a:rPr dirty="0" sz="2000" spc="-20">
                <a:latin typeface="Arial MT"/>
                <a:cs typeface="Arial MT"/>
              </a:rPr>
              <a:t>fragmented</a:t>
            </a:r>
            <a:r>
              <a:rPr dirty="0" sz="2000" spc="-9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patient</a:t>
            </a:r>
            <a:r>
              <a:rPr dirty="0" sz="2000" spc="-9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records,</a:t>
            </a:r>
            <a:r>
              <a:rPr dirty="0" sz="2000" spc="-9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limited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continuous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health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monitoring,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9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spread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of unreliable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medical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information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across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various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sources.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Existing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healthcare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chatbots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usually </a:t>
            </a:r>
            <a:r>
              <a:rPr dirty="0" sz="2000" spc="-20">
                <a:latin typeface="Arial MT"/>
                <a:cs typeface="Arial MT"/>
              </a:rPr>
              <a:t>provide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generic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responses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without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considering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patient's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medical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history,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vitals, </a:t>
            </a:r>
            <a:r>
              <a:rPr dirty="0" sz="2000" spc="-25">
                <a:latin typeface="Arial MT"/>
                <a:cs typeface="Arial MT"/>
              </a:rPr>
              <a:t>medications,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or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current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health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condition.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They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also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lack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coordination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between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different </a:t>
            </a:r>
            <a:r>
              <a:rPr dirty="0" sz="2000" spc="-20">
                <a:latin typeface="Arial MT"/>
                <a:cs typeface="Arial MT"/>
              </a:rPr>
              <a:t>healthcare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tasks,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making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it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difficult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deliver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personalized,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proactive,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trustworthy </a:t>
            </a:r>
            <a:r>
              <a:rPr dirty="0" sz="2000" spc="-20">
                <a:latin typeface="Arial MT"/>
                <a:cs typeface="Arial MT"/>
              </a:rPr>
              <a:t>healthcare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assistance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through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single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platform.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ts val="2355"/>
              </a:lnSpc>
              <a:spcBef>
                <a:spcPts val="2230"/>
              </a:spcBef>
            </a:pPr>
            <a:r>
              <a:rPr dirty="0" sz="2000" b="1">
                <a:latin typeface="Arial"/>
                <a:cs typeface="Arial"/>
              </a:rPr>
              <a:t>The</a:t>
            </a:r>
            <a:r>
              <a:rPr dirty="0" sz="2000" spc="-10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Objective</a:t>
            </a:r>
            <a:r>
              <a:rPr dirty="0" sz="2000" spc="-65" b="1">
                <a:latin typeface="Arial"/>
                <a:cs typeface="Arial"/>
              </a:rPr>
              <a:t> </a:t>
            </a:r>
            <a:r>
              <a:rPr dirty="0" sz="2000" spc="-50" b="1">
                <a:latin typeface="Arial"/>
                <a:cs typeface="Arial"/>
              </a:rPr>
              <a:t>-</a:t>
            </a:r>
            <a:endParaRPr sz="2000">
              <a:latin typeface="Arial"/>
              <a:cs typeface="Arial"/>
            </a:endParaRPr>
          </a:p>
          <a:p>
            <a:pPr marL="91440" marR="421005">
              <a:lnSpc>
                <a:spcPts val="2340"/>
              </a:lnSpc>
              <a:spcBef>
                <a:spcPts val="80"/>
              </a:spcBef>
            </a:pPr>
            <a:r>
              <a:rPr dirty="0" sz="2000">
                <a:latin typeface="Arial MT"/>
                <a:cs typeface="Arial MT"/>
              </a:rPr>
              <a:t>Build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 b="1">
                <a:latin typeface="Arial"/>
                <a:cs typeface="Arial"/>
              </a:rPr>
              <a:t>AI-</a:t>
            </a:r>
            <a:r>
              <a:rPr dirty="0" sz="2000" b="1">
                <a:latin typeface="Arial"/>
                <a:cs typeface="Arial"/>
              </a:rPr>
              <a:t>powered</a:t>
            </a:r>
            <a:r>
              <a:rPr dirty="0" sz="2000" spc="-5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Helix</a:t>
            </a:r>
            <a:r>
              <a:rPr dirty="0" sz="2000" spc="-4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AI</a:t>
            </a:r>
            <a:r>
              <a:rPr dirty="0" sz="2000" spc="-5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Healthcare</a:t>
            </a:r>
            <a:r>
              <a:rPr dirty="0" sz="2000" spc="-4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Assistant</a:t>
            </a:r>
            <a:r>
              <a:rPr dirty="0" sz="2000" spc="-40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that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delivers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personalized </a:t>
            </a:r>
            <a:r>
              <a:rPr dirty="0" sz="2000">
                <a:latin typeface="Arial MT"/>
                <a:cs typeface="Arial MT"/>
              </a:rPr>
              <a:t>healthcare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guidance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intelligent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decision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support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using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IBM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Watsonx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Orchestrate, </a:t>
            </a:r>
            <a:r>
              <a:rPr dirty="0" sz="2000">
                <a:latin typeface="Arial MT"/>
                <a:cs typeface="Arial MT"/>
              </a:rPr>
              <a:t>Granite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Models,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Retrieval-</a:t>
            </a:r>
            <a:r>
              <a:rPr dirty="0" sz="2000">
                <a:latin typeface="Arial MT"/>
                <a:cs typeface="Arial MT"/>
              </a:rPr>
              <a:t>Augmented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Generation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(RAG).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4916" y="696213"/>
            <a:ext cx="10957560" cy="51631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solution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should:</a:t>
            </a:r>
            <a:endParaRPr sz="2000">
              <a:latin typeface="Arial MT"/>
              <a:cs typeface="Arial MT"/>
            </a:endParaRPr>
          </a:p>
          <a:p>
            <a:pPr marL="368935" marR="1203960" indent="-228600">
              <a:lnSpc>
                <a:spcPts val="2340"/>
              </a:lnSpc>
              <a:spcBef>
                <a:spcPts val="200"/>
              </a:spcBef>
              <a:buFont typeface="Symbol"/>
              <a:buChar char=""/>
              <a:tabLst>
                <a:tab pos="368935" algn="l"/>
              </a:tabLst>
            </a:pPr>
            <a:r>
              <a:rPr dirty="0" sz="2000" b="1">
                <a:latin typeface="Arial"/>
                <a:cs typeface="Arial"/>
              </a:rPr>
              <a:t>AI-Powered</a:t>
            </a:r>
            <a:r>
              <a:rPr dirty="0" sz="2000" spc="-4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Symptom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Assessment</a:t>
            </a:r>
            <a:r>
              <a:rPr dirty="0" sz="2000" spc="-25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–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Analyze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symptoms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through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intelligent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multi-</a:t>
            </a:r>
            <a:r>
              <a:rPr dirty="0" sz="2000">
                <a:latin typeface="Arial MT"/>
                <a:cs typeface="Arial MT"/>
              </a:rPr>
              <a:t>agent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clinical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assessment.</a:t>
            </a:r>
            <a:endParaRPr sz="2000">
              <a:latin typeface="Arial MT"/>
              <a:cs typeface="Arial MT"/>
            </a:endParaRPr>
          </a:p>
          <a:p>
            <a:pPr marL="368935" marR="1617345" indent="-228600">
              <a:lnSpc>
                <a:spcPts val="2340"/>
              </a:lnSpc>
              <a:spcBef>
                <a:spcPts val="130"/>
              </a:spcBef>
              <a:buFont typeface="Symbol"/>
              <a:buChar char=""/>
              <a:tabLst>
                <a:tab pos="368935" algn="l"/>
              </a:tabLst>
            </a:pPr>
            <a:r>
              <a:rPr dirty="0" sz="2000" b="1">
                <a:latin typeface="Arial"/>
                <a:cs typeface="Arial"/>
              </a:rPr>
              <a:t>Medical</a:t>
            </a:r>
            <a:r>
              <a:rPr dirty="0" sz="2000" spc="-4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Knowledge</a:t>
            </a:r>
            <a:r>
              <a:rPr dirty="0" sz="2000" spc="-4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RAG</a:t>
            </a:r>
            <a:r>
              <a:rPr dirty="0" sz="2000" spc="-5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Retrieval</a:t>
            </a:r>
            <a:r>
              <a:rPr dirty="0" sz="2000" spc="-40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–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Retrieve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summarize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trusted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medical </a:t>
            </a:r>
            <a:r>
              <a:rPr dirty="0" sz="2000">
                <a:latin typeface="Arial MT"/>
                <a:cs typeface="Arial MT"/>
              </a:rPr>
              <a:t>information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from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reliable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healthcare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sources.</a:t>
            </a:r>
            <a:endParaRPr sz="2000">
              <a:latin typeface="Arial MT"/>
              <a:cs typeface="Arial MT"/>
            </a:endParaRPr>
          </a:p>
          <a:p>
            <a:pPr marL="368935" marR="1261745" indent="-228600">
              <a:lnSpc>
                <a:spcPts val="2340"/>
              </a:lnSpc>
              <a:spcBef>
                <a:spcPts val="135"/>
              </a:spcBef>
              <a:buFont typeface="Symbol"/>
              <a:buChar char=""/>
              <a:tabLst>
                <a:tab pos="368935" algn="l"/>
              </a:tabLst>
            </a:pPr>
            <a:r>
              <a:rPr dirty="0" sz="2000" b="1">
                <a:latin typeface="Arial"/>
                <a:cs typeface="Arial"/>
              </a:rPr>
              <a:t>Health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Monitoring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&amp;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Risk</a:t>
            </a:r>
            <a:r>
              <a:rPr dirty="0" sz="2000" spc="-2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Prediction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–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Monitor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patient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vitals,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identify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health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risks,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provide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proactive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insights.</a:t>
            </a:r>
            <a:endParaRPr sz="2000">
              <a:latin typeface="Arial MT"/>
              <a:cs typeface="Arial MT"/>
            </a:endParaRPr>
          </a:p>
          <a:p>
            <a:pPr marL="368935" marR="1275715" indent="-228600">
              <a:lnSpc>
                <a:spcPts val="2340"/>
              </a:lnSpc>
              <a:spcBef>
                <a:spcPts val="130"/>
              </a:spcBef>
              <a:buFont typeface="Symbol"/>
              <a:buChar char=""/>
              <a:tabLst>
                <a:tab pos="368935" algn="l"/>
              </a:tabLst>
            </a:pPr>
            <a:r>
              <a:rPr dirty="0" sz="2000" b="1">
                <a:latin typeface="Arial"/>
                <a:cs typeface="Arial"/>
              </a:rPr>
              <a:t>Treatment</a:t>
            </a:r>
            <a:r>
              <a:rPr dirty="0" sz="2000" spc="-5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&amp;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Lifestyle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Guidance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–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Generate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personalized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treatment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explanations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lifestyle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recommendations.</a:t>
            </a:r>
            <a:endParaRPr sz="2000">
              <a:latin typeface="Arial MT"/>
              <a:cs typeface="Arial MT"/>
            </a:endParaRPr>
          </a:p>
          <a:p>
            <a:pPr marL="368300" indent="-227965">
              <a:lnSpc>
                <a:spcPts val="2370"/>
              </a:lnSpc>
              <a:spcBef>
                <a:spcPts val="5"/>
              </a:spcBef>
              <a:buFont typeface="Symbol"/>
              <a:buChar char=""/>
              <a:tabLst>
                <a:tab pos="368300" algn="l"/>
              </a:tabLst>
            </a:pPr>
            <a:r>
              <a:rPr dirty="0" sz="2000" spc="-10" b="1">
                <a:latin typeface="Arial"/>
                <a:cs typeface="Arial"/>
              </a:rPr>
              <a:t>Multi-</a:t>
            </a:r>
            <a:r>
              <a:rPr dirty="0" sz="2000" b="1">
                <a:latin typeface="Arial"/>
                <a:cs typeface="Arial"/>
              </a:rPr>
              <a:t>Agent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Healthcare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System</a:t>
            </a:r>
            <a:r>
              <a:rPr dirty="0" sz="2000" spc="-25" b="1">
                <a:latin typeface="Arial"/>
                <a:cs typeface="Arial"/>
              </a:rPr>
              <a:t> </a:t>
            </a:r>
            <a:r>
              <a:rPr dirty="0" sz="2000" spc="-50" b="1">
                <a:latin typeface="Arial"/>
                <a:cs typeface="Arial"/>
              </a:rPr>
              <a:t>–</a:t>
            </a:r>
            <a:endParaRPr sz="2000">
              <a:latin typeface="Arial"/>
              <a:cs typeface="Arial"/>
            </a:endParaRPr>
          </a:p>
          <a:p>
            <a:pPr lvl="1" marL="826135" indent="-227965">
              <a:lnSpc>
                <a:spcPts val="2335"/>
              </a:lnSpc>
              <a:buFont typeface="Wingdings"/>
              <a:buChar char=""/>
              <a:tabLst>
                <a:tab pos="826135" algn="l"/>
              </a:tabLst>
            </a:pPr>
            <a:r>
              <a:rPr dirty="0" sz="2000">
                <a:latin typeface="Arial MT"/>
                <a:cs typeface="Arial MT"/>
              </a:rPr>
              <a:t>Clinical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Assessment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Agent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(symptom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triage)</a:t>
            </a:r>
            <a:endParaRPr sz="2000">
              <a:latin typeface="Arial MT"/>
              <a:cs typeface="Arial MT"/>
            </a:endParaRPr>
          </a:p>
          <a:p>
            <a:pPr lvl="1" marL="826135" indent="-227965">
              <a:lnSpc>
                <a:spcPts val="2335"/>
              </a:lnSpc>
              <a:buFont typeface="Wingdings"/>
              <a:buChar char=""/>
              <a:tabLst>
                <a:tab pos="826135" algn="l"/>
              </a:tabLst>
            </a:pPr>
            <a:r>
              <a:rPr dirty="0" sz="2000">
                <a:latin typeface="Arial MT"/>
                <a:cs typeface="Arial MT"/>
              </a:rPr>
              <a:t>Chronic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Monitoring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Agent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(vitals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&amp;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health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monitoring)</a:t>
            </a:r>
            <a:endParaRPr sz="2000">
              <a:latin typeface="Arial MT"/>
              <a:cs typeface="Arial MT"/>
            </a:endParaRPr>
          </a:p>
          <a:p>
            <a:pPr lvl="1" marL="826135" indent="-227965">
              <a:lnSpc>
                <a:spcPts val="2340"/>
              </a:lnSpc>
              <a:buFont typeface="Wingdings"/>
              <a:buChar char=""/>
              <a:tabLst>
                <a:tab pos="826135" algn="l"/>
              </a:tabLst>
            </a:pPr>
            <a:r>
              <a:rPr dirty="0" sz="2000">
                <a:latin typeface="Arial MT"/>
                <a:cs typeface="Arial MT"/>
              </a:rPr>
              <a:t>Health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Report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Agent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(AI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health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reports)</a:t>
            </a:r>
            <a:endParaRPr sz="2000">
              <a:latin typeface="Arial MT"/>
              <a:cs typeface="Arial MT"/>
            </a:endParaRPr>
          </a:p>
          <a:p>
            <a:pPr lvl="1" marL="826135" indent="-227965">
              <a:lnSpc>
                <a:spcPts val="2340"/>
              </a:lnSpc>
              <a:buFont typeface="Wingdings"/>
              <a:buChar char=""/>
              <a:tabLst>
                <a:tab pos="826135" algn="l"/>
              </a:tabLst>
            </a:pPr>
            <a:r>
              <a:rPr dirty="0" sz="2000">
                <a:latin typeface="Arial MT"/>
                <a:cs typeface="Arial MT"/>
              </a:rPr>
              <a:t>Knowledge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Base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Agent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(RAG-</a:t>
            </a:r>
            <a:r>
              <a:rPr dirty="0" sz="2000">
                <a:latin typeface="Arial MT"/>
                <a:cs typeface="Arial MT"/>
              </a:rPr>
              <a:t>powered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medical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information)</a:t>
            </a:r>
            <a:endParaRPr sz="2000">
              <a:latin typeface="Arial MT"/>
              <a:cs typeface="Arial MT"/>
            </a:endParaRPr>
          </a:p>
          <a:p>
            <a:pPr lvl="1" marL="826135" indent="-227965">
              <a:lnSpc>
                <a:spcPts val="2335"/>
              </a:lnSpc>
              <a:buFont typeface="Wingdings"/>
              <a:buChar char=""/>
              <a:tabLst>
                <a:tab pos="826135" algn="l"/>
              </a:tabLst>
            </a:pPr>
            <a:r>
              <a:rPr dirty="0" sz="2000">
                <a:latin typeface="Arial MT"/>
                <a:cs typeface="Arial MT"/>
              </a:rPr>
              <a:t>Supervisor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Agent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(task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routing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&amp;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orchestration)</a:t>
            </a:r>
            <a:endParaRPr sz="2000">
              <a:latin typeface="Arial MT"/>
              <a:cs typeface="Arial MT"/>
            </a:endParaRPr>
          </a:p>
          <a:p>
            <a:pPr marL="12700" marR="5080">
              <a:lnSpc>
                <a:spcPts val="2300"/>
              </a:lnSpc>
              <a:spcBef>
                <a:spcPts val="125"/>
              </a:spcBef>
            </a:pPr>
            <a:r>
              <a:rPr dirty="0" sz="2000">
                <a:latin typeface="Arial MT"/>
                <a:cs typeface="Arial MT"/>
              </a:rPr>
              <a:t>Personalized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Health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Dashboard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–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Visualize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patient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health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records,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reports,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vitals,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risk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trends,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and </a:t>
            </a:r>
            <a:r>
              <a:rPr dirty="0" sz="2000">
                <a:latin typeface="Arial MT"/>
                <a:cs typeface="Arial MT"/>
              </a:rPr>
              <a:t>Healthcare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insights.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4331" y="726693"/>
            <a:ext cx="347091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Proposed</a:t>
            </a:r>
            <a:r>
              <a:rPr dirty="0" spc="-145"/>
              <a:t> </a:t>
            </a:r>
            <a:r>
              <a:rPr dirty="0"/>
              <a:t>Solution</a:t>
            </a:r>
            <a:r>
              <a:rPr dirty="0" spc="-114"/>
              <a:t> </a:t>
            </a:r>
            <a:r>
              <a:rPr dirty="0" spc="-60"/>
              <a:t>–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4331" y="1255521"/>
            <a:ext cx="9946640" cy="51873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4135">
              <a:lnSpc>
                <a:spcPct val="100000"/>
              </a:lnSpc>
              <a:spcBef>
                <a:spcPts val="105"/>
              </a:spcBef>
            </a:pPr>
            <a:r>
              <a:rPr dirty="0" sz="2000" spc="-35" b="1">
                <a:latin typeface="Arial"/>
                <a:cs typeface="Arial"/>
              </a:rPr>
              <a:t>Proposed</a:t>
            </a:r>
            <a:r>
              <a:rPr dirty="0" sz="2000" spc="-75" b="1">
                <a:latin typeface="Arial"/>
                <a:cs typeface="Arial"/>
              </a:rPr>
              <a:t> </a:t>
            </a:r>
            <a:r>
              <a:rPr dirty="0" sz="2000" spc="-35" b="1">
                <a:latin typeface="Arial"/>
                <a:cs typeface="Arial"/>
              </a:rPr>
              <a:t>Solution:</a:t>
            </a:r>
            <a:r>
              <a:rPr dirty="0" sz="2000" spc="-80" b="1">
                <a:latin typeface="Arial"/>
                <a:cs typeface="Arial"/>
              </a:rPr>
              <a:t> </a:t>
            </a:r>
            <a:r>
              <a:rPr dirty="0" sz="2000" spc="-40" b="1">
                <a:latin typeface="Arial"/>
                <a:cs typeface="Arial"/>
              </a:rPr>
              <a:t>AI-</a:t>
            </a:r>
            <a:r>
              <a:rPr dirty="0" sz="2000" spc="-35" b="1">
                <a:latin typeface="Arial"/>
                <a:cs typeface="Arial"/>
              </a:rPr>
              <a:t>Powered</a:t>
            </a:r>
            <a:r>
              <a:rPr dirty="0" sz="2000" spc="-95" b="1">
                <a:latin typeface="Arial"/>
                <a:cs typeface="Arial"/>
              </a:rPr>
              <a:t> </a:t>
            </a:r>
            <a:r>
              <a:rPr dirty="0" sz="2000" spc="-20" b="1">
                <a:latin typeface="Arial"/>
                <a:cs typeface="Arial"/>
              </a:rPr>
              <a:t>Helix</a:t>
            </a:r>
            <a:r>
              <a:rPr dirty="0" sz="2000" spc="-8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AI</a:t>
            </a:r>
            <a:r>
              <a:rPr dirty="0" sz="2000" spc="-90" b="1">
                <a:latin typeface="Arial"/>
                <a:cs typeface="Arial"/>
              </a:rPr>
              <a:t> </a:t>
            </a:r>
            <a:r>
              <a:rPr dirty="0" sz="2000" spc="-35" b="1">
                <a:latin typeface="Arial"/>
                <a:cs typeface="Arial"/>
              </a:rPr>
              <a:t>Healthcare</a:t>
            </a:r>
            <a:r>
              <a:rPr dirty="0" sz="2000" spc="-9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Assistant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2000">
              <a:latin typeface="Arial"/>
              <a:cs typeface="Arial"/>
            </a:endParaRPr>
          </a:p>
          <a:p>
            <a:pPr marL="12700" marR="5080">
              <a:lnSpc>
                <a:spcPct val="97500"/>
              </a:lnSpc>
            </a:pP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proposed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solution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is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30" b="1">
                <a:latin typeface="Arial"/>
                <a:cs typeface="Arial"/>
              </a:rPr>
              <a:t>multi-</a:t>
            </a:r>
            <a:r>
              <a:rPr dirty="0" sz="2000" spc="-10" b="1">
                <a:latin typeface="Arial"/>
                <a:cs typeface="Arial"/>
              </a:rPr>
              <a:t>agent</a:t>
            </a:r>
            <a:r>
              <a:rPr dirty="0" sz="2000" spc="-70" b="1">
                <a:latin typeface="Arial"/>
                <a:cs typeface="Arial"/>
              </a:rPr>
              <a:t> </a:t>
            </a:r>
            <a:r>
              <a:rPr dirty="0" sz="2000" spc="-35" b="1">
                <a:latin typeface="Arial"/>
                <a:cs typeface="Arial"/>
              </a:rPr>
              <a:t>AI-</a:t>
            </a:r>
            <a:r>
              <a:rPr dirty="0" sz="2000" spc="-20" b="1">
                <a:latin typeface="Arial"/>
                <a:cs typeface="Arial"/>
              </a:rPr>
              <a:t>powered</a:t>
            </a:r>
            <a:r>
              <a:rPr dirty="0" sz="2000" spc="-55" b="1">
                <a:latin typeface="Arial"/>
                <a:cs typeface="Arial"/>
              </a:rPr>
              <a:t> </a:t>
            </a:r>
            <a:r>
              <a:rPr dirty="0" sz="2000" spc="-25" b="1">
                <a:latin typeface="Arial"/>
                <a:cs typeface="Arial"/>
              </a:rPr>
              <a:t>healthcare</a:t>
            </a:r>
            <a:r>
              <a:rPr dirty="0" sz="2000" spc="-70" b="1">
                <a:latin typeface="Arial"/>
                <a:cs typeface="Arial"/>
              </a:rPr>
              <a:t> </a:t>
            </a:r>
            <a:r>
              <a:rPr dirty="0" sz="2000" spc="-20" b="1">
                <a:latin typeface="Arial"/>
                <a:cs typeface="Arial"/>
              </a:rPr>
              <a:t>assistant</a:t>
            </a:r>
            <a:r>
              <a:rPr dirty="0" sz="2000" spc="-70" b="1">
                <a:latin typeface="Arial"/>
                <a:cs typeface="Arial"/>
              </a:rPr>
              <a:t> </a:t>
            </a:r>
            <a:r>
              <a:rPr dirty="0" sz="2000" spc="-10">
                <a:latin typeface="Arial MT"/>
                <a:cs typeface="Arial MT"/>
              </a:rPr>
              <a:t>built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using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 spc="-25" b="1">
                <a:latin typeface="Arial"/>
                <a:cs typeface="Arial"/>
              </a:rPr>
              <a:t>IBM </a:t>
            </a:r>
            <a:r>
              <a:rPr dirty="0" sz="2000" spc="-20" b="1">
                <a:latin typeface="Arial"/>
                <a:cs typeface="Arial"/>
              </a:rPr>
              <a:t>Watsonx</a:t>
            </a:r>
            <a:r>
              <a:rPr dirty="0" sz="2000" spc="-95" b="1">
                <a:latin typeface="Arial"/>
                <a:cs typeface="Arial"/>
              </a:rPr>
              <a:t> </a:t>
            </a:r>
            <a:r>
              <a:rPr dirty="0" sz="2000" spc="-25" b="1">
                <a:latin typeface="Arial"/>
                <a:cs typeface="Arial"/>
              </a:rPr>
              <a:t>Orchestrate,</a:t>
            </a:r>
            <a:r>
              <a:rPr dirty="0" sz="2000" spc="-9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IBM</a:t>
            </a:r>
            <a:r>
              <a:rPr dirty="0" sz="2000" spc="-95" b="1">
                <a:latin typeface="Arial"/>
                <a:cs typeface="Arial"/>
              </a:rPr>
              <a:t> </a:t>
            </a:r>
            <a:r>
              <a:rPr dirty="0" sz="2000" spc="-20" b="1">
                <a:latin typeface="Arial"/>
                <a:cs typeface="Arial"/>
              </a:rPr>
              <a:t>watsonx.ai,</a:t>
            </a:r>
            <a:r>
              <a:rPr dirty="0" sz="2000" spc="-9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IBM</a:t>
            </a:r>
            <a:r>
              <a:rPr dirty="0" sz="2000" spc="-9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Granite</a:t>
            </a:r>
            <a:r>
              <a:rPr dirty="0" sz="2000" spc="-85" b="1">
                <a:latin typeface="Arial"/>
                <a:cs typeface="Arial"/>
              </a:rPr>
              <a:t> </a:t>
            </a:r>
            <a:r>
              <a:rPr dirty="0" sz="2000" spc="-20" b="1">
                <a:latin typeface="Arial"/>
                <a:cs typeface="Arial"/>
              </a:rPr>
              <a:t>Models,</a:t>
            </a:r>
            <a:r>
              <a:rPr dirty="0" sz="2000" spc="-9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and</a:t>
            </a:r>
            <a:r>
              <a:rPr dirty="0" sz="2000" spc="-9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Retrieval-</a:t>
            </a:r>
            <a:r>
              <a:rPr dirty="0" sz="2000" spc="-25" b="1">
                <a:latin typeface="Arial"/>
                <a:cs typeface="Arial"/>
              </a:rPr>
              <a:t>Augmented</a:t>
            </a:r>
            <a:r>
              <a:rPr dirty="0" sz="2000" spc="-75" b="1">
                <a:latin typeface="Arial"/>
                <a:cs typeface="Arial"/>
              </a:rPr>
              <a:t> </a:t>
            </a:r>
            <a:r>
              <a:rPr dirty="0" sz="2000" spc="-25" b="1">
                <a:latin typeface="Arial"/>
                <a:cs typeface="Arial"/>
              </a:rPr>
              <a:t>Generation</a:t>
            </a:r>
            <a:r>
              <a:rPr dirty="0" sz="2000" spc="-6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(RAG)</a:t>
            </a:r>
            <a:r>
              <a:rPr dirty="0" sz="2000" spc="-65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provide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personalized,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spc="-30">
                <a:latin typeface="Arial MT"/>
                <a:cs typeface="Arial MT"/>
              </a:rPr>
              <a:t>real-</a:t>
            </a:r>
            <a:r>
              <a:rPr dirty="0" sz="2000">
                <a:latin typeface="Arial MT"/>
                <a:cs typeface="Arial MT"/>
              </a:rPr>
              <a:t>time,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 spc="-30">
                <a:latin typeface="Arial MT"/>
                <a:cs typeface="Arial MT"/>
              </a:rPr>
              <a:t>context-</a:t>
            </a:r>
            <a:r>
              <a:rPr dirty="0" sz="2000" spc="-10">
                <a:latin typeface="Arial MT"/>
                <a:cs typeface="Arial MT"/>
              </a:rPr>
              <a:t>aware </a:t>
            </a:r>
            <a:r>
              <a:rPr dirty="0" sz="2000" spc="-20">
                <a:latin typeface="Arial MT"/>
                <a:cs typeface="Arial MT"/>
              </a:rPr>
              <a:t>healthcare</a:t>
            </a:r>
            <a:r>
              <a:rPr dirty="0" sz="2000" spc="-1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support.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system</a:t>
            </a:r>
            <a:r>
              <a:rPr dirty="0" sz="2000" spc="-9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addresses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challenges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symptom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assessment,</a:t>
            </a:r>
            <a:r>
              <a:rPr dirty="0" sz="2000" spc="-1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health </a:t>
            </a:r>
            <a:r>
              <a:rPr dirty="0" sz="2000" spc="-25">
                <a:latin typeface="Arial MT"/>
                <a:cs typeface="Arial MT"/>
              </a:rPr>
              <a:t>monitoring,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medical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knowledge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retrieval,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treatment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guidance,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preventive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healthcare </a:t>
            </a:r>
            <a:r>
              <a:rPr dirty="0" sz="2000" spc="-20">
                <a:latin typeface="Arial MT"/>
                <a:cs typeface="Arial MT"/>
              </a:rPr>
              <a:t>through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intelligent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 spc="-30">
                <a:latin typeface="Arial MT"/>
                <a:cs typeface="Arial MT"/>
              </a:rPr>
              <a:t>multi-</a:t>
            </a:r>
            <a:r>
              <a:rPr dirty="0" sz="2000" spc="-10">
                <a:latin typeface="Arial MT"/>
                <a:cs typeface="Arial MT"/>
              </a:rPr>
              <a:t>agent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architecture.</a:t>
            </a:r>
            <a:endParaRPr sz="2000">
              <a:latin typeface="Arial MT"/>
              <a:cs typeface="Arial MT"/>
            </a:endParaRPr>
          </a:p>
          <a:p>
            <a:pPr marL="12700" marR="144145">
              <a:lnSpc>
                <a:spcPts val="2340"/>
              </a:lnSpc>
              <a:spcBef>
                <a:spcPts val="55"/>
              </a:spcBef>
            </a:pPr>
            <a:r>
              <a:rPr dirty="0" sz="2000">
                <a:latin typeface="Arial MT"/>
                <a:cs typeface="Arial MT"/>
              </a:rPr>
              <a:t>At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its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core,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solution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uses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spc="-30" b="1">
                <a:latin typeface="Arial"/>
                <a:cs typeface="Arial"/>
              </a:rPr>
              <a:t>Retrieval-</a:t>
            </a:r>
            <a:r>
              <a:rPr dirty="0" sz="2000" spc="-25" b="1">
                <a:latin typeface="Arial"/>
                <a:cs typeface="Arial"/>
              </a:rPr>
              <a:t>Augmented</a:t>
            </a:r>
            <a:r>
              <a:rPr dirty="0" sz="2000" spc="-85" b="1">
                <a:latin typeface="Arial"/>
                <a:cs typeface="Arial"/>
              </a:rPr>
              <a:t> </a:t>
            </a:r>
            <a:r>
              <a:rPr dirty="0" sz="2000" spc="-25" b="1">
                <a:latin typeface="Arial"/>
                <a:cs typeface="Arial"/>
              </a:rPr>
              <a:t>Generation</a:t>
            </a:r>
            <a:r>
              <a:rPr dirty="0" sz="2000" spc="-8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(RAG)</a:t>
            </a:r>
            <a:r>
              <a:rPr dirty="0" sz="2000" spc="-75" b="1">
                <a:latin typeface="Arial"/>
                <a:cs typeface="Arial"/>
              </a:rPr>
              <a:t> </a:t>
            </a:r>
            <a:r>
              <a:rPr dirty="0" sz="2000" spc="-20">
                <a:latin typeface="Arial MT"/>
                <a:cs typeface="Arial MT"/>
              </a:rPr>
              <a:t>pipeline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to </a:t>
            </a:r>
            <a:r>
              <a:rPr dirty="0" sz="2000" spc="-20">
                <a:latin typeface="Arial MT"/>
                <a:cs typeface="Arial MT"/>
              </a:rPr>
              <a:t>retrieve</a:t>
            </a:r>
            <a:r>
              <a:rPr dirty="0" sz="2000" spc="-9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trusted</a:t>
            </a:r>
            <a:r>
              <a:rPr dirty="0" sz="2000" spc="-10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medical</a:t>
            </a:r>
            <a:r>
              <a:rPr dirty="0" sz="2000" spc="-9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information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from</a:t>
            </a:r>
            <a:r>
              <a:rPr dirty="0" sz="2000" spc="-9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reliable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sources</a:t>
            </a:r>
            <a:r>
              <a:rPr dirty="0" sz="2000" spc="-10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such</a:t>
            </a:r>
            <a:r>
              <a:rPr dirty="0" sz="2000" spc="-10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as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b="1">
                <a:latin typeface="Arial"/>
                <a:cs typeface="Arial"/>
              </a:rPr>
              <a:t>WHO,</a:t>
            </a:r>
            <a:r>
              <a:rPr dirty="0" sz="2000" spc="-11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CDC,</a:t>
            </a:r>
            <a:r>
              <a:rPr dirty="0" sz="2000" spc="-9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NHS,</a:t>
            </a:r>
            <a:r>
              <a:rPr dirty="0" sz="2000" spc="-110" b="1">
                <a:latin typeface="Arial"/>
                <a:cs typeface="Arial"/>
              </a:rPr>
              <a:t> </a:t>
            </a:r>
            <a:r>
              <a:rPr dirty="0" sz="2000" spc="-25" b="1">
                <a:latin typeface="Arial"/>
                <a:cs typeface="Arial"/>
              </a:rPr>
              <a:t>and </a:t>
            </a:r>
            <a:r>
              <a:rPr dirty="0" sz="2000" b="1">
                <a:latin typeface="Arial"/>
                <a:cs typeface="Arial"/>
              </a:rPr>
              <a:t>NCI</a:t>
            </a:r>
            <a:r>
              <a:rPr dirty="0" sz="2000">
                <a:latin typeface="Arial MT"/>
                <a:cs typeface="Arial MT"/>
              </a:rPr>
              <a:t>.</a:t>
            </a:r>
            <a:r>
              <a:rPr dirty="0" sz="2000" spc="-10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10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retrieved</a:t>
            </a:r>
            <a:r>
              <a:rPr dirty="0" sz="2000" spc="-10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knowledge</a:t>
            </a:r>
            <a:r>
              <a:rPr dirty="0" sz="2000" spc="-10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is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indexed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using</a:t>
            </a:r>
            <a:r>
              <a:rPr dirty="0" sz="2000" spc="-10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semantic</a:t>
            </a:r>
            <a:r>
              <a:rPr dirty="0" sz="2000" spc="-9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search</a:t>
            </a:r>
            <a:r>
              <a:rPr dirty="0" sz="2000" spc="-10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 spc="-35">
                <a:latin typeface="Arial MT"/>
                <a:cs typeface="Arial MT"/>
              </a:rPr>
              <a:t>TF-</a:t>
            </a:r>
            <a:r>
              <a:rPr dirty="0" sz="2000">
                <a:latin typeface="Arial MT"/>
                <a:cs typeface="Arial MT"/>
              </a:rPr>
              <a:t>IDF</a:t>
            </a:r>
            <a:r>
              <a:rPr dirty="0" sz="2000" spc="-9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retrieval, </a:t>
            </a:r>
            <a:r>
              <a:rPr dirty="0" sz="2000" spc="-20">
                <a:latin typeface="Arial MT"/>
                <a:cs typeface="Arial MT"/>
              </a:rPr>
              <a:t>enabling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grounded,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spc="-30">
                <a:latin typeface="Arial MT"/>
                <a:cs typeface="Arial MT"/>
              </a:rPr>
              <a:t>source-</a:t>
            </a:r>
            <a:r>
              <a:rPr dirty="0" sz="2000" spc="-10">
                <a:latin typeface="Arial MT"/>
                <a:cs typeface="Arial MT"/>
              </a:rPr>
              <a:t>backed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healthcare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responses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powered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by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 b="1">
                <a:latin typeface="Arial"/>
                <a:cs typeface="Arial"/>
              </a:rPr>
              <a:t>IBM</a:t>
            </a:r>
            <a:r>
              <a:rPr dirty="0" sz="2000" spc="-7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Granite Models</a:t>
            </a:r>
            <a:r>
              <a:rPr dirty="0" sz="2000" spc="-10">
                <a:latin typeface="Arial MT"/>
                <a:cs typeface="Arial MT"/>
              </a:rPr>
              <a:t>.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ts val="2370"/>
              </a:lnSpc>
              <a:spcBef>
                <a:spcPts val="2205"/>
              </a:spcBef>
            </a:pP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9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system</a:t>
            </a:r>
            <a:r>
              <a:rPr dirty="0" sz="2000" spc="-9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consists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b="1">
                <a:latin typeface="Arial"/>
                <a:cs typeface="Arial"/>
              </a:rPr>
              <a:t>five</a:t>
            </a:r>
            <a:r>
              <a:rPr dirty="0" sz="2000" spc="-8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key</a:t>
            </a:r>
            <a:r>
              <a:rPr dirty="0" sz="2000" spc="-9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agents</a:t>
            </a:r>
            <a:r>
              <a:rPr dirty="0" sz="2000" spc="-10">
                <a:latin typeface="Arial MT"/>
                <a:cs typeface="Arial MT"/>
              </a:rPr>
              <a:t>:</a:t>
            </a:r>
            <a:endParaRPr sz="2000">
              <a:latin typeface="Arial MT"/>
              <a:cs typeface="Arial MT"/>
            </a:endParaRPr>
          </a:p>
          <a:p>
            <a:pPr marL="241300" marR="127635" indent="-228600">
              <a:lnSpc>
                <a:spcPts val="2340"/>
              </a:lnSpc>
              <a:spcBef>
                <a:spcPts val="95"/>
              </a:spcBef>
              <a:buSzPct val="50000"/>
              <a:buFont typeface="Symbol"/>
              <a:buChar char=""/>
              <a:tabLst>
                <a:tab pos="241300" algn="l"/>
              </a:tabLst>
            </a:pPr>
            <a:r>
              <a:rPr dirty="0" sz="2000" spc="-20" b="1">
                <a:latin typeface="Arial"/>
                <a:cs typeface="Arial"/>
              </a:rPr>
              <a:t>Clinical</a:t>
            </a:r>
            <a:r>
              <a:rPr dirty="0" sz="2000" spc="-75" b="1">
                <a:latin typeface="Arial"/>
                <a:cs typeface="Arial"/>
              </a:rPr>
              <a:t> </a:t>
            </a:r>
            <a:r>
              <a:rPr dirty="0" sz="2000" spc="-20" b="1">
                <a:latin typeface="Arial"/>
                <a:cs typeface="Arial"/>
              </a:rPr>
              <a:t>Assessment</a:t>
            </a:r>
            <a:r>
              <a:rPr dirty="0" sz="2000" spc="-75" b="1">
                <a:latin typeface="Arial"/>
                <a:cs typeface="Arial"/>
              </a:rPr>
              <a:t> </a:t>
            </a:r>
            <a:r>
              <a:rPr dirty="0" sz="2000" spc="-20" b="1">
                <a:latin typeface="Arial"/>
                <a:cs typeface="Arial"/>
              </a:rPr>
              <a:t>Agent</a:t>
            </a:r>
            <a:r>
              <a:rPr dirty="0" sz="2000" spc="-70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–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Performs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intelligent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symptom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assessment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provides </a:t>
            </a:r>
            <a:r>
              <a:rPr dirty="0" sz="2000">
                <a:latin typeface="Arial MT"/>
                <a:cs typeface="Arial MT"/>
              </a:rPr>
              <a:t>safe</a:t>
            </a:r>
            <a:r>
              <a:rPr dirty="0" sz="2000" spc="-10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clinical</a:t>
            </a:r>
            <a:r>
              <a:rPr dirty="0" sz="2000" spc="-1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guidance.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0616" y="696213"/>
            <a:ext cx="9969500" cy="508381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241300" marR="13970" indent="-228600">
              <a:lnSpc>
                <a:spcPts val="2340"/>
              </a:lnSpc>
              <a:spcBef>
                <a:spcPts val="229"/>
              </a:spcBef>
              <a:buSzPct val="50000"/>
              <a:buFont typeface="Symbol"/>
              <a:buChar char=""/>
              <a:tabLst>
                <a:tab pos="241300" algn="l"/>
              </a:tabLst>
            </a:pPr>
            <a:r>
              <a:rPr dirty="0" sz="2000" spc="-25" b="1">
                <a:latin typeface="Arial"/>
                <a:cs typeface="Arial"/>
              </a:rPr>
              <a:t>Knowledge</a:t>
            </a:r>
            <a:r>
              <a:rPr dirty="0" sz="2000" spc="-7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Base</a:t>
            </a:r>
            <a:r>
              <a:rPr dirty="0" sz="2000" spc="-9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Agent</a:t>
            </a:r>
            <a:r>
              <a:rPr dirty="0" sz="2000" spc="-75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–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Retrieves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summarizes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trusted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medical</a:t>
            </a:r>
            <a:r>
              <a:rPr dirty="0" sz="2000" spc="-9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information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using </a:t>
            </a:r>
            <a:r>
              <a:rPr dirty="0" sz="2000" spc="-20">
                <a:latin typeface="Arial MT"/>
                <a:cs typeface="Arial MT"/>
              </a:rPr>
              <a:t>RAG.</a:t>
            </a:r>
            <a:endParaRPr sz="2000">
              <a:latin typeface="Arial MT"/>
              <a:cs typeface="Arial MT"/>
            </a:endParaRPr>
          </a:p>
          <a:p>
            <a:pPr marL="241300" marR="982344" indent="-228600">
              <a:lnSpc>
                <a:spcPts val="2340"/>
              </a:lnSpc>
              <a:buSzPct val="50000"/>
              <a:buFont typeface="Symbol"/>
              <a:buChar char=""/>
              <a:tabLst>
                <a:tab pos="241300" algn="l"/>
              </a:tabLst>
            </a:pPr>
            <a:r>
              <a:rPr dirty="0" sz="2000" spc="-20" b="1">
                <a:latin typeface="Arial"/>
                <a:cs typeface="Arial"/>
              </a:rPr>
              <a:t>Chronic</a:t>
            </a:r>
            <a:r>
              <a:rPr dirty="0" sz="2000" spc="-90" b="1">
                <a:latin typeface="Arial"/>
                <a:cs typeface="Arial"/>
              </a:rPr>
              <a:t> </a:t>
            </a:r>
            <a:r>
              <a:rPr dirty="0" sz="2000" spc="-25" b="1">
                <a:latin typeface="Arial"/>
                <a:cs typeface="Arial"/>
              </a:rPr>
              <a:t>Monitoring</a:t>
            </a:r>
            <a:r>
              <a:rPr dirty="0" sz="2000" spc="-10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Agent</a:t>
            </a:r>
            <a:r>
              <a:rPr dirty="0" sz="2000" spc="-80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–</a:t>
            </a:r>
            <a:r>
              <a:rPr dirty="0" sz="2000" spc="-9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Monitors</a:t>
            </a:r>
            <a:r>
              <a:rPr dirty="0" sz="2000" spc="-9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patient</a:t>
            </a:r>
            <a:r>
              <a:rPr dirty="0" sz="2000" spc="-10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vitals,</a:t>
            </a:r>
            <a:r>
              <a:rPr dirty="0" sz="2000" spc="-11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health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trends,</a:t>
            </a:r>
            <a:r>
              <a:rPr dirty="0" sz="2000" spc="-10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1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chronic conditions.</a:t>
            </a:r>
            <a:endParaRPr sz="2000">
              <a:latin typeface="Arial MT"/>
              <a:cs typeface="Arial MT"/>
            </a:endParaRPr>
          </a:p>
          <a:p>
            <a:pPr marL="240665" indent="-227965">
              <a:lnSpc>
                <a:spcPts val="2230"/>
              </a:lnSpc>
              <a:buSzPct val="50000"/>
              <a:buFont typeface="Symbol"/>
              <a:buChar char=""/>
              <a:tabLst>
                <a:tab pos="240665" algn="l"/>
              </a:tabLst>
            </a:pPr>
            <a:r>
              <a:rPr dirty="0" sz="2000" spc="-20" b="1">
                <a:latin typeface="Arial"/>
                <a:cs typeface="Arial"/>
              </a:rPr>
              <a:t>Health</a:t>
            </a:r>
            <a:r>
              <a:rPr dirty="0" sz="2000" spc="-80" b="1">
                <a:latin typeface="Arial"/>
                <a:cs typeface="Arial"/>
              </a:rPr>
              <a:t> </a:t>
            </a:r>
            <a:r>
              <a:rPr dirty="0" sz="2000" spc="-20" b="1">
                <a:latin typeface="Arial"/>
                <a:cs typeface="Arial"/>
              </a:rPr>
              <a:t>Report</a:t>
            </a:r>
            <a:r>
              <a:rPr dirty="0" sz="2000" spc="-75" b="1">
                <a:latin typeface="Arial"/>
                <a:cs typeface="Arial"/>
              </a:rPr>
              <a:t> </a:t>
            </a:r>
            <a:r>
              <a:rPr dirty="0" sz="2000" spc="-20" b="1">
                <a:latin typeface="Arial"/>
                <a:cs typeface="Arial"/>
              </a:rPr>
              <a:t>Agent</a:t>
            </a:r>
            <a:r>
              <a:rPr dirty="0" sz="2000" spc="-80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–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Generates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 spc="-30">
                <a:latin typeface="Arial MT"/>
                <a:cs typeface="Arial MT"/>
              </a:rPr>
              <a:t>AI-</a:t>
            </a:r>
            <a:r>
              <a:rPr dirty="0" sz="2000" spc="-20">
                <a:latin typeface="Arial MT"/>
                <a:cs typeface="Arial MT"/>
              </a:rPr>
              <a:t>powered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personalized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health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reports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insights.</a:t>
            </a:r>
            <a:endParaRPr sz="2000">
              <a:latin typeface="Arial MT"/>
              <a:cs typeface="Arial MT"/>
            </a:endParaRPr>
          </a:p>
          <a:p>
            <a:pPr marL="240665" indent="-227965">
              <a:lnSpc>
                <a:spcPts val="2370"/>
              </a:lnSpc>
              <a:buSzPct val="50000"/>
              <a:buFont typeface="Symbol"/>
              <a:buChar char=""/>
              <a:tabLst>
                <a:tab pos="240665" algn="l"/>
              </a:tabLst>
            </a:pPr>
            <a:r>
              <a:rPr dirty="0" sz="2000" spc="-25" b="1">
                <a:latin typeface="Arial"/>
                <a:cs typeface="Arial"/>
              </a:rPr>
              <a:t>Supervisor</a:t>
            </a:r>
            <a:r>
              <a:rPr dirty="0" sz="2000" spc="-75" b="1">
                <a:latin typeface="Arial"/>
                <a:cs typeface="Arial"/>
              </a:rPr>
              <a:t> </a:t>
            </a:r>
            <a:r>
              <a:rPr dirty="0" sz="2000" spc="-20" b="1">
                <a:latin typeface="Arial"/>
                <a:cs typeface="Arial"/>
              </a:rPr>
              <a:t>Agent</a:t>
            </a:r>
            <a:r>
              <a:rPr dirty="0" sz="2000" spc="-80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–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Coordinates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specialized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agents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using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 b="1">
                <a:latin typeface="Arial"/>
                <a:cs typeface="Arial"/>
              </a:rPr>
              <a:t>IBM</a:t>
            </a:r>
            <a:r>
              <a:rPr dirty="0" sz="2000" spc="-85" b="1">
                <a:latin typeface="Arial"/>
                <a:cs typeface="Arial"/>
              </a:rPr>
              <a:t> </a:t>
            </a:r>
            <a:r>
              <a:rPr dirty="0" sz="2000" spc="-20" b="1">
                <a:latin typeface="Arial"/>
                <a:cs typeface="Arial"/>
              </a:rPr>
              <a:t>Watsonx</a:t>
            </a:r>
            <a:r>
              <a:rPr dirty="0" sz="2000" spc="-8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Orchestrate</a:t>
            </a:r>
            <a:r>
              <a:rPr dirty="0" sz="2000" spc="-10">
                <a:latin typeface="Arial MT"/>
                <a:cs typeface="Arial MT"/>
              </a:rPr>
              <a:t>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000">
              <a:latin typeface="Arial MT"/>
              <a:cs typeface="Arial MT"/>
            </a:endParaRPr>
          </a:p>
          <a:p>
            <a:pPr algn="just" marL="12700" marR="206375">
              <a:lnSpc>
                <a:spcPts val="2340"/>
              </a:lnSpc>
            </a:pP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solution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includes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spc="-25" b="1">
                <a:latin typeface="Arial"/>
                <a:cs typeface="Arial"/>
              </a:rPr>
              <a:t>responsive</a:t>
            </a:r>
            <a:r>
              <a:rPr dirty="0" sz="2000" spc="-75" b="1">
                <a:latin typeface="Arial"/>
                <a:cs typeface="Arial"/>
              </a:rPr>
              <a:t> </a:t>
            </a:r>
            <a:r>
              <a:rPr dirty="0" sz="2000" spc="-20" b="1">
                <a:latin typeface="Arial"/>
                <a:cs typeface="Arial"/>
              </a:rPr>
              <a:t>healthcare</a:t>
            </a:r>
            <a:r>
              <a:rPr dirty="0" sz="2000" spc="-85" b="1">
                <a:latin typeface="Arial"/>
                <a:cs typeface="Arial"/>
              </a:rPr>
              <a:t> </a:t>
            </a:r>
            <a:r>
              <a:rPr dirty="0" sz="2000" spc="-25" b="1">
                <a:latin typeface="Arial"/>
                <a:cs typeface="Arial"/>
              </a:rPr>
              <a:t>dashboard</a:t>
            </a:r>
            <a:r>
              <a:rPr dirty="0" sz="2000" spc="-70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that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allows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users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monitor </a:t>
            </a:r>
            <a:r>
              <a:rPr dirty="0" sz="2000" spc="-20">
                <a:latin typeface="Arial MT"/>
                <a:cs typeface="Arial MT"/>
              </a:rPr>
              <a:t>vitals,</a:t>
            </a:r>
            <a:r>
              <a:rPr dirty="0" sz="2000" spc="-1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access</a:t>
            </a:r>
            <a:r>
              <a:rPr dirty="0" sz="2000" spc="-95">
                <a:latin typeface="Arial MT"/>
                <a:cs typeface="Arial MT"/>
              </a:rPr>
              <a:t> </a:t>
            </a:r>
            <a:r>
              <a:rPr dirty="0" sz="2000" spc="-35">
                <a:latin typeface="Arial MT"/>
                <a:cs typeface="Arial MT"/>
              </a:rPr>
              <a:t>AI-</a:t>
            </a:r>
            <a:r>
              <a:rPr dirty="0" sz="2000" spc="-20">
                <a:latin typeface="Arial MT"/>
                <a:cs typeface="Arial MT"/>
              </a:rPr>
              <a:t>generated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health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reports,</a:t>
            </a:r>
            <a:r>
              <a:rPr dirty="0" sz="2000" spc="-1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view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health</a:t>
            </a:r>
            <a:r>
              <a:rPr dirty="0" sz="2000" spc="-1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records,</a:t>
            </a:r>
            <a:r>
              <a:rPr dirty="0" sz="2000" spc="-10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1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receive</a:t>
            </a:r>
            <a:r>
              <a:rPr dirty="0" sz="2000" spc="-1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personalized </a:t>
            </a:r>
            <a:r>
              <a:rPr dirty="0" sz="2000" spc="-20">
                <a:latin typeface="Arial MT"/>
                <a:cs typeface="Arial MT"/>
              </a:rPr>
              <a:t>lifestyle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recommendations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through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unified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interface.</a:t>
            </a:r>
            <a:endParaRPr sz="2000">
              <a:latin typeface="Arial MT"/>
              <a:cs typeface="Arial MT"/>
            </a:endParaRPr>
          </a:p>
          <a:p>
            <a:pPr algn="just" marL="12700">
              <a:lnSpc>
                <a:spcPts val="2230"/>
              </a:lnSpc>
            </a:pPr>
            <a:r>
              <a:rPr dirty="0" sz="2000" b="1">
                <a:latin typeface="Arial"/>
                <a:cs typeface="Arial"/>
              </a:rPr>
              <a:t>IBM</a:t>
            </a:r>
            <a:r>
              <a:rPr dirty="0" sz="2000" spc="-85" b="1">
                <a:latin typeface="Arial"/>
                <a:cs typeface="Arial"/>
              </a:rPr>
              <a:t> </a:t>
            </a:r>
            <a:r>
              <a:rPr dirty="0" sz="2000" spc="-20" b="1">
                <a:latin typeface="Arial"/>
                <a:cs typeface="Arial"/>
              </a:rPr>
              <a:t>Watsonx</a:t>
            </a:r>
            <a:r>
              <a:rPr dirty="0" sz="2000" spc="-90" b="1">
                <a:latin typeface="Arial"/>
                <a:cs typeface="Arial"/>
              </a:rPr>
              <a:t> </a:t>
            </a:r>
            <a:r>
              <a:rPr dirty="0" sz="2000" spc="-20" b="1">
                <a:latin typeface="Arial"/>
                <a:cs typeface="Arial"/>
              </a:rPr>
              <a:t>Orchestrate</a:t>
            </a:r>
            <a:r>
              <a:rPr dirty="0" sz="2000" spc="-75" b="1">
                <a:latin typeface="Arial"/>
                <a:cs typeface="Arial"/>
              </a:rPr>
              <a:t> </a:t>
            </a:r>
            <a:r>
              <a:rPr dirty="0" sz="2000" spc="-20">
                <a:latin typeface="Arial MT"/>
                <a:cs typeface="Arial MT"/>
              </a:rPr>
              <a:t>manages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agent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collaboration,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 b="1">
                <a:latin typeface="Arial"/>
                <a:cs typeface="Arial"/>
              </a:rPr>
              <a:t>IBM</a:t>
            </a:r>
            <a:r>
              <a:rPr dirty="0" sz="2000" spc="-75" b="1">
                <a:latin typeface="Arial"/>
                <a:cs typeface="Arial"/>
              </a:rPr>
              <a:t> </a:t>
            </a:r>
            <a:r>
              <a:rPr dirty="0" sz="2000" spc="-20" b="1">
                <a:latin typeface="Arial"/>
                <a:cs typeface="Arial"/>
              </a:rPr>
              <a:t>watsonx.ai</a:t>
            </a:r>
            <a:r>
              <a:rPr dirty="0" sz="2000" spc="-85" b="1">
                <a:latin typeface="Arial"/>
                <a:cs typeface="Arial"/>
              </a:rPr>
              <a:t> </a:t>
            </a:r>
            <a:r>
              <a:rPr dirty="0" sz="2000" spc="-20">
                <a:latin typeface="Arial MT"/>
                <a:cs typeface="Arial MT"/>
              </a:rPr>
              <a:t>provides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AI</a:t>
            </a:r>
            <a:endParaRPr sz="2000">
              <a:latin typeface="Arial MT"/>
              <a:cs typeface="Arial MT"/>
            </a:endParaRPr>
          </a:p>
          <a:p>
            <a:pPr marL="12700" marR="564515">
              <a:lnSpc>
                <a:spcPts val="2340"/>
              </a:lnSpc>
              <a:spcBef>
                <a:spcPts val="95"/>
              </a:spcBef>
            </a:pPr>
            <a:r>
              <a:rPr dirty="0" sz="2000" spc="-20">
                <a:latin typeface="Arial MT"/>
                <a:cs typeface="Arial MT"/>
              </a:rPr>
              <a:t>services</a:t>
            </a:r>
            <a:r>
              <a:rPr dirty="0" sz="2000" spc="-10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1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model</a:t>
            </a:r>
            <a:r>
              <a:rPr dirty="0" sz="2000" spc="-10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deployment,</a:t>
            </a:r>
            <a:r>
              <a:rPr dirty="0" sz="2000" spc="-10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while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b="1">
                <a:latin typeface="Arial"/>
                <a:cs typeface="Arial"/>
              </a:rPr>
              <a:t>IBM</a:t>
            </a:r>
            <a:r>
              <a:rPr dirty="0" sz="2000" spc="-10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Granite</a:t>
            </a:r>
            <a:r>
              <a:rPr dirty="0" sz="2000" spc="-85" b="1">
                <a:latin typeface="Arial"/>
                <a:cs typeface="Arial"/>
              </a:rPr>
              <a:t> </a:t>
            </a:r>
            <a:r>
              <a:rPr dirty="0" sz="2000" spc="-20" b="1">
                <a:latin typeface="Arial"/>
                <a:cs typeface="Arial"/>
              </a:rPr>
              <a:t>Models</a:t>
            </a:r>
            <a:r>
              <a:rPr dirty="0" sz="2000" spc="-85" b="1">
                <a:latin typeface="Arial"/>
                <a:cs typeface="Arial"/>
              </a:rPr>
              <a:t> </a:t>
            </a:r>
            <a:r>
              <a:rPr dirty="0" sz="2000" spc="-10">
                <a:latin typeface="Arial MT"/>
                <a:cs typeface="Arial MT"/>
              </a:rPr>
              <a:t>power</a:t>
            </a:r>
            <a:r>
              <a:rPr dirty="0" sz="2000" spc="-9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clinical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reasoning, </a:t>
            </a:r>
            <a:r>
              <a:rPr dirty="0" sz="2000" spc="-20">
                <a:latin typeface="Arial MT"/>
                <a:cs typeface="Arial MT"/>
              </a:rPr>
              <a:t>medical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response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generation,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healthcare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insights.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ts val="2240"/>
              </a:lnSpc>
            </a:pPr>
            <a:r>
              <a:rPr dirty="0" sz="2000" spc="-20">
                <a:latin typeface="Arial MT"/>
                <a:cs typeface="Arial MT"/>
              </a:rPr>
              <a:t>Overall,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spc="-10" b="1">
                <a:latin typeface="Arial"/>
                <a:cs typeface="Arial"/>
              </a:rPr>
              <a:t>Helix</a:t>
            </a:r>
            <a:r>
              <a:rPr dirty="0" sz="2000" spc="-6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AI</a:t>
            </a:r>
            <a:r>
              <a:rPr dirty="0" sz="2000" spc="-65" b="1">
                <a:latin typeface="Arial"/>
                <a:cs typeface="Arial"/>
              </a:rPr>
              <a:t> </a:t>
            </a:r>
            <a:r>
              <a:rPr dirty="0" sz="2000" spc="-20">
                <a:latin typeface="Arial MT"/>
                <a:cs typeface="Arial MT"/>
              </a:rPr>
              <a:t>delivers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 spc="-30">
                <a:latin typeface="Arial MT"/>
                <a:cs typeface="Arial MT"/>
              </a:rPr>
              <a:t>end-</a:t>
            </a:r>
            <a:r>
              <a:rPr dirty="0" sz="2000" spc="-25">
                <a:latin typeface="Arial MT"/>
                <a:cs typeface="Arial MT"/>
              </a:rPr>
              <a:t>to-</a:t>
            </a:r>
            <a:r>
              <a:rPr dirty="0" sz="2000">
                <a:latin typeface="Arial MT"/>
                <a:cs typeface="Arial MT"/>
              </a:rPr>
              <a:t>end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intelligent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healthcare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ecosystem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that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combines</a:t>
            </a:r>
            <a:endParaRPr sz="2000">
              <a:latin typeface="Arial MT"/>
              <a:cs typeface="Arial MT"/>
            </a:endParaRPr>
          </a:p>
          <a:p>
            <a:pPr algn="just" marL="12700" marR="747395">
              <a:lnSpc>
                <a:spcPct val="97600"/>
              </a:lnSpc>
              <a:spcBef>
                <a:spcPts val="30"/>
              </a:spcBef>
            </a:pPr>
            <a:r>
              <a:rPr dirty="0" sz="2000" spc="-35" b="1">
                <a:latin typeface="Arial"/>
                <a:cs typeface="Arial"/>
              </a:rPr>
              <a:t>multi-</a:t>
            </a:r>
            <a:r>
              <a:rPr dirty="0" sz="2000" spc="-10" b="1">
                <a:latin typeface="Arial"/>
                <a:cs typeface="Arial"/>
              </a:rPr>
              <a:t>agent</a:t>
            </a:r>
            <a:r>
              <a:rPr dirty="0" sz="2000" spc="-9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AI,</a:t>
            </a:r>
            <a:r>
              <a:rPr dirty="0" sz="2000" spc="-10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RAG,</a:t>
            </a:r>
            <a:r>
              <a:rPr dirty="0" sz="2000" spc="-10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and</a:t>
            </a:r>
            <a:r>
              <a:rPr dirty="0" sz="2000" spc="-9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IBM</a:t>
            </a:r>
            <a:r>
              <a:rPr dirty="0" sz="2000" spc="-9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Granite</a:t>
            </a:r>
            <a:r>
              <a:rPr dirty="0" sz="2000" spc="-9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Models</a:t>
            </a:r>
            <a:r>
              <a:rPr dirty="0" sz="2000" spc="-80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1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provide</a:t>
            </a:r>
            <a:r>
              <a:rPr dirty="0" sz="2000" spc="-105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personalized</a:t>
            </a:r>
            <a:r>
              <a:rPr dirty="0" sz="2000" spc="-1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healthcare </a:t>
            </a:r>
            <a:r>
              <a:rPr dirty="0" sz="2000" spc="-20">
                <a:latin typeface="Arial MT"/>
                <a:cs typeface="Arial MT"/>
              </a:rPr>
              <a:t>assistance,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trusted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medical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knowledge,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continuous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health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monitoring,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proactive </a:t>
            </a:r>
            <a:r>
              <a:rPr dirty="0" sz="2000" spc="-20">
                <a:latin typeface="Arial MT"/>
                <a:cs typeface="Arial MT"/>
              </a:rPr>
              <a:t>decision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support.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5272" y="507237"/>
            <a:ext cx="326390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Technology</a:t>
            </a:r>
            <a:r>
              <a:rPr dirty="0" spc="-150"/>
              <a:t> </a:t>
            </a:r>
            <a:r>
              <a:rPr dirty="0"/>
              <a:t>Used</a:t>
            </a:r>
            <a:r>
              <a:rPr dirty="0" spc="-160"/>
              <a:t> </a:t>
            </a:r>
            <a:r>
              <a:rPr dirty="0" spc="-50"/>
              <a:t>–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4331" y="1231138"/>
            <a:ext cx="9374505" cy="3251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0665" indent="-227965">
              <a:lnSpc>
                <a:spcPts val="2350"/>
              </a:lnSpc>
              <a:spcBef>
                <a:spcPts val="105"/>
              </a:spcBef>
              <a:buSzPct val="50000"/>
              <a:buFont typeface="Symbol"/>
              <a:buChar char=""/>
              <a:tabLst>
                <a:tab pos="240665" algn="l"/>
              </a:tabLst>
            </a:pPr>
            <a:r>
              <a:rPr dirty="0" sz="2000" b="1">
                <a:latin typeface="Arial"/>
                <a:cs typeface="Arial"/>
              </a:rPr>
              <a:t>Python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&amp;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Flask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–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Backend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development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application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logic</a:t>
            </a:r>
            <a:endParaRPr sz="2000">
              <a:latin typeface="Arial MT"/>
              <a:cs typeface="Arial MT"/>
            </a:endParaRPr>
          </a:p>
          <a:p>
            <a:pPr marL="240665" indent="-227965">
              <a:lnSpc>
                <a:spcPts val="2300"/>
              </a:lnSpc>
              <a:buSzPct val="50000"/>
              <a:buFont typeface="Symbol"/>
              <a:buChar char=""/>
              <a:tabLst>
                <a:tab pos="240665" algn="l"/>
              </a:tabLst>
            </a:pPr>
            <a:r>
              <a:rPr dirty="0" sz="2000" b="1">
                <a:latin typeface="Arial"/>
                <a:cs typeface="Arial"/>
              </a:rPr>
              <a:t>IBM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watsonx.ai</a:t>
            </a:r>
            <a:r>
              <a:rPr dirty="0" sz="2000" spc="-40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–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AI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model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integration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intelligent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processing</a:t>
            </a:r>
            <a:endParaRPr sz="2000">
              <a:latin typeface="Arial MT"/>
              <a:cs typeface="Arial MT"/>
            </a:endParaRPr>
          </a:p>
          <a:p>
            <a:pPr marL="240665" indent="-227965">
              <a:lnSpc>
                <a:spcPts val="2300"/>
              </a:lnSpc>
              <a:buSzPct val="50000"/>
              <a:buFont typeface="Symbol"/>
              <a:buChar char=""/>
              <a:tabLst>
                <a:tab pos="240665" algn="l"/>
              </a:tabLst>
            </a:pPr>
            <a:r>
              <a:rPr dirty="0" sz="2000" b="1">
                <a:latin typeface="Arial"/>
                <a:cs typeface="Arial"/>
              </a:rPr>
              <a:t>IBM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Granite</a:t>
            </a:r>
            <a:r>
              <a:rPr dirty="0" sz="2000" spc="-1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Models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–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Health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analysis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AI-</a:t>
            </a:r>
            <a:r>
              <a:rPr dirty="0" sz="2000">
                <a:latin typeface="Arial MT"/>
                <a:cs typeface="Arial MT"/>
              </a:rPr>
              <a:t>generated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insights</a:t>
            </a:r>
            <a:endParaRPr sz="2000">
              <a:latin typeface="Arial MT"/>
              <a:cs typeface="Arial MT"/>
            </a:endParaRPr>
          </a:p>
          <a:p>
            <a:pPr marL="240665" indent="-227965">
              <a:lnSpc>
                <a:spcPts val="2300"/>
              </a:lnSpc>
              <a:buSzPct val="50000"/>
              <a:buFont typeface="Symbol"/>
              <a:buChar char=""/>
              <a:tabLst>
                <a:tab pos="240665" algn="l"/>
              </a:tabLst>
            </a:pPr>
            <a:r>
              <a:rPr dirty="0" sz="2000" b="1">
                <a:latin typeface="Arial"/>
                <a:cs typeface="Arial"/>
              </a:rPr>
              <a:t>Watsonx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Orchestrate</a:t>
            </a:r>
            <a:r>
              <a:rPr dirty="0" sz="2000" spc="-25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–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Multi-</a:t>
            </a:r>
            <a:r>
              <a:rPr dirty="0" sz="2000">
                <a:latin typeface="Arial MT"/>
                <a:cs typeface="Arial MT"/>
              </a:rPr>
              <a:t>agent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coordination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task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delegation</a:t>
            </a:r>
            <a:endParaRPr sz="2000">
              <a:latin typeface="Arial MT"/>
              <a:cs typeface="Arial MT"/>
            </a:endParaRPr>
          </a:p>
          <a:p>
            <a:pPr marL="240665" indent="-227965">
              <a:lnSpc>
                <a:spcPts val="2300"/>
              </a:lnSpc>
              <a:buSzPct val="50000"/>
              <a:buFont typeface="Symbol"/>
              <a:buChar char=""/>
              <a:tabLst>
                <a:tab pos="240665" algn="l"/>
              </a:tabLst>
            </a:pPr>
            <a:r>
              <a:rPr dirty="0" sz="2000" spc="-10" b="1">
                <a:latin typeface="Arial"/>
                <a:cs typeface="Arial"/>
              </a:rPr>
              <a:t>Retrieval-</a:t>
            </a:r>
            <a:r>
              <a:rPr dirty="0" sz="2000" b="1">
                <a:latin typeface="Arial"/>
                <a:cs typeface="Arial"/>
              </a:rPr>
              <a:t>Augmented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Generation</a:t>
            </a:r>
            <a:r>
              <a:rPr dirty="0" sz="2000" spc="-5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(RAG)</a:t>
            </a:r>
            <a:r>
              <a:rPr dirty="0" sz="2000" spc="-25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–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Trusted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medical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knowledge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retrieval</a:t>
            </a:r>
            <a:endParaRPr sz="2000">
              <a:latin typeface="Arial MT"/>
              <a:cs typeface="Arial MT"/>
            </a:endParaRPr>
          </a:p>
          <a:p>
            <a:pPr marL="240665" indent="-227965">
              <a:lnSpc>
                <a:spcPts val="2305"/>
              </a:lnSpc>
              <a:buSzPct val="50000"/>
              <a:buFont typeface="Symbol"/>
              <a:buChar char=""/>
              <a:tabLst>
                <a:tab pos="240665" algn="l"/>
              </a:tabLst>
            </a:pPr>
            <a:r>
              <a:rPr dirty="0" sz="2000" spc="-10" b="1">
                <a:latin typeface="Arial"/>
                <a:cs typeface="Arial"/>
              </a:rPr>
              <a:t>TF-</a:t>
            </a:r>
            <a:r>
              <a:rPr dirty="0" sz="2000" b="1">
                <a:latin typeface="Arial"/>
                <a:cs typeface="Arial"/>
              </a:rPr>
              <a:t>IDF</a:t>
            </a:r>
            <a:r>
              <a:rPr dirty="0" sz="2000" spc="-4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&amp;</a:t>
            </a:r>
            <a:r>
              <a:rPr dirty="0" sz="2000" spc="-2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Vector</a:t>
            </a:r>
            <a:r>
              <a:rPr dirty="0" sz="2000" spc="-2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Search</a:t>
            </a:r>
            <a:r>
              <a:rPr dirty="0" sz="2000" spc="-40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–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Medical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document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retrieval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relevance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matching</a:t>
            </a:r>
            <a:endParaRPr sz="2000">
              <a:latin typeface="Arial MT"/>
              <a:cs typeface="Arial MT"/>
            </a:endParaRPr>
          </a:p>
          <a:p>
            <a:pPr marL="240665" indent="-227965">
              <a:lnSpc>
                <a:spcPts val="2300"/>
              </a:lnSpc>
              <a:buSzPct val="50000"/>
              <a:buFont typeface="Symbol"/>
              <a:buChar char=""/>
              <a:tabLst>
                <a:tab pos="240665" algn="l"/>
              </a:tabLst>
            </a:pPr>
            <a:r>
              <a:rPr dirty="0" sz="2000" b="1">
                <a:latin typeface="Arial"/>
                <a:cs typeface="Arial"/>
              </a:rPr>
              <a:t>OpenAPI</a:t>
            </a:r>
            <a:r>
              <a:rPr dirty="0" sz="2000" spc="-40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–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Integration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Helix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tools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with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Orchestrate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agents</a:t>
            </a:r>
            <a:endParaRPr sz="2000">
              <a:latin typeface="Arial MT"/>
              <a:cs typeface="Arial MT"/>
            </a:endParaRPr>
          </a:p>
          <a:p>
            <a:pPr marL="240665" indent="-227965">
              <a:lnSpc>
                <a:spcPts val="2300"/>
              </a:lnSpc>
              <a:buSzPct val="50000"/>
              <a:buFont typeface="Symbol"/>
              <a:buChar char=""/>
              <a:tabLst>
                <a:tab pos="240665" algn="l"/>
              </a:tabLst>
            </a:pPr>
            <a:r>
              <a:rPr dirty="0" sz="2000" b="1">
                <a:latin typeface="Arial"/>
                <a:cs typeface="Arial"/>
              </a:rPr>
              <a:t>SQLAlchemy</a:t>
            </a:r>
            <a:r>
              <a:rPr dirty="0" sz="2000" spc="-4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&amp;</a:t>
            </a:r>
            <a:r>
              <a:rPr dirty="0" sz="2000" spc="-2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SQLite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–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Health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data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user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information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management</a:t>
            </a:r>
            <a:endParaRPr sz="2000">
              <a:latin typeface="Arial MT"/>
              <a:cs typeface="Arial MT"/>
            </a:endParaRPr>
          </a:p>
          <a:p>
            <a:pPr marL="240665" indent="-227965">
              <a:lnSpc>
                <a:spcPts val="2305"/>
              </a:lnSpc>
              <a:buSzPct val="50000"/>
              <a:buFont typeface="Symbol"/>
              <a:buChar char=""/>
              <a:tabLst>
                <a:tab pos="240665" algn="l"/>
              </a:tabLst>
            </a:pPr>
            <a:r>
              <a:rPr dirty="0" sz="2000" b="1">
                <a:latin typeface="Arial"/>
                <a:cs typeface="Arial"/>
              </a:rPr>
              <a:t>HTML,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CSS,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JavaScript</a:t>
            </a:r>
            <a:r>
              <a:rPr dirty="0" sz="2000" spc="-2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&amp;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Bootstrap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5</a:t>
            </a:r>
            <a:r>
              <a:rPr dirty="0" sz="2000" spc="-25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–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Responsive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user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interface</a:t>
            </a:r>
            <a:endParaRPr sz="2000">
              <a:latin typeface="Arial MT"/>
              <a:cs typeface="Arial MT"/>
            </a:endParaRPr>
          </a:p>
          <a:p>
            <a:pPr marL="240665" indent="-227965">
              <a:lnSpc>
                <a:spcPts val="2300"/>
              </a:lnSpc>
              <a:buSzPct val="50000"/>
              <a:buFont typeface="Symbol"/>
              <a:buChar char=""/>
              <a:tabLst>
                <a:tab pos="240665" algn="l"/>
              </a:tabLst>
            </a:pPr>
            <a:r>
              <a:rPr dirty="0" sz="2000" b="1">
                <a:latin typeface="Arial"/>
                <a:cs typeface="Arial"/>
              </a:rPr>
              <a:t>Git</a:t>
            </a:r>
            <a:r>
              <a:rPr dirty="0" sz="2000" spc="-2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&amp;</a:t>
            </a:r>
            <a:r>
              <a:rPr dirty="0" sz="2000" spc="-2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GitHub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–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Version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control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project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management</a:t>
            </a:r>
            <a:endParaRPr sz="2000">
              <a:latin typeface="Arial MT"/>
              <a:cs typeface="Arial MT"/>
            </a:endParaRPr>
          </a:p>
          <a:p>
            <a:pPr marL="240665" indent="-227965">
              <a:lnSpc>
                <a:spcPts val="2345"/>
              </a:lnSpc>
              <a:buSzPct val="50000"/>
              <a:buFont typeface="Symbol"/>
              <a:buChar char=""/>
              <a:tabLst>
                <a:tab pos="240665" algn="l"/>
              </a:tabLst>
            </a:pPr>
            <a:r>
              <a:rPr dirty="0" sz="2000" b="1">
                <a:latin typeface="Arial"/>
                <a:cs typeface="Arial"/>
              </a:rPr>
              <a:t>Render</a:t>
            </a:r>
            <a:r>
              <a:rPr dirty="0" sz="2000" spc="-40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–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Cloud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deployment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hosting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5272" y="299719"/>
            <a:ext cx="679577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Watsonx</a:t>
            </a:r>
            <a:r>
              <a:rPr dirty="0" spc="-125"/>
              <a:t> </a:t>
            </a:r>
            <a:r>
              <a:rPr dirty="0"/>
              <a:t>Orchestrate</a:t>
            </a:r>
            <a:r>
              <a:rPr dirty="0" spc="-145"/>
              <a:t> </a:t>
            </a:r>
            <a:r>
              <a:rPr dirty="0"/>
              <a:t>component</a:t>
            </a:r>
            <a:r>
              <a:rPr dirty="0" spc="-100"/>
              <a:t> </a:t>
            </a:r>
            <a:r>
              <a:rPr dirty="0"/>
              <a:t>Used</a:t>
            </a:r>
            <a:r>
              <a:rPr dirty="0" spc="-175"/>
              <a:t> </a:t>
            </a:r>
            <a:r>
              <a:rPr dirty="0" spc="-50"/>
              <a:t>-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2452" y="1164082"/>
            <a:ext cx="11055985" cy="471360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241300" marR="668020" indent="-228600">
              <a:lnSpc>
                <a:spcPts val="2300"/>
              </a:lnSpc>
              <a:spcBef>
                <a:spcPts val="265"/>
              </a:spcBef>
              <a:buAutoNum type="arabicPeriod"/>
              <a:tabLst>
                <a:tab pos="241300" algn="l"/>
              </a:tabLst>
            </a:pPr>
            <a:r>
              <a:rPr dirty="0" sz="2000" b="1">
                <a:latin typeface="Arial"/>
                <a:cs typeface="Arial"/>
              </a:rPr>
              <a:t>Chat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Input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–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Interface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where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users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enter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health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queries,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symptoms,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vitals,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healthcare concerns.</a:t>
            </a:r>
            <a:endParaRPr sz="2000">
              <a:latin typeface="Arial MT"/>
              <a:cs typeface="Arial MT"/>
            </a:endParaRPr>
          </a:p>
          <a:p>
            <a:pPr marL="240665" indent="-227965">
              <a:lnSpc>
                <a:spcPts val="2190"/>
              </a:lnSpc>
              <a:buFont typeface="Arial MT"/>
              <a:buAutoNum type="arabicPeriod"/>
              <a:tabLst>
                <a:tab pos="240665" algn="l"/>
              </a:tabLst>
            </a:pPr>
            <a:r>
              <a:rPr dirty="0" sz="2000" b="1">
                <a:latin typeface="Arial"/>
                <a:cs typeface="Arial"/>
              </a:rPr>
              <a:t>IBM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watsonx</a:t>
            </a:r>
            <a:r>
              <a:rPr dirty="0" sz="2000" spc="-5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Orchestrate</a:t>
            </a:r>
            <a:r>
              <a:rPr dirty="0" sz="2000" spc="-4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Supervisor</a:t>
            </a:r>
            <a:r>
              <a:rPr dirty="0" sz="2000" spc="-5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Agent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–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Analyzes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user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intent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delegates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requests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to</a:t>
            </a:r>
            <a:endParaRPr sz="2000">
              <a:latin typeface="Arial MT"/>
              <a:cs typeface="Arial MT"/>
            </a:endParaRPr>
          </a:p>
          <a:p>
            <a:pPr marL="241300">
              <a:lnSpc>
                <a:spcPts val="2305"/>
              </a:lnSpc>
            </a:pPr>
            <a:r>
              <a:rPr dirty="0" sz="2000">
                <a:latin typeface="Arial MT"/>
                <a:cs typeface="Arial MT"/>
              </a:rPr>
              <a:t>specialized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Helix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AI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healthcare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agents.</a:t>
            </a:r>
            <a:endParaRPr sz="2000">
              <a:latin typeface="Arial MT"/>
              <a:cs typeface="Arial MT"/>
            </a:endParaRPr>
          </a:p>
          <a:p>
            <a:pPr marL="241300" marR="260985" indent="-228600">
              <a:lnSpc>
                <a:spcPts val="2290"/>
              </a:lnSpc>
              <a:spcBef>
                <a:spcPts val="114"/>
              </a:spcBef>
              <a:buFont typeface="Arial MT"/>
              <a:buAutoNum type="arabicPeriod" startAt="3"/>
              <a:tabLst>
                <a:tab pos="241300" algn="l"/>
              </a:tabLst>
            </a:pPr>
            <a:r>
              <a:rPr dirty="0" sz="2000" b="1">
                <a:latin typeface="Arial"/>
                <a:cs typeface="Arial"/>
              </a:rPr>
              <a:t>Specialized</a:t>
            </a:r>
            <a:r>
              <a:rPr dirty="0" sz="2000" spc="-6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AI</a:t>
            </a:r>
            <a:r>
              <a:rPr dirty="0" sz="2000" spc="-4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Agents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–</a:t>
            </a:r>
            <a:r>
              <a:rPr dirty="0" sz="2000" spc="-55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Clinical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Assessment,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Chronic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Monitoring,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Medication,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Lifestyle,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Risk </a:t>
            </a:r>
            <a:r>
              <a:rPr dirty="0" sz="2000">
                <a:latin typeface="Arial MT"/>
                <a:cs typeface="Arial MT"/>
              </a:rPr>
              <a:t>Prediction,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Health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Report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agents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handle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specific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healthcare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tasks.</a:t>
            </a:r>
            <a:endParaRPr sz="2000">
              <a:latin typeface="Arial MT"/>
              <a:cs typeface="Arial MT"/>
            </a:endParaRPr>
          </a:p>
          <a:p>
            <a:pPr marL="241300" marR="695325" indent="-228600">
              <a:lnSpc>
                <a:spcPts val="2300"/>
              </a:lnSpc>
              <a:spcBef>
                <a:spcPts val="10"/>
              </a:spcBef>
              <a:buFont typeface="Arial MT"/>
              <a:buAutoNum type="arabicPeriod" startAt="3"/>
              <a:tabLst>
                <a:tab pos="241300" algn="l"/>
              </a:tabLst>
            </a:pPr>
            <a:r>
              <a:rPr dirty="0" sz="2000" b="1">
                <a:latin typeface="Arial"/>
                <a:cs typeface="Arial"/>
              </a:rPr>
              <a:t>IBM</a:t>
            </a:r>
            <a:r>
              <a:rPr dirty="0" sz="2000" spc="-1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Granite</a:t>
            </a:r>
            <a:r>
              <a:rPr dirty="0" sz="2000" spc="-1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Model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–</a:t>
            </a:r>
            <a:r>
              <a:rPr dirty="0" sz="2000" spc="-1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Granite-3.1-</a:t>
            </a:r>
            <a:r>
              <a:rPr dirty="0" sz="2000" spc="-25" b="1">
                <a:latin typeface="Arial"/>
                <a:cs typeface="Arial"/>
              </a:rPr>
              <a:t>8B-</a:t>
            </a:r>
            <a:r>
              <a:rPr dirty="0" sz="2000" b="1">
                <a:latin typeface="Arial"/>
                <a:cs typeface="Arial"/>
              </a:rPr>
              <a:t>Base</a:t>
            </a:r>
            <a:r>
              <a:rPr dirty="0" sz="2000" spc="-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→</a:t>
            </a:r>
            <a:r>
              <a:rPr dirty="0" sz="2000" spc="-15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Used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for</a:t>
            </a:r>
            <a:r>
              <a:rPr dirty="0" sz="2000" spc="-10">
                <a:latin typeface="Arial MT"/>
                <a:cs typeface="Arial MT"/>
              </a:rPr>
              <a:t> AI-</a:t>
            </a:r>
            <a:r>
              <a:rPr dirty="0" sz="2000">
                <a:latin typeface="Arial MT"/>
                <a:cs typeface="Arial MT"/>
              </a:rPr>
              <a:t>powered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health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analysis,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RAG </a:t>
            </a:r>
            <a:r>
              <a:rPr dirty="0" sz="2000">
                <a:latin typeface="Arial MT"/>
                <a:cs typeface="Arial MT"/>
              </a:rPr>
              <a:t>responses,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clinical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assessments,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health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report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narration.</a:t>
            </a:r>
            <a:endParaRPr sz="2000">
              <a:latin typeface="Arial MT"/>
              <a:cs typeface="Arial MT"/>
            </a:endParaRPr>
          </a:p>
          <a:p>
            <a:pPr marL="240665" indent="-227965">
              <a:lnSpc>
                <a:spcPts val="2190"/>
              </a:lnSpc>
              <a:buFont typeface="Arial MT"/>
              <a:buAutoNum type="arabicPeriod" startAt="3"/>
              <a:tabLst>
                <a:tab pos="240665" algn="l"/>
              </a:tabLst>
            </a:pPr>
            <a:r>
              <a:rPr dirty="0" sz="2000" b="1">
                <a:latin typeface="Arial"/>
                <a:cs typeface="Arial"/>
              </a:rPr>
              <a:t>RAG</a:t>
            </a:r>
            <a:r>
              <a:rPr dirty="0" sz="2000" spc="-5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Knowledge</a:t>
            </a:r>
            <a:r>
              <a:rPr dirty="0" sz="2000" spc="-4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Component</a:t>
            </a:r>
            <a:r>
              <a:rPr dirty="0" sz="2000" spc="-4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–</a:t>
            </a:r>
            <a:r>
              <a:rPr dirty="0" sz="2000" spc="-50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Retrieves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relevant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medical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information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from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trusted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sources</a:t>
            </a:r>
            <a:endParaRPr sz="2000">
              <a:latin typeface="Arial MT"/>
              <a:cs typeface="Arial MT"/>
            </a:endParaRPr>
          </a:p>
          <a:p>
            <a:pPr marL="241300">
              <a:lnSpc>
                <a:spcPts val="2305"/>
              </a:lnSpc>
            </a:pPr>
            <a:r>
              <a:rPr dirty="0" sz="2000">
                <a:latin typeface="Arial MT"/>
                <a:cs typeface="Arial MT"/>
              </a:rPr>
              <a:t>such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as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WHO,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CDC,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NHS,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NCI.</a:t>
            </a:r>
            <a:endParaRPr sz="2000">
              <a:latin typeface="Arial MT"/>
              <a:cs typeface="Arial MT"/>
            </a:endParaRPr>
          </a:p>
          <a:p>
            <a:pPr marL="241300" marR="501015" indent="-228600">
              <a:lnSpc>
                <a:spcPts val="2290"/>
              </a:lnSpc>
              <a:spcBef>
                <a:spcPts val="120"/>
              </a:spcBef>
              <a:buAutoNum type="arabicPeriod" startAt="6"/>
              <a:tabLst>
                <a:tab pos="241300" algn="l"/>
              </a:tabLst>
            </a:pPr>
            <a:r>
              <a:rPr dirty="0" sz="2000" b="1">
                <a:latin typeface="Arial"/>
                <a:cs typeface="Arial"/>
              </a:rPr>
              <a:t>OpenAPI</a:t>
            </a:r>
            <a:r>
              <a:rPr dirty="0" sz="2000" spc="-4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Tool</a:t>
            </a:r>
            <a:r>
              <a:rPr dirty="0" sz="2000" spc="-4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Component</a:t>
            </a:r>
            <a:r>
              <a:rPr dirty="0" sz="2000" spc="-2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–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Connects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Watsonx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Orchestrate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agents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with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Helix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AI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backend </a:t>
            </a:r>
            <a:r>
              <a:rPr dirty="0" sz="2000">
                <a:latin typeface="Arial MT"/>
                <a:cs typeface="Arial MT"/>
              </a:rPr>
              <a:t>health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services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patient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data.</a:t>
            </a:r>
            <a:endParaRPr sz="2000">
              <a:latin typeface="Arial MT"/>
              <a:cs typeface="Arial MT"/>
            </a:endParaRPr>
          </a:p>
          <a:p>
            <a:pPr marL="241300" marR="654050" indent="-228600">
              <a:lnSpc>
                <a:spcPts val="2300"/>
              </a:lnSpc>
              <a:spcBef>
                <a:spcPts val="10"/>
              </a:spcBef>
              <a:buFont typeface="Arial MT"/>
              <a:buAutoNum type="arabicPeriod" startAt="6"/>
              <a:tabLst>
                <a:tab pos="241300" algn="l"/>
              </a:tabLst>
            </a:pPr>
            <a:r>
              <a:rPr dirty="0" sz="2000" b="1">
                <a:latin typeface="Arial"/>
                <a:cs typeface="Arial"/>
              </a:rPr>
              <a:t>Chat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Output</a:t>
            </a:r>
            <a:r>
              <a:rPr dirty="0" sz="2000" spc="-45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–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Displays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personalized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health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guidance,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assessment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responses,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monitoring </a:t>
            </a:r>
            <a:r>
              <a:rPr dirty="0" sz="2000">
                <a:latin typeface="Arial MT"/>
                <a:cs typeface="Arial MT"/>
              </a:rPr>
              <a:t>insights,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healthcare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recommendations.</a:t>
            </a:r>
            <a:endParaRPr sz="2000">
              <a:latin typeface="Arial MT"/>
              <a:cs typeface="Arial MT"/>
            </a:endParaRPr>
          </a:p>
          <a:p>
            <a:pPr marL="240665" indent="-227965">
              <a:lnSpc>
                <a:spcPts val="2190"/>
              </a:lnSpc>
              <a:buFont typeface="Arial MT"/>
              <a:buAutoNum type="arabicPeriod" startAt="6"/>
              <a:tabLst>
                <a:tab pos="240665" algn="l"/>
              </a:tabLst>
            </a:pPr>
            <a:r>
              <a:rPr dirty="0" sz="2000" b="1">
                <a:latin typeface="Arial"/>
                <a:cs typeface="Arial"/>
              </a:rPr>
              <a:t>Database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Component</a:t>
            </a:r>
            <a:r>
              <a:rPr dirty="0" sz="2000" spc="-2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–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Stores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user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profiles,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vitals,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medications,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risk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information,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health</a:t>
            </a:r>
            <a:endParaRPr sz="2000">
              <a:latin typeface="Arial MT"/>
              <a:cs typeface="Arial MT"/>
            </a:endParaRPr>
          </a:p>
          <a:p>
            <a:pPr marL="241300">
              <a:lnSpc>
                <a:spcPts val="2350"/>
              </a:lnSpc>
            </a:pPr>
            <a:r>
              <a:rPr dirty="0" sz="2000">
                <a:latin typeface="Arial MT"/>
                <a:cs typeface="Arial MT"/>
              </a:rPr>
              <a:t>timelines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for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personalized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monitoring.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1859" rIns="0" bIns="0" rtlCol="0" vert="horz">
            <a:spAutoFit/>
          </a:bodyPr>
          <a:lstStyle/>
          <a:p>
            <a:pPr marL="30480">
              <a:lnSpc>
                <a:spcPct val="100000"/>
              </a:lnSpc>
              <a:spcBef>
                <a:spcPts val="95"/>
              </a:spcBef>
            </a:pPr>
            <a:r>
              <a:rPr dirty="0"/>
              <a:t>Agent</a:t>
            </a:r>
            <a:r>
              <a:rPr dirty="0" spc="-100"/>
              <a:t> </a:t>
            </a:r>
            <a:r>
              <a:rPr dirty="0" spc="-10"/>
              <a:t>Instructions</a:t>
            </a:r>
            <a:r>
              <a:rPr dirty="0" spc="-130"/>
              <a:t> </a:t>
            </a:r>
            <a:r>
              <a:rPr dirty="0" spc="-10"/>
              <a:t>Screenshot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7844" y="1227455"/>
            <a:ext cx="10042398" cy="51078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12280" y="5888735"/>
            <a:ext cx="3645408" cy="36271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6448" y="1127760"/>
            <a:ext cx="10113264" cy="65227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669535" y="2156460"/>
            <a:ext cx="161925" cy="0"/>
          </a:xfrm>
          <a:custGeom>
            <a:avLst/>
            <a:gdLst/>
            <a:ahLst/>
            <a:cxnLst/>
            <a:rect l="l" t="t" r="r" b="b"/>
            <a:pathLst>
              <a:path w="161925" h="0">
                <a:moveTo>
                  <a:pt x="0" y="0"/>
                </a:moveTo>
                <a:lnTo>
                  <a:pt x="161544" y="0"/>
                </a:lnTo>
              </a:path>
            </a:pathLst>
          </a:custGeom>
          <a:ln w="9144">
            <a:solidFill>
              <a:srgbClr val="2F2F2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4669535" y="1999488"/>
            <a:ext cx="161925" cy="161925"/>
            <a:chOff x="4669535" y="1999488"/>
            <a:chExt cx="161925" cy="161925"/>
          </a:xfrm>
        </p:grpSpPr>
        <p:sp>
          <p:nvSpPr>
            <p:cNvPr id="6" name="object 6"/>
            <p:cNvSpPr/>
            <p:nvPr/>
          </p:nvSpPr>
          <p:spPr>
            <a:xfrm>
              <a:off x="4669535" y="1999488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161925" h="161925">
                  <a:moveTo>
                    <a:pt x="0" y="4572"/>
                  </a:moveTo>
                  <a:lnTo>
                    <a:pt x="161544" y="4572"/>
                  </a:lnTo>
                </a:path>
                <a:path w="161925" h="161925">
                  <a:moveTo>
                    <a:pt x="4572" y="161544"/>
                  </a:moveTo>
                  <a:lnTo>
                    <a:pt x="4572" y="0"/>
                  </a:lnTo>
                </a:path>
              </a:pathLst>
            </a:custGeom>
            <a:ln w="9144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826507" y="1999488"/>
              <a:ext cx="0" cy="161925"/>
            </a:xfrm>
            <a:custGeom>
              <a:avLst/>
              <a:gdLst/>
              <a:ahLst/>
              <a:cxnLst/>
              <a:rect l="l" t="t" r="r" b="b"/>
              <a:pathLst>
                <a:path w="0" h="161925">
                  <a:moveTo>
                    <a:pt x="0" y="161544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/>
          <p:nvPr/>
        </p:nvSpPr>
        <p:spPr>
          <a:xfrm>
            <a:off x="6940295" y="5140452"/>
            <a:ext cx="1021080" cy="0"/>
          </a:xfrm>
          <a:custGeom>
            <a:avLst/>
            <a:gdLst/>
            <a:ahLst/>
            <a:cxnLst/>
            <a:rect l="l" t="t" r="r" b="b"/>
            <a:pathLst>
              <a:path w="1021079" h="0">
                <a:moveTo>
                  <a:pt x="0" y="0"/>
                </a:moveTo>
                <a:lnTo>
                  <a:pt x="102108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122919" y="5140452"/>
            <a:ext cx="1012190" cy="0"/>
          </a:xfrm>
          <a:custGeom>
            <a:avLst/>
            <a:gdLst/>
            <a:ahLst/>
            <a:cxnLst/>
            <a:rect l="l" t="t" r="r" b="b"/>
            <a:pathLst>
              <a:path w="1012190" h="0">
                <a:moveTo>
                  <a:pt x="0" y="0"/>
                </a:moveTo>
                <a:lnTo>
                  <a:pt x="101193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296400" y="5140452"/>
            <a:ext cx="1018540" cy="0"/>
          </a:xfrm>
          <a:custGeom>
            <a:avLst/>
            <a:gdLst/>
            <a:ahLst/>
            <a:cxnLst/>
            <a:rect l="l" t="t" r="r" b="b"/>
            <a:pathLst>
              <a:path w="1018540" h="0">
                <a:moveTo>
                  <a:pt x="0" y="0"/>
                </a:moveTo>
                <a:lnTo>
                  <a:pt x="101803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0472928" y="1970532"/>
            <a:ext cx="137160" cy="0"/>
          </a:xfrm>
          <a:custGeom>
            <a:avLst/>
            <a:gdLst/>
            <a:ahLst/>
            <a:cxnLst/>
            <a:rect l="l" t="t" r="r" b="b"/>
            <a:pathLst>
              <a:path w="137159" h="0">
                <a:moveTo>
                  <a:pt x="0" y="0"/>
                </a:moveTo>
                <a:lnTo>
                  <a:pt x="137160" y="0"/>
                </a:lnTo>
              </a:path>
            </a:pathLst>
          </a:custGeom>
          <a:ln w="9144">
            <a:solidFill>
              <a:srgbClr val="44444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2" name="object 12"/>
          <p:cNvGrpSpPr/>
          <p:nvPr/>
        </p:nvGrpSpPr>
        <p:grpSpPr>
          <a:xfrm>
            <a:off x="10472928" y="1840992"/>
            <a:ext cx="137160" cy="134620"/>
            <a:chOff x="10472928" y="1840992"/>
            <a:chExt cx="137160" cy="134620"/>
          </a:xfrm>
        </p:grpSpPr>
        <p:sp>
          <p:nvSpPr>
            <p:cNvPr id="13" name="object 13"/>
            <p:cNvSpPr/>
            <p:nvPr/>
          </p:nvSpPr>
          <p:spPr>
            <a:xfrm>
              <a:off x="10472928" y="1840992"/>
              <a:ext cx="137160" cy="134620"/>
            </a:xfrm>
            <a:custGeom>
              <a:avLst/>
              <a:gdLst/>
              <a:ahLst/>
              <a:cxnLst/>
              <a:rect l="l" t="t" r="r" b="b"/>
              <a:pathLst>
                <a:path w="137159" h="134619">
                  <a:moveTo>
                    <a:pt x="0" y="4572"/>
                  </a:moveTo>
                  <a:lnTo>
                    <a:pt x="137160" y="4572"/>
                  </a:lnTo>
                </a:path>
                <a:path w="137159" h="134619">
                  <a:moveTo>
                    <a:pt x="4572" y="134112"/>
                  </a:moveTo>
                  <a:lnTo>
                    <a:pt x="4572" y="0"/>
                  </a:lnTo>
                </a:path>
              </a:pathLst>
            </a:custGeom>
            <a:ln w="9144">
              <a:solidFill>
                <a:srgbClr val="4444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0605516" y="1840992"/>
              <a:ext cx="0" cy="134620"/>
            </a:xfrm>
            <a:custGeom>
              <a:avLst/>
              <a:gdLst/>
              <a:ahLst/>
              <a:cxnLst/>
              <a:rect l="l" t="t" r="r" b="b"/>
              <a:pathLst>
                <a:path w="0" h="134619">
                  <a:moveTo>
                    <a:pt x="0" y="134112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44444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/>
          <p:cNvGrpSpPr/>
          <p:nvPr/>
        </p:nvGrpSpPr>
        <p:grpSpPr>
          <a:xfrm>
            <a:off x="5943600" y="3096767"/>
            <a:ext cx="73660" cy="1195070"/>
            <a:chOff x="5943600" y="3096767"/>
            <a:chExt cx="73660" cy="1195070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43600" y="3096767"/>
              <a:ext cx="73151" cy="119481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43600" y="3096767"/>
              <a:ext cx="73151" cy="1194816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86383" y="1914144"/>
            <a:ext cx="259079" cy="353567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46647" y="6035040"/>
            <a:ext cx="67055" cy="5181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977128" y="6156959"/>
            <a:ext cx="45720" cy="5181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790688" y="4983479"/>
            <a:ext cx="94488" cy="67056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86383" y="2005583"/>
            <a:ext cx="164591" cy="201167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967216" y="4983479"/>
            <a:ext cx="94488" cy="67056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146792" y="4983479"/>
            <a:ext cx="94488" cy="67056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485119" y="1889760"/>
            <a:ext cx="82296" cy="57912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50391" y="3139439"/>
            <a:ext cx="539496" cy="103632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605016" y="1847088"/>
            <a:ext cx="228600" cy="188975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827025" y="2752852"/>
            <a:ext cx="34861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latin typeface="Calibri"/>
                <a:cs typeface="Calibri"/>
              </a:rPr>
              <a:t>Profile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41401" y="1967484"/>
            <a:ext cx="276161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80">
                <a:solidFill>
                  <a:srgbClr val="161616"/>
                </a:solidFill>
                <a:latin typeface="Calibri"/>
                <a:cs typeface="Calibri"/>
              </a:rPr>
              <a:t>helix_clinical_assessment_agent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30758" y="3417823"/>
            <a:ext cx="3778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0A243B"/>
                </a:solidFill>
                <a:latin typeface="Calibri"/>
                <a:cs typeface="Calibri"/>
              </a:rPr>
              <a:t>Toolset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27025" y="3734307"/>
            <a:ext cx="45974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latin typeface="Calibri"/>
                <a:cs typeface="Calibri"/>
              </a:rPr>
              <a:t>Behavior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04131" y="4064254"/>
            <a:ext cx="92773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latin typeface="Calibri"/>
                <a:cs typeface="Calibri"/>
              </a:rPr>
              <a:t>Channels</a:t>
            </a:r>
            <a:r>
              <a:rPr dirty="0" sz="850" spc="204">
                <a:latin typeface="Calibri"/>
                <a:cs typeface="Calibri"/>
              </a:rPr>
              <a:t>  </a:t>
            </a:r>
            <a:r>
              <a:rPr dirty="0" baseline="7936" sz="1050" spc="-15">
                <a:solidFill>
                  <a:srgbClr val="A1A1F2"/>
                </a:solidFill>
                <a:latin typeface="Calibri"/>
                <a:cs typeface="Calibri"/>
              </a:rPr>
              <a:t>P</a:t>
            </a:r>
            <a:r>
              <a:rPr dirty="0" sz="850" spc="-10">
                <a:solidFill>
                  <a:srgbClr val="A1A1F2"/>
                </a:solidFill>
                <a:latin typeface="Calibri"/>
                <a:cs typeface="Calibri"/>
              </a:rPr>
              <a:t>review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288466" y="2296239"/>
            <a:ext cx="3437890" cy="449580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 sz="1150">
                <a:solidFill>
                  <a:srgbClr val="3F3F3F"/>
                </a:solidFill>
                <a:latin typeface="Calibri"/>
                <a:cs typeface="Calibri"/>
              </a:rPr>
              <a:t>II</a:t>
            </a:r>
            <a:r>
              <a:rPr dirty="0" sz="1150" spc="190">
                <a:solidFill>
                  <a:srgbClr val="3F3F3F"/>
                </a:solidFill>
                <a:latin typeface="Calibri"/>
                <a:cs typeface="Calibri"/>
              </a:rPr>
              <a:t>  </a:t>
            </a:r>
            <a:r>
              <a:rPr dirty="0" sz="1150" spc="-10">
                <a:solidFill>
                  <a:srgbClr val="161616"/>
                </a:solidFill>
                <a:latin typeface="Calibri"/>
                <a:cs typeface="Calibri"/>
              </a:rPr>
              <a:t>Behavior</a:t>
            </a:r>
            <a:endParaRPr sz="1150">
              <a:latin typeface="Calibri"/>
              <a:cs typeface="Calibri"/>
            </a:endParaRPr>
          </a:p>
          <a:p>
            <a:pPr marL="19050">
              <a:lnSpc>
                <a:spcPct val="100000"/>
              </a:lnSpc>
              <a:spcBef>
                <a:spcPts val="409"/>
              </a:spcBef>
            </a:pPr>
            <a:r>
              <a:rPr dirty="0" sz="800">
                <a:solidFill>
                  <a:srgbClr val="5D5D5D"/>
                </a:solidFill>
                <a:latin typeface="Calibri"/>
                <a:cs typeface="Calibri"/>
              </a:rPr>
              <a:t>Define</a:t>
            </a:r>
            <a:r>
              <a:rPr dirty="0" sz="800" spc="5">
                <a:solidFill>
                  <a:srgbClr val="5D5D5D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5D5D5D"/>
                </a:solidFill>
                <a:latin typeface="Calibri"/>
                <a:cs typeface="Calibri"/>
              </a:rPr>
              <a:t>how</a:t>
            </a:r>
            <a:r>
              <a:rPr dirty="0" sz="800" spc="-15">
                <a:solidFill>
                  <a:srgbClr val="5D5D5D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5D5D5D"/>
                </a:solidFill>
                <a:latin typeface="Calibri"/>
                <a:cs typeface="Calibri"/>
              </a:rPr>
              <a:t>and</a:t>
            </a:r>
            <a:r>
              <a:rPr dirty="0" sz="800" spc="-35">
                <a:solidFill>
                  <a:srgbClr val="5D5D5D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5D5D5D"/>
                </a:solidFill>
                <a:latin typeface="Calibri"/>
                <a:cs typeface="Calibri"/>
              </a:rPr>
              <a:t>where</a:t>
            </a:r>
            <a:r>
              <a:rPr dirty="0" sz="800" spc="-15">
                <a:solidFill>
                  <a:srgbClr val="5D5D5D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5D5D5D"/>
                </a:solidFill>
                <a:latin typeface="Calibri"/>
                <a:cs typeface="Calibri"/>
              </a:rPr>
              <a:t>your</a:t>
            </a:r>
            <a:r>
              <a:rPr dirty="0" sz="800" spc="-10">
                <a:solidFill>
                  <a:srgbClr val="5D5D5D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545454"/>
                </a:solidFill>
                <a:latin typeface="Calibri"/>
                <a:cs typeface="Calibri"/>
              </a:rPr>
              <a:t>agent</a:t>
            </a:r>
            <a:r>
              <a:rPr dirty="0" sz="800" spc="5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5D5D5D"/>
                </a:solidFill>
                <a:latin typeface="Calibri"/>
                <a:cs typeface="Calibri"/>
              </a:rPr>
              <a:t>should</a:t>
            </a:r>
            <a:r>
              <a:rPr dirty="0" sz="800" spc="-15">
                <a:solidFill>
                  <a:srgbClr val="5D5D5D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5D5D5D"/>
                </a:solidFill>
                <a:latin typeface="Calibri"/>
                <a:cs typeface="Calibri"/>
              </a:rPr>
              <a:t>react</a:t>
            </a:r>
            <a:r>
              <a:rPr dirty="0" sz="800" spc="-15">
                <a:solidFill>
                  <a:srgbClr val="5D5D5D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5D5D5D"/>
                </a:solidFill>
                <a:latin typeface="Calibri"/>
                <a:cs typeface="Calibri"/>
              </a:rPr>
              <a:t>to</a:t>
            </a:r>
            <a:r>
              <a:rPr dirty="0" sz="800" spc="-35">
                <a:solidFill>
                  <a:srgbClr val="5D5D5D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5D5D5D"/>
                </a:solidFill>
                <a:latin typeface="Calibri"/>
                <a:cs typeface="Calibri"/>
              </a:rPr>
              <a:t>requests</a:t>
            </a:r>
            <a:r>
              <a:rPr dirty="0" sz="800" spc="55">
                <a:solidFill>
                  <a:srgbClr val="5D5D5D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5D5D5D"/>
                </a:solidFill>
                <a:latin typeface="Calibri"/>
                <a:cs typeface="Calibri"/>
              </a:rPr>
              <a:t>and</a:t>
            </a:r>
            <a:r>
              <a:rPr dirty="0" sz="800" spc="-25">
                <a:solidFill>
                  <a:srgbClr val="5D5D5D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5D5D5D"/>
                </a:solidFill>
                <a:latin typeface="Calibri"/>
                <a:cs typeface="Calibri"/>
              </a:rPr>
              <a:t>respond</a:t>
            </a:r>
            <a:r>
              <a:rPr dirty="0" sz="800" spc="25">
                <a:solidFill>
                  <a:srgbClr val="5D5D5D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5B5B5B"/>
                </a:solidFill>
                <a:latin typeface="Calibri"/>
                <a:cs typeface="Calibri"/>
              </a:rPr>
              <a:t>to</a:t>
            </a:r>
            <a:r>
              <a:rPr dirty="0" sz="800" spc="-35">
                <a:solidFill>
                  <a:srgbClr val="5B5B5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5D5D5D"/>
                </a:solidFill>
                <a:latin typeface="Calibri"/>
                <a:cs typeface="Calibri"/>
              </a:rPr>
              <a:t>users.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682632" y="2013458"/>
            <a:ext cx="166179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2780" algn="l"/>
              </a:tabLst>
            </a:pPr>
            <a:r>
              <a:rPr dirty="0" sz="750">
                <a:solidFill>
                  <a:srgbClr val="161616"/>
                </a:solidFill>
                <a:latin typeface="Calibri"/>
                <a:cs typeface="Calibri"/>
              </a:rPr>
              <a:t>Ai</a:t>
            </a:r>
            <a:r>
              <a:rPr dirty="0" sz="750" spc="235">
                <a:solidFill>
                  <a:srgbClr val="161616"/>
                </a:solidFill>
                <a:latin typeface="Calibri"/>
                <a:cs typeface="Calibri"/>
              </a:rPr>
              <a:t>  </a:t>
            </a:r>
            <a:r>
              <a:rPr dirty="0" sz="750">
                <a:solidFill>
                  <a:srgbClr val="9C825D"/>
                </a:solidFill>
                <a:latin typeface="Calibri"/>
                <a:cs typeface="Calibri"/>
              </a:rPr>
              <a:t>Model</a:t>
            </a:r>
            <a:r>
              <a:rPr dirty="0" sz="750" spc="-15">
                <a:solidFill>
                  <a:srgbClr val="9C825D"/>
                </a:solidFill>
                <a:latin typeface="Calibri"/>
                <a:cs typeface="Calibri"/>
              </a:rPr>
              <a:t> </a:t>
            </a:r>
            <a:r>
              <a:rPr dirty="0" sz="750" spc="-50">
                <a:solidFill>
                  <a:srgbClr val="31526B"/>
                </a:solidFill>
                <a:latin typeface="Calibri"/>
                <a:cs typeface="Calibri"/>
              </a:rPr>
              <a:t>:</a:t>
            </a:r>
            <a:r>
              <a:rPr dirty="0" sz="750">
                <a:solidFill>
                  <a:srgbClr val="31526B"/>
                </a:solidFill>
                <a:latin typeface="Calibri"/>
                <a:cs typeface="Calibri"/>
              </a:rPr>
              <a:t>	</a:t>
            </a:r>
            <a:r>
              <a:rPr dirty="0" sz="750">
                <a:solidFill>
                  <a:srgbClr val="161616"/>
                </a:solidFill>
                <a:latin typeface="Calibri"/>
                <a:cs typeface="Calibri"/>
              </a:rPr>
              <a:t>llama-3-3-70b-</a:t>
            </a:r>
            <a:r>
              <a:rPr dirty="0" sz="750" spc="-10">
                <a:solidFill>
                  <a:srgbClr val="161616"/>
                </a:solidFill>
                <a:latin typeface="Calibri"/>
                <a:cs typeface="Calibri"/>
              </a:rPr>
              <a:t>instruct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292732" y="2879090"/>
            <a:ext cx="47879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solidFill>
                  <a:srgbClr val="525252"/>
                </a:solidFill>
                <a:latin typeface="Calibri"/>
                <a:cs typeface="Calibri"/>
              </a:rPr>
              <a:t>Instructions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399880" y="3068065"/>
            <a:ext cx="212534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20">
                <a:solidFill>
                  <a:srgbClr val="3B3B3B"/>
                </a:solidFill>
                <a:latin typeface="Calibri"/>
                <a:cs typeface="Calibri"/>
              </a:rPr>
              <a:t>You</a:t>
            </a:r>
            <a:r>
              <a:rPr dirty="0" sz="750" spc="12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750" spc="20">
                <a:solidFill>
                  <a:srgbClr val="3D3D3D"/>
                </a:solidFill>
                <a:latin typeface="Calibri"/>
                <a:cs typeface="Calibri"/>
              </a:rPr>
              <a:t>are</a:t>
            </a:r>
            <a:r>
              <a:rPr dirty="0" sz="750" spc="13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750" spc="20">
                <a:solidFill>
                  <a:srgbClr val="3B3B3B"/>
                </a:solidFill>
                <a:latin typeface="Calibri"/>
                <a:cs typeface="Calibri"/>
              </a:rPr>
              <a:t>the</a:t>
            </a:r>
            <a:r>
              <a:rPr dirty="0" sz="750" spc="15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750" spc="20">
                <a:solidFill>
                  <a:srgbClr val="3B3B3B"/>
                </a:solidFill>
                <a:latin typeface="Calibri"/>
                <a:cs typeface="Calibri"/>
              </a:rPr>
              <a:t>Clinical</a:t>
            </a:r>
            <a:r>
              <a:rPr dirty="0" sz="750" spc="15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750" spc="20">
                <a:solidFill>
                  <a:srgbClr val="3B3B3B"/>
                </a:solidFill>
                <a:latin typeface="Calibri"/>
                <a:cs typeface="Calibri"/>
              </a:rPr>
              <a:t>Assessment</a:t>
            </a:r>
            <a:r>
              <a:rPr dirty="0" sz="750" spc="75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750" spc="20">
                <a:solidFill>
                  <a:srgbClr val="3B3B3B"/>
                </a:solidFill>
                <a:latin typeface="Calibri"/>
                <a:cs typeface="Calibri"/>
              </a:rPr>
              <a:t>Agent</a:t>
            </a:r>
            <a:r>
              <a:rPr dirty="0" sz="750" spc="35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750" spc="20">
                <a:solidFill>
                  <a:srgbClr val="496B9E"/>
                </a:solidFill>
                <a:latin typeface="Calibri"/>
                <a:cs typeface="Calibri"/>
              </a:rPr>
              <a:t>in</a:t>
            </a:r>
            <a:r>
              <a:rPr dirty="0" sz="750" spc="5">
                <a:solidFill>
                  <a:srgbClr val="496B9E"/>
                </a:solidFill>
                <a:latin typeface="Calibri"/>
                <a:cs typeface="Calibri"/>
              </a:rPr>
              <a:t> </a:t>
            </a:r>
            <a:r>
              <a:rPr dirty="0" sz="750" spc="20">
                <a:solidFill>
                  <a:srgbClr val="3D3D3D"/>
                </a:solidFill>
                <a:latin typeface="Calibri"/>
                <a:cs typeface="Calibri"/>
              </a:rPr>
              <a:t>Helix</a:t>
            </a:r>
            <a:r>
              <a:rPr dirty="0" sz="750" spc="4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750" spc="-25">
                <a:solidFill>
                  <a:srgbClr val="779099"/>
                </a:solidFill>
                <a:latin typeface="Calibri"/>
                <a:cs typeface="Calibri"/>
              </a:rPr>
              <a:t>AI.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398878" y="3317747"/>
            <a:ext cx="3142615" cy="287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335" marR="5080" indent="-1270">
              <a:lnSpc>
                <a:spcPct val="107500"/>
              </a:lnSpc>
              <a:spcBef>
                <a:spcPts val="100"/>
              </a:spcBef>
            </a:pPr>
            <a:r>
              <a:rPr dirty="0" sz="800">
                <a:solidFill>
                  <a:srgbClr val="363636"/>
                </a:solidFill>
                <a:latin typeface="Calibri"/>
                <a:cs typeface="Calibri"/>
              </a:rPr>
              <a:t>Provide</a:t>
            </a:r>
            <a:r>
              <a:rPr dirty="0" sz="800" spc="1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63636"/>
                </a:solidFill>
                <a:latin typeface="Calibri"/>
                <a:cs typeface="Calibri"/>
              </a:rPr>
              <a:t>educational</a:t>
            </a:r>
            <a:r>
              <a:rPr dirty="0" sz="800" spc="55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63636"/>
                </a:solidFill>
                <a:latin typeface="Calibri"/>
                <a:cs typeface="Calibri"/>
              </a:rPr>
              <a:t>symptom</a:t>
            </a:r>
            <a:r>
              <a:rPr dirty="0" sz="800" spc="15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83838"/>
                </a:solidFill>
                <a:latin typeface="Calibri"/>
                <a:cs typeface="Calibri"/>
              </a:rPr>
              <a:t>triage</a:t>
            </a:r>
            <a:r>
              <a:rPr dirty="0" sz="800" spc="-2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63636"/>
                </a:solidFill>
                <a:latin typeface="Calibri"/>
                <a:cs typeface="Calibri"/>
              </a:rPr>
              <a:t>based </a:t>
            </a:r>
            <a:r>
              <a:rPr dirty="0" sz="800">
                <a:solidFill>
                  <a:srgbClr val="383838"/>
                </a:solidFill>
                <a:latin typeface="Calibri"/>
                <a:cs typeface="Calibri"/>
              </a:rPr>
              <a:t>only</a:t>
            </a:r>
            <a:r>
              <a:rPr dirty="0" sz="800" spc="-1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597EA3"/>
                </a:solidFill>
                <a:latin typeface="Calibri"/>
                <a:cs typeface="Calibri"/>
              </a:rPr>
              <a:t>on</a:t>
            </a:r>
            <a:r>
              <a:rPr dirty="0" sz="800" spc="-25">
                <a:solidFill>
                  <a:srgbClr val="597EA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63636"/>
                </a:solidFill>
                <a:latin typeface="Calibri"/>
                <a:cs typeface="Calibri"/>
              </a:rPr>
              <a:t>symptoms</a:t>
            </a:r>
            <a:r>
              <a:rPr dirty="0" sz="800" spc="55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63636"/>
                </a:solidFill>
                <a:latin typeface="Calibri"/>
                <a:cs typeface="Calibri"/>
              </a:rPr>
              <a:t>and</a:t>
            </a:r>
            <a:r>
              <a:rPr dirty="0" sz="800" spc="-15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81818"/>
                </a:solidFill>
                <a:latin typeface="Calibri"/>
                <a:cs typeface="Calibri"/>
              </a:rPr>
              <a:t>context</a:t>
            </a:r>
            <a:r>
              <a:rPr dirty="0" sz="800" spc="50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43434"/>
                </a:solidFill>
                <a:latin typeface="Calibri"/>
                <a:cs typeface="Calibri"/>
              </a:rPr>
              <a:t>explicitly</a:t>
            </a:r>
            <a:r>
              <a:rPr dirty="0" sz="800" spc="15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61616"/>
                </a:solidFill>
                <a:latin typeface="Calibri"/>
                <a:cs typeface="Calibri"/>
              </a:rPr>
              <a:t>provided</a:t>
            </a:r>
            <a:r>
              <a:rPr dirty="0" sz="800" spc="1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68EBA"/>
                </a:solidFill>
                <a:latin typeface="Calibri"/>
                <a:cs typeface="Calibri"/>
              </a:rPr>
              <a:t>by </a:t>
            </a:r>
            <a:r>
              <a:rPr dirty="0" sz="800">
                <a:solidFill>
                  <a:srgbClr val="161616"/>
                </a:solidFill>
                <a:latin typeface="Calibri"/>
                <a:cs typeface="Calibri"/>
              </a:rPr>
              <a:t>the</a:t>
            </a:r>
            <a:r>
              <a:rPr dirty="0" sz="800" spc="-15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81818"/>
                </a:solidFill>
                <a:latin typeface="Calibri"/>
                <a:cs typeface="Calibri"/>
              </a:rPr>
              <a:t>user.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398281" y="3707891"/>
            <a:ext cx="3418204" cy="1610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" marR="165100" indent="-1270">
              <a:lnSpc>
                <a:spcPct val="110000"/>
              </a:lnSpc>
              <a:spcBef>
                <a:spcPts val="100"/>
              </a:spcBef>
            </a:pPr>
            <a:r>
              <a:rPr dirty="0" sz="800">
                <a:solidFill>
                  <a:srgbClr val="212121"/>
                </a:solidFill>
                <a:latin typeface="Calibri"/>
                <a:cs typeface="Calibri"/>
              </a:rPr>
              <a:t>Never</a:t>
            </a:r>
            <a:r>
              <a:rPr dirty="0" sz="800" spc="-4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567093"/>
                </a:solidFill>
                <a:latin typeface="Calibri"/>
                <a:cs typeface="Calibri"/>
              </a:rPr>
              <a:t>tel</a:t>
            </a:r>
            <a:r>
              <a:rPr dirty="0" sz="800" spc="-25">
                <a:solidFill>
                  <a:srgbClr val="4D4D4D"/>
                </a:solidFill>
                <a:latin typeface="Calibri"/>
                <a:cs typeface="Calibri"/>
              </a:rPr>
              <a:t>a</a:t>
            </a:r>
            <a:r>
              <a:rPr dirty="0" sz="800" spc="-25">
                <a:solidFill>
                  <a:srgbClr val="567093"/>
                </a:solidFill>
                <a:latin typeface="Calibri"/>
                <a:cs typeface="Calibri"/>
              </a:rPr>
              <a:t>l</a:t>
            </a:r>
            <a:r>
              <a:rPr dirty="0" sz="800" spc="425">
                <a:solidFill>
                  <a:srgbClr val="56709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F4F4F"/>
                </a:solidFill>
                <a:latin typeface="Calibri"/>
                <a:cs typeface="Calibri"/>
              </a:rPr>
              <a:t>user</a:t>
            </a:r>
            <a:r>
              <a:rPr dirty="0" sz="800" spc="-15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5B7297"/>
                </a:solidFill>
                <a:latin typeface="Calibri"/>
                <a:cs typeface="Calibri"/>
              </a:rPr>
              <a:t>they</a:t>
            </a:r>
            <a:r>
              <a:rPr dirty="0" sz="800" spc="-30">
                <a:solidFill>
                  <a:srgbClr val="5B7297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F4F4F"/>
                </a:solidFill>
                <a:latin typeface="Calibri"/>
                <a:cs typeface="Calibri"/>
              </a:rPr>
              <a:t>definitively</a:t>
            </a:r>
            <a:r>
              <a:rPr dirty="0" sz="800" spc="2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94949"/>
                </a:solidFill>
                <a:latin typeface="Calibri"/>
                <a:cs typeface="Calibri"/>
              </a:rPr>
              <a:t>have</a:t>
            </a:r>
            <a:r>
              <a:rPr dirty="0" sz="800" spc="-20">
                <a:solidFill>
                  <a:srgbClr val="4D4D4D"/>
                </a:solidFill>
                <a:latin typeface="Calibri"/>
                <a:cs typeface="Calibri"/>
              </a:rPr>
              <a:t>a</a:t>
            </a:r>
            <a:r>
              <a:rPr dirty="0" sz="800" spc="345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5B9AD4"/>
                </a:solidFill>
                <a:latin typeface="Calibri"/>
                <a:cs typeface="Calibri"/>
              </a:rPr>
              <a:t>disease</a:t>
            </a:r>
            <a:r>
              <a:rPr dirty="0" sz="800" spc="-15">
                <a:solidFill>
                  <a:srgbClr val="5B9AD4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72A8CA"/>
                </a:solidFill>
                <a:latin typeface="Calibri"/>
                <a:cs typeface="Calibri"/>
              </a:rPr>
              <a:t>or</a:t>
            </a:r>
            <a:r>
              <a:rPr dirty="0" sz="800" spc="-55">
                <a:solidFill>
                  <a:srgbClr val="72A8C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525252"/>
                </a:solidFill>
                <a:latin typeface="Calibri"/>
                <a:cs typeface="Calibri"/>
              </a:rPr>
              <a:t>condition.</a:t>
            </a:r>
            <a:r>
              <a:rPr dirty="0" sz="800" spc="1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13B69"/>
                </a:solidFill>
                <a:latin typeface="Calibri"/>
                <a:cs typeface="Calibri"/>
              </a:rPr>
              <a:t>You</a:t>
            </a:r>
            <a:r>
              <a:rPr dirty="0" sz="800" spc="-30">
                <a:solidFill>
                  <a:srgbClr val="213B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5982B1"/>
                </a:solidFill>
                <a:latin typeface="Calibri"/>
                <a:cs typeface="Calibri"/>
              </a:rPr>
              <a:t>may</a:t>
            </a:r>
            <a:r>
              <a:rPr dirty="0" sz="800" spc="-40">
                <a:solidFill>
                  <a:srgbClr val="5982B1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B4B4B"/>
                </a:solidFill>
                <a:latin typeface="Calibri"/>
                <a:cs typeface="Calibri"/>
              </a:rPr>
              <a:t>name</a:t>
            </a:r>
            <a:r>
              <a:rPr dirty="0" sz="800" spc="50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14141"/>
                </a:solidFill>
                <a:latin typeface="Calibri"/>
                <a:cs typeface="Calibri"/>
              </a:rPr>
              <a:t>relevant</a:t>
            </a:r>
            <a:r>
              <a:rPr dirty="0" sz="800" spc="30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F3F3F"/>
                </a:solidFill>
                <a:latin typeface="Calibri"/>
                <a:cs typeface="Calibri"/>
              </a:rPr>
              <a:t>possible</a:t>
            </a:r>
            <a:r>
              <a:rPr dirty="0" sz="800" spc="1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F3F3F"/>
                </a:solidFill>
                <a:latin typeface="Calibri"/>
                <a:cs typeface="Calibri"/>
              </a:rPr>
              <a:t>conditions</a:t>
            </a:r>
            <a:r>
              <a:rPr dirty="0" sz="800" spc="4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F3F3F"/>
                </a:solidFill>
                <a:latin typeface="Calibri"/>
                <a:cs typeface="Calibri"/>
              </a:rPr>
              <a:t>using</a:t>
            </a:r>
            <a:r>
              <a:rPr dirty="0" sz="800" spc="-4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F3F3F"/>
                </a:solidFill>
                <a:latin typeface="Calibri"/>
                <a:cs typeface="Calibri"/>
              </a:rPr>
              <a:t>uncertainty</a:t>
            </a:r>
            <a:r>
              <a:rPr dirty="0" sz="800" spc="2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3F3F3F"/>
                </a:solidFill>
                <a:latin typeface="Calibri"/>
                <a:cs typeface="Calibri"/>
              </a:rPr>
              <a:t>language.</a:t>
            </a:r>
            <a:endParaRPr sz="800">
              <a:latin typeface="Calibri"/>
              <a:cs typeface="Calibri"/>
            </a:endParaRPr>
          </a:p>
          <a:p>
            <a:pPr marL="13970" marR="348615" indent="2540">
              <a:lnSpc>
                <a:spcPct val="107500"/>
              </a:lnSpc>
            </a:pPr>
            <a:r>
              <a:rPr dirty="0" sz="800" spc="-10">
                <a:solidFill>
                  <a:srgbClr val="262626"/>
                </a:solidFill>
                <a:latin typeface="Calibri"/>
                <a:cs typeface="Calibri"/>
              </a:rPr>
              <a:t>Avoid</a:t>
            </a:r>
            <a:r>
              <a:rPr dirty="0" sz="80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12121"/>
                </a:solidFill>
                <a:latin typeface="Calibri"/>
                <a:cs typeface="Calibri"/>
              </a:rPr>
              <a:t>repetitive</a:t>
            </a:r>
            <a:r>
              <a:rPr dirty="0" sz="800" spc="3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12121"/>
                </a:solidFill>
                <a:latin typeface="Calibri"/>
                <a:cs typeface="Calibri"/>
              </a:rPr>
              <a:t>boilerplate</a:t>
            </a:r>
            <a:r>
              <a:rPr dirty="0" sz="800" spc="3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12121"/>
                </a:solidFill>
                <a:latin typeface="Calibri"/>
                <a:cs typeface="Calibri"/>
              </a:rPr>
              <a:t>such</a:t>
            </a:r>
            <a:r>
              <a:rPr dirty="0" sz="800" spc="-1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12121"/>
                </a:solidFill>
                <a:latin typeface="Calibri"/>
                <a:cs typeface="Calibri"/>
              </a:rPr>
              <a:t>as</a:t>
            </a:r>
            <a:r>
              <a:rPr dirty="0" sz="800" spc="1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12121"/>
                </a:solidFill>
                <a:latin typeface="Calibri"/>
                <a:cs typeface="Calibri"/>
              </a:rPr>
              <a:t>"I</a:t>
            </a:r>
            <a:r>
              <a:rPr dirty="0" sz="800" spc="4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12121"/>
                </a:solidFill>
                <a:latin typeface="Calibri"/>
                <a:cs typeface="Calibri"/>
              </a:rPr>
              <a:t>cannot</a:t>
            </a:r>
            <a:r>
              <a:rPr dirty="0" sz="800" spc="3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61616"/>
                </a:solidFill>
                <a:latin typeface="Calibri"/>
                <a:cs typeface="Calibri"/>
              </a:rPr>
              <a:t>diagnose</a:t>
            </a:r>
            <a:r>
              <a:rPr dirty="0" sz="800" spc="5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232323"/>
                </a:solidFill>
                <a:latin typeface="Calibri"/>
                <a:cs typeface="Calibri"/>
              </a:rPr>
              <a:t>you" </a:t>
            </a:r>
            <a:r>
              <a:rPr dirty="0" sz="800">
                <a:solidFill>
                  <a:srgbClr val="609CD6"/>
                </a:solidFill>
                <a:latin typeface="Calibri"/>
                <a:cs typeface="Calibri"/>
              </a:rPr>
              <a:t>or</a:t>
            </a:r>
            <a:r>
              <a:rPr dirty="0" sz="800" spc="-5">
                <a:solidFill>
                  <a:srgbClr val="609CD6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12121"/>
                </a:solidFill>
                <a:latin typeface="Calibri"/>
                <a:cs typeface="Calibri"/>
              </a:rPr>
              <a:t>"I</a:t>
            </a:r>
            <a:r>
              <a:rPr dirty="0" sz="800" spc="6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212121"/>
                </a:solidFill>
                <a:latin typeface="Calibri"/>
                <a:cs typeface="Calibri"/>
              </a:rPr>
              <a:t>cannot</a:t>
            </a:r>
            <a:r>
              <a:rPr dirty="0" sz="800" spc="50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Calibri"/>
                <a:cs typeface="Calibri"/>
              </a:rPr>
              <a:t>determine</a:t>
            </a:r>
            <a:r>
              <a:rPr dirty="0" sz="800" spc="-1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7B97A3"/>
                </a:solidFill>
                <a:latin typeface="Calibri"/>
                <a:cs typeface="Calibri"/>
              </a:rPr>
              <a:t>a</a:t>
            </a:r>
            <a:r>
              <a:rPr dirty="0" sz="800" spc="-15">
                <a:solidFill>
                  <a:srgbClr val="7B97A3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282828"/>
                </a:solidFill>
                <a:latin typeface="Calibri"/>
                <a:cs typeface="Calibri"/>
              </a:rPr>
              <a:t>diagnosis".</a:t>
            </a:r>
            <a:endParaRPr sz="800">
              <a:latin typeface="Calibri"/>
              <a:cs typeface="Calibri"/>
            </a:endParaRPr>
          </a:p>
          <a:p>
            <a:pPr marL="13970" marR="77470" indent="2540">
              <a:lnSpc>
                <a:spcPct val="107500"/>
              </a:lnSpc>
            </a:pPr>
            <a:r>
              <a:rPr dirty="0" sz="800" spc="-10">
                <a:solidFill>
                  <a:srgbClr val="262626"/>
                </a:solidFill>
                <a:latin typeface="Calibri"/>
                <a:cs typeface="Calibri"/>
              </a:rPr>
              <a:t>Avoid</a:t>
            </a:r>
            <a:r>
              <a:rPr dirty="0" sz="800" spc="1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D3D3D"/>
                </a:solidFill>
                <a:latin typeface="Calibri"/>
                <a:cs typeface="Calibri"/>
              </a:rPr>
              <a:t>vague</a:t>
            </a:r>
            <a:r>
              <a:rPr dirty="0" sz="800" spc="5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5D95CC"/>
                </a:solidFill>
                <a:latin typeface="Calibri"/>
                <a:cs typeface="Calibri"/>
              </a:rPr>
              <a:t>filter</a:t>
            </a:r>
            <a:r>
              <a:rPr dirty="0" sz="800" spc="-5">
                <a:solidFill>
                  <a:srgbClr val="5D95CC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68AC6"/>
                </a:solidFill>
                <a:latin typeface="Calibri"/>
                <a:cs typeface="Calibri"/>
              </a:rPr>
              <a:t>such</a:t>
            </a:r>
            <a:r>
              <a:rPr dirty="0" sz="800" spc="-10">
                <a:solidFill>
                  <a:srgbClr val="468AC6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64646"/>
                </a:solidFill>
                <a:latin typeface="Calibri"/>
                <a:cs typeface="Calibri"/>
              </a:rPr>
              <a:t>as</a:t>
            </a:r>
            <a:r>
              <a:rPr dirty="0" sz="800" spc="25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44444"/>
                </a:solidFill>
                <a:latin typeface="Calibri"/>
                <a:cs typeface="Calibri"/>
              </a:rPr>
              <a:t>"various</a:t>
            </a:r>
            <a:r>
              <a:rPr dirty="0" sz="800" spc="3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84848"/>
                </a:solidFill>
                <a:latin typeface="Calibri"/>
                <a:cs typeface="Calibri"/>
              </a:rPr>
              <a:t>factors",</a:t>
            </a:r>
            <a:r>
              <a:rPr dirty="0" sz="800" spc="25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64646"/>
                </a:solidFill>
                <a:latin typeface="Calibri"/>
                <a:cs typeface="Calibri"/>
              </a:rPr>
              <a:t>"other</a:t>
            </a:r>
            <a:r>
              <a:rPr dirty="0" sz="800" spc="1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C4499"/>
                </a:solidFill>
                <a:latin typeface="Calibri"/>
                <a:cs typeface="Calibri"/>
              </a:rPr>
              <a:t>health</a:t>
            </a:r>
            <a:r>
              <a:rPr dirty="0" sz="800" spc="-10">
                <a:solidFill>
                  <a:srgbClr val="1C449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84848"/>
                </a:solidFill>
                <a:latin typeface="Calibri"/>
                <a:cs typeface="Calibri"/>
              </a:rPr>
              <a:t>concerns",</a:t>
            </a:r>
            <a:r>
              <a:rPr dirty="0" sz="800" spc="5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84848"/>
                </a:solidFill>
                <a:latin typeface="Calibri"/>
                <a:cs typeface="Calibri"/>
              </a:rPr>
              <a:t>or</a:t>
            </a:r>
            <a:r>
              <a:rPr dirty="0" sz="800" spc="-15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64646"/>
                </a:solidFill>
                <a:latin typeface="Calibri"/>
                <a:cs typeface="Calibri"/>
              </a:rPr>
              <a:t>"variety</a:t>
            </a:r>
            <a:r>
              <a:rPr dirty="0" sz="800" spc="50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69B8FF"/>
                </a:solidFill>
                <a:latin typeface="Calibri"/>
                <a:cs typeface="Calibri"/>
              </a:rPr>
              <a:t>of</a:t>
            </a:r>
            <a:r>
              <a:rPr dirty="0" sz="800" spc="25">
                <a:solidFill>
                  <a:srgbClr val="69B8FF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646464"/>
                </a:solidFill>
                <a:latin typeface="Calibri"/>
                <a:cs typeface="Calibri"/>
              </a:rPr>
              <a:t>conditions"</a:t>
            </a:r>
            <a:r>
              <a:rPr dirty="0" sz="800" spc="90">
                <a:solidFill>
                  <a:srgbClr val="646464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747564"/>
                </a:solidFill>
                <a:latin typeface="Calibri"/>
                <a:cs typeface="Calibri"/>
              </a:rPr>
              <a:t>when</a:t>
            </a:r>
            <a:r>
              <a:rPr dirty="0" sz="800" spc="35">
                <a:solidFill>
                  <a:srgbClr val="747564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5E5E5E"/>
                </a:solidFill>
                <a:latin typeface="Calibri"/>
                <a:cs typeface="Calibri"/>
              </a:rPr>
              <a:t>specific</a:t>
            </a:r>
            <a:r>
              <a:rPr dirty="0" sz="800" spc="20">
                <a:solidFill>
                  <a:srgbClr val="5E5E5E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505050"/>
                </a:solidFill>
                <a:latin typeface="Calibri"/>
                <a:cs typeface="Calibri"/>
              </a:rPr>
              <a:t>educational</a:t>
            </a:r>
            <a:r>
              <a:rPr dirty="0" sz="800" spc="20">
                <a:solidFill>
                  <a:srgbClr val="505050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5B5B5B"/>
                </a:solidFill>
                <a:latin typeface="Calibri"/>
                <a:cs typeface="Calibri"/>
              </a:rPr>
              <a:t>possibilities</a:t>
            </a:r>
            <a:r>
              <a:rPr dirty="0" sz="800" spc="55">
                <a:solidFill>
                  <a:srgbClr val="5B5B5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70BCFF"/>
                </a:solidFill>
                <a:latin typeface="Calibri"/>
                <a:cs typeface="Calibri"/>
              </a:rPr>
              <a:t>can</a:t>
            </a:r>
            <a:r>
              <a:rPr dirty="0" sz="800" spc="-25">
                <a:solidFill>
                  <a:srgbClr val="70BCFF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F8ED6"/>
                </a:solidFill>
                <a:latin typeface="Calibri"/>
                <a:cs typeface="Calibri"/>
              </a:rPr>
              <a:t>be</a:t>
            </a:r>
            <a:r>
              <a:rPr dirty="0" sz="800" spc="-40">
                <a:solidFill>
                  <a:srgbClr val="3F8ED6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565656"/>
                </a:solidFill>
                <a:latin typeface="Calibri"/>
                <a:cs typeface="Calibri"/>
              </a:rPr>
              <a:t>named.</a:t>
            </a:r>
            <a:endParaRPr sz="800">
              <a:latin typeface="Calibri"/>
              <a:cs typeface="Calibri"/>
            </a:endParaRPr>
          </a:p>
          <a:p>
            <a:pPr marL="12700" marR="5080">
              <a:lnSpc>
                <a:spcPct val="108000"/>
              </a:lnSpc>
              <a:spcBef>
                <a:spcPts val="20"/>
              </a:spcBef>
            </a:pPr>
            <a:r>
              <a:rPr dirty="0" sz="800">
                <a:solidFill>
                  <a:srgbClr val="2D2D2D"/>
                </a:solidFill>
                <a:latin typeface="Calibri"/>
                <a:cs typeface="Calibri"/>
              </a:rPr>
              <a:t>For</a:t>
            </a:r>
            <a:r>
              <a:rPr dirty="0" sz="800" spc="5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61616"/>
                </a:solidFill>
                <a:latin typeface="Calibri"/>
                <a:cs typeface="Calibri"/>
              </a:rPr>
              <a:t>non-</a:t>
            </a:r>
            <a:r>
              <a:rPr dirty="0" sz="800">
                <a:solidFill>
                  <a:srgbClr val="161616"/>
                </a:solidFill>
                <a:latin typeface="Calibri"/>
                <a:cs typeface="Calibri"/>
              </a:rPr>
              <a:t>emergency</a:t>
            </a:r>
            <a:r>
              <a:rPr dirty="0" sz="800" spc="105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A2A2A"/>
                </a:solidFill>
                <a:latin typeface="Calibri"/>
                <a:cs typeface="Calibri"/>
              </a:rPr>
              <a:t>symptoms,</a:t>
            </a:r>
            <a:r>
              <a:rPr dirty="0" sz="800" spc="6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C1C1C"/>
                </a:solidFill>
                <a:latin typeface="Calibri"/>
                <a:cs typeface="Calibri"/>
              </a:rPr>
              <a:t>ask</a:t>
            </a:r>
            <a:r>
              <a:rPr dirty="0" sz="800" spc="4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A2A2A"/>
                </a:solidFill>
                <a:latin typeface="Calibri"/>
                <a:cs typeface="Calibri"/>
              </a:rPr>
              <a:t>focused</a:t>
            </a:r>
            <a:r>
              <a:rPr dirty="0" sz="800" spc="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61616"/>
                </a:solidFill>
                <a:latin typeface="Calibri"/>
                <a:cs typeface="Calibri"/>
              </a:rPr>
              <a:t>follow-</a:t>
            </a:r>
            <a:r>
              <a:rPr dirty="0" sz="800">
                <a:solidFill>
                  <a:srgbClr val="161616"/>
                </a:solidFill>
                <a:latin typeface="Calibri"/>
                <a:cs typeface="Calibri"/>
              </a:rPr>
              <a:t>up</a:t>
            </a:r>
            <a:r>
              <a:rPr dirty="0" sz="800" spc="3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A2A2A"/>
                </a:solidFill>
                <a:latin typeface="Calibri"/>
                <a:cs typeface="Calibri"/>
              </a:rPr>
              <a:t>questions</a:t>
            </a:r>
            <a:r>
              <a:rPr dirty="0" sz="800" spc="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2A2A2A"/>
                </a:solidFill>
                <a:latin typeface="Calibri"/>
                <a:cs typeface="Calibri"/>
              </a:rPr>
              <a:t>when</a:t>
            </a:r>
            <a:r>
              <a:rPr dirty="0" sz="800" spc="-2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2A2A2A"/>
                </a:solidFill>
                <a:latin typeface="Calibri"/>
                <a:cs typeface="Calibri"/>
              </a:rPr>
              <a:t>useful.</a:t>
            </a:r>
            <a:r>
              <a:rPr dirty="0" sz="800" spc="50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D1D1D"/>
                </a:solidFill>
                <a:latin typeface="Calibri"/>
                <a:cs typeface="Calibri"/>
              </a:rPr>
              <a:t>When</a:t>
            </a:r>
            <a:r>
              <a:rPr dirty="0" sz="80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758E9A"/>
                </a:solidFill>
                <a:latin typeface="Calibri"/>
                <a:cs typeface="Calibri"/>
              </a:rPr>
              <a:t>a</a:t>
            </a:r>
            <a:r>
              <a:rPr dirty="0" sz="800" spc="10">
                <a:solidFill>
                  <a:srgbClr val="758E9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F1F1F"/>
                </a:solidFill>
                <a:latin typeface="Calibri"/>
                <a:cs typeface="Calibri"/>
              </a:rPr>
              <a:t>previous</a:t>
            </a:r>
            <a:r>
              <a:rPr dirty="0" sz="800" spc="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D1D1D"/>
                </a:solidFill>
                <a:latin typeface="Calibri"/>
                <a:cs typeface="Calibri"/>
              </a:rPr>
              <a:t>question</a:t>
            </a:r>
            <a:r>
              <a:rPr dirty="0" sz="800" spc="1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F1F1F"/>
                </a:solidFill>
                <a:latin typeface="Calibri"/>
                <a:cs typeface="Calibri"/>
              </a:rPr>
              <a:t>asks</a:t>
            </a:r>
            <a:r>
              <a:rPr dirty="0" sz="8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D1D1D"/>
                </a:solidFill>
                <a:latin typeface="Calibri"/>
                <a:cs typeface="Calibri"/>
              </a:rPr>
              <a:t>about</a:t>
            </a:r>
            <a:r>
              <a:rPr dirty="0" sz="800" spc="1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F1F1F"/>
                </a:solidFill>
                <a:latin typeface="Calibri"/>
                <a:cs typeface="Calibri"/>
              </a:rPr>
              <a:t>multiple</a:t>
            </a:r>
            <a:r>
              <a:rPr dirty="0" sz="8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F1F1F"/>
                </a:solidFill>
                <a:latin typeface="Calibri"/>
                <a:cs typeface="Calibri"/>
              </a:rPr>
              <a:t>distinct</a:t>
            </a:r>
            <a:r>
              <a:rPr dirty="0" sz="800" spc="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8997A1"/>
                </a:solidFill>
                <a:latin typeface="Calibri"/>
                <a:cs typeface="Calibri"/>
              </a:rPr>
              <a:t>symptom</a:t>
            </a:r>
            <a:r>
              <a:rPr dirty="0" sz="800" spc="-15">
                <a:solidFill>
                  <a:srgbClr val="8997A1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F1F1F"/>
                </a:solidFill>
                <a:latin typeface="Calibri"/>
                <a:cs typeface="Calibri"/>
              </a:rPr>
              <a:t>options</a:t>
            </a:r>
            <a:r>
              <a:rPr dirty="0" sz="800" spc="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7993A1"/>
                </a:solidFill>
                <a:latin typeface="Calibri"/>
                <a:cs typeface="Calibri"/>
              </a:rPr>
              <a:t>and</a:t>
            </a:r>
            <a:r>
              <a:rPr dirty="0" sz="800" spc="-15">
                <a:solidFill>
                  <a:srgbClr val="7993A1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1F1F1F"/>
                </a:solidFill>
                <a:latin typeface="Calibri"/>
                <a:cs typeface="Calibri"/>
              </a:rPr>
              <a:t>the</a:t>
            </a:r>
            <a:r>
              <a:rPr dirty="0" sz="800" spc="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D3D3D"/>
                </a:solidFill>
                <a:latin typeface="Calibri"/>
                <a:cs typeface="Calibri"/>
              </a:rPr>
              <a:t>user</a:t>
            </a:r>
            <a:r>
              <a:rPr dirty="0" sz="800" spc="15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D89CF"/>
                </a:solidFill>
                <a:latin typeface="Calibri"/>
                <a:cs typeface="Calibri"/>
              </a:rPr>
              <a:t>replies</a:t>
            </a:r>
            <a:r>
              <a:rPr dirty="0" sz="800" spc="70">
                <a:solidFill>
                  <a:srgbClr val="3D89CF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521D42"/>
                </a:solidFill>
                <a:latin typeface="Calibri"/>
                <a:cs typeface="Calibri"/>
              </a:rPr>
              <a:t>with</a:t>
            </a:r>
            <a:r>
              <a:rPr dirty="0" sz="800">
                <a:solidFill>
                  <a:srgbClr val="521D42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D3D3D"/>
                </a:solidFill>
                <a:latin typeface="Calibri"/>
                <a:cs typeface="Calibri"/>
              </a:rPr>
              <a:t>an</a:t>
            </a:r>
            <a:r>
              <a:rPr dirty="0" sz="800" spc="1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A3A3A"/>
                </a:solidFill>
                <a:latin typeface="Calibri"/>
                <a:cs typeface="Calibri"/>
              </a:rPr>
              <a:t>ambiguous</a:t>
            </a:r>
            <a:r>
              <a:rPr dirty="0" sz="800" spc="105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809CB3"/>
                </a:solidFill>
                <a:latin typeface="Calibri"/>
                <a:cs typeface="Calibri"/>
              </a:rPr>
              <a:t>short</a:t>
            </a:r>
            <a:r>
              <a:rPr dirty="0" sz="800" spc="45">
                <a:solidFill>
                  <a:srgbClr val="809CB3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97AFBC"/>
                </a:solidFill>
                <a:latin typeface="Calibri"/>
                <a:cs typeface="Calibri"/>
              </a:rPr>
              <a:t>confirmation</a:t>
            </a:r>
            <a:r>
              <a:rPr dirty="0" sz="800" spc="125">
                <a:solidFill>
                  <a:srgbClr val="97AFBC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F3F3F"/>
                </a:solidFill>
                <a:latin typeface="Calibri"/>
                <a:cs typeface="Calibri"/>
              </a:rPr>
              <a:t>(e.g.,</a:t>
            </a:r>
            <a:r>
              <a:rPr dirty="0" sz="800" spc="5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A2A2A"/>
                </a:solidFill>
                <a:latin typeface="Calibri"/>
                <a:cs typeface="Calibri"/>
              </a:rPr>
              <a:t>'yes'</a:t>
            </a:r>
            <a:r>
              <a:rPr dirty="0" sz="800" spc="1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D3D3D"/>
                </a:solidFill>
                <a:latin typeface="Calibri"/>
                <a:cs typeface="Calibri"/>
              </a:rPr>
              <a:t>'yeah'</a:t>
            </a:r>
            <a:r>
              <a:rPr dirty="0" sz="800" spc="3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70BCFF"/>
                </a:solidFill>
                <a:latin typeface="Calibri"/>
                <a:cs typeface="Calibri"/>
              </a:rPr>
              <a:t>'yep'),</a:t>
            </a:r>
            <a:r>
              <a:rPr dirty="0" sz="800" spc="50">
                <a:solidFill>
                  <a:srgbClr val="70BCFF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1F70BC"/>
                </a:solidFill>
                <a:latin typeface="Calibri"/>
                <a:cs typeface="Calibri"/>
              </a:rPr>
              <a:t>do</a:t>
            </a:r>
            <a:r>
              <a:rPr dirty="0" sz="800" spc="500">
                <a:solidFill>
                  <a:srgbClr val="1F70BC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64775E"/>
                </a:solidFill>
                <a:latin typeface="Calibri"/>
                <a:cs typeface="Calibri"/>
              </a:rPr>
              <a:t>NOT </a:t>
            </a:r>
            <a:r>
              <a:rPr dirty="0" sz="800">
                <a:solidFill>
                  <a:srgbClr val="262626"/>
                </a:solidFill>
                <a:latin typeface="Calibri"/>
                <a:cs typeface="Calibri"/>
              </a:rPr>
              <a:t>assume</a:t>
            </a:r>
            <a:r>
              <a:rPr dirty="0" sz="800" spc="2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6E97BC"/>
                </a:solidFill>
                <a:latin typeface="Calibri"/>
                <a:cs typeface="Calibri"/>
              </a:rPr>
              <a:t>all</a:t>
            </a:r>
            <a:r>
              <a:rPr dirty="0" sz="800" spc="35">
                <a:solidFill>
                  <a:srgbClr val="6E97BC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595959"/>
                </a:solidFill>
                <a:latin typeface="Calibri"/>
                <a:cs typeface="Calibri"/>
              </a:rPr>
              <a:t>listed </a:t>
            </a:r>
            <a:r>
              <a:rPr dirty="0" sz="800">
                <a:solidFill>
                  <a:srgbClr val="575757"/>
                </a:solidFill>
                <a:latin typeface="Calibri"/>
                <a:cs typeface="Calibri"/>
              </a:rPr>
              <a:t>symptoms</a:t>
            </a:r>
            <a:r>
              <a:rPr dirty="0" sz="800" spc="30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93C3DF"/>
                </a:solidFill>
                <a:latin typeface="Calibri"/>
                <a:cs typeface="Calibri"/>
              </a:rPr>
              <a:t>apply.</a:t>
            </a:r>
            <a:r>
              <a:rPr dirty="0" sz="800" spc="10">
                <a:solidFill>
                  <a:srgbClr val="93C3DF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525252"/>
                </a:solidFill>
                <a:latin typeface="Calibri"/>
                <a:cs typeface="Calibri"/>
              </a:rPr>
              <a:t>Instead,</a:t>
            </a:r>
            <a:r>
              <a:rPr dirty="0" sz="800" spc="3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525252"/>
                </a:solidFill>
                <a:latin typeface="Calibri"/>
                <a:cs typeface="Calibri"/>
              </a:rPr>
              <a:t>ask</a:t>
            </a:r>
            <a:r>
              <a:rPr dirty="0" sz="800">
                <a:solidFill>
                  <a:srgbClr val="4F4F4F"/>
                </a:solidFill>
                <a:latin typeface="Calibri"/>
                <a:cs typeface="Calibri"/>
              </a:rPr>
              <a:t>a</a:t>
            </a:r>
            <a:r>
              <a:rPr dirty="0" sz="800" spc="455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54729A"/>
                </a:solidFill>
                <a:latin typeface="Calibri"/>
                <a:cs typeface="Calibri"/>
              </a:rPr>
              <a:t>focused</a:t>
            </a:r>
            <a:r>
              <a:rPr dirty="0" sz="800" spc="35">
                <a:solidFill>
                  <a:srgbClr val="54729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F4F4F"/>
                </a:solidFill>
                <a:latin typeface="Calibri"/>
                <a:cs typeface="Calibri"/>
              </a:rPr>
              <a:t>clarification</a:t>
            </a:r>
            <a:r>
              <a:rPr dirty="0" sz="800" spc="50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43434"/>
                </a:solidFill>
                <a:latin typeface="Calibri"/>
                <a:cs typeface="Calibri"/>
              </a:rPr>
              <a:t>question</a:t>
            </a:r>
            <a:r>
              <a:rPr dirty="0" sz="800" spc="35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383838"/>
                </a:solidFill>
                <a:latin typeface="Calibri"/>
                <a:cs typeface="Calibri"/>
              </a:rPr>
              <a:t>to</a:t>
            </a:r>
            <a:r>
              <a:rPr dirty="0" sz="800" spc="-2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43434"/>
                </a:solidFill>
                <a:latin typeface="Calibri"/>
                <a:cs typeface="Calibri"/>
              </a:rPr>
              <a:t>determine</a:t>
            </a:r>
            <a:r>
              <a:rPr dirty="0" sz="800" spc="25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63636"/>
                </a:solidFill>
                <a:latin typeface="Calibri"/>
                <a:cs typeface="Calibri"/>
              </a:rPr>
              <a:t>which </a:t>
            </a:r>
            <a:r>
              <a:rPr dirty="0" sz="800">
                <a:solidFill>
                  <a:srgbClr val="343434"/>
                </a:solidFill>
                <a:latin typeface="Calibri"/>
                <a:cs typeface="Calibri"/>
              </a:rPr>
              <a:t>specific</a:t>
            </a:r>
            <a:r>
              <a:rPr dirty="0" sz="800" spc="4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43434"/>
                </a:solidFill>
                <a:latin typeface="Calibri"/>
                <a:cs typeface="Calibri"/>
              </a:rPr>
              <a:t>symptoms</a:t>
            </a:r>
            <a:r>
              <a:rPr dirty="0" sz="800" spc="5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43434"/>
                </a:solidFill>
                <a:latin typeface="Calibri"/>
                <a:cs typeface="Calibri"/>
              </a:rPr>
              <a:t>the</a:t>
            </a:r>
            <a:r>
              <a:rPr dirty="0" sz="800" spc="-15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43434"/>
                </a:solidFill>
                <a:latin typeface="Calibri"/>
                <a:cs typeface="Calibri"/>
              </a:rPr>
              <a:t>user</a:t>
            </a:r>
            <a:r>
              <a:rPr dirty="0" sz="800" spc="15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43434"/>
                </a:solidFill>
                <a:latin typeface="Calibri"/>
                <a:cs typeface="Calibri"/>
              </a:rPr>
              <a:t>is</a:t>
            </a:r>
            <a:r>
              <a:rPr dirty="0" sz="800" spc="1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43434"/>
                </a:solidFill>
                <a:latin typeface="Calibri"/>
                <a:cs typeface="Calibri"/>
              </a:rPr>
              <a:t>experiencing.</a:t>
            </a:r>
            <a:r>
              <a:rPr dirty="0" sz="800" spc="5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6795B8"/>
                </a:solidFill>
                <a:latin typeface="Calibri"/>
                <a:cs typeface="Calibri"/>
              </a:rPr>
              <a:t>Only</a:t>
            </a:r>
            <a:r>
              <a:rPr dirty="0" sz="800" spc="500">
                <a:solidFill>
                  <a:srgbClr val="6795B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61616"/>
                </a:solidFill>
                <a:latin typeface="Calibri"/>
                <a:cs typeface="Calibri"/>
              </a:rPr>
              <a:t>use</a:t>
            </a:r>
            <a:r>
              <a:rPr dirty="0" sz="800" spc="-1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61616"/>
                </a:solidFill>
                <a:latin typeface="Calibri"/>
                <a:cs typeface="Calibri"/>
              </a:rPr>
              <a:t>symptoms</a:t>
            </a:r>
            <a:r>
              <a:rPr dirty="0" sz="800" spc="3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61616"/>
                </a:solidFill>
                <a:latin typeface="Calibri"/>
                <a:cs typeface="Calibri"/>
              </a:rPr>
              <a:t>explicitly</a:t>
            </a:r>
            <a:r>
              <a:rPr dirty="0" sz="800" spc="3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61616"/>
                </a:solidFill>
                <a:latin typeface="Calibri"/>
                <a:cs typeface="Calibri"/>
              </a:rPr>
              <a:t>confirmed</a:t>
            </a:r>
            <a:r>
              <a:rPr dirty="0" sz="800" spc="35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63160"/>
                </a:solidFill>
                <a:latin typeface="Calibri"/>
                <a:cs typeface="Calibri"/>
              </a:rPr>
              <a:t>by</a:t>
            </a:r>
            <a:r>
              <a:rPr dirty="0" sz="800" spc="15">
                <a:solidFill>
                  <a:srgbClr val="263160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61616"/>
                </a:solidFill>
                <a:latin typeface="Calibri"/>
                <a:cs typeface="Calibri"/>
              </a:rPr>
              <a:t>the</a:t>
            </a:r>
            <a:r>
              <a:rPr dirty="0" sz="800" spc="-5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61616"/>
                </a:solidFill>
                <a:latin typeface="Calibri"/>
                <a:cs typeface="Calibri"/>
              </a:rPr>
              <a:t>user.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306827" y="5420867"/>
            <a:ext cx="3750310" cy="81788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07950">
              <a:lnSpc>
                <a:spcPct val="100000"/>
              </a:lnSpc>
              <a:spcBef>
                <a:spcPts val="195"/>
              </a:spcBef>
            </a:pPr>
            <a:r>
              <a:rPr dirty="0" sz="800" spc="10">
                <a:solidFill>
                  <a:srgbClr val="232323"/>
                </a:solidFill>
                <a:latin typeface="Calibri"/>
                <a:cs typeface="Calibri"/>
              </a:rPr>
              <a:t>ASSESSNENT</a:t>
            </a:r>
            <a:r>
              <a:rPr dirty="0" sz="800" spc="28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7997B3"/>
                </a:solidFill>
                <a:latin typeface="Calibri"/>
                <a:cs typeface="Calibri"/>
              </a:rPr>
              <a:t>CONPLETION:</a:t>
            </a:r>
            <a:endParaRPr sz="800">
              <a:latin typeface="Calibri"/>
              <a:cs typeface="Calibri"/>
            </a:endParaRPr>
          </a:p>
          <a:p>
            <a:pPr marL="105410" marR="367665" indent="57785">
              <a:lnSpc>
                <a:spcPct val="107500"/>
              </a:lnSpc>
              <a:spcBef>
                <a:spcPts val="25"/>
              </a:spcBef>
              <a:buClr>
                <a:srgbClr val="161616"/>
              </a:buClr>
              <a:buChar char="-"/>
              <a:tabLst>
                <a:tab pos="163195" algn="l"/>
              </a:tabLst>
            </a:pPr>
            <a:r>
              <a:rPr dirty="0" sz="800">
                <a:solidFill>
                  <a:srgbClr val="3F3F3F"/>
                </a:solidFill>
                <a:latin typeface="Calibri"/>
                <a:cs typeface="Calibri"/>
              </a:rPr>
              <a:t>Normally</a:t>
            </a:r>
            <a:r>
              <a:rPr dirty="0" sz="800" spc="4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61616"/>
                </a:solidFill>
                <a:latin typeface="Calibri"/>
                <a:cs typeface="Calibri"/>
              </a:rPr>
              <a:t>ask</a:t>
            </a:r>
            <a:r>
              <a:rPr dirty="0" sz="800" spc="3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B566B"/>
                </a:solidFill>
                <a:latin typeface="Calibri"/>
                <a:cs typeface="Calibri"/>
              </a:rPr>
              <a:t>2</a:t>
            </a:r>
            <a:r>
              <a:rPr dirty="0" sz="800" spc="15">
                <a:solidFill>
                  <a:srgbClr val="3B566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dirty="0" sz="800" spc="-1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F3F3F"/>
                </a:solidFill>
                <a:latin typeface="Calibri"/>
                <a:cs typeface="Calibri"/>
              </a:rPr>
              <a:t>3</a:t>
            </a:r>
            <a:r>
              <a:rPr dirty="0" sz="800" spc="4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F3F3F"/>
                </a:solidFill>
                <a:latin typeface="Calibri"/>
                <a:cs typeface="Calibri"/>
              </a:rPr>
              <a:t>clinically</a:t>
            </a:r>
            <a:r>
              <a:rPr dirty="0" sz="800" spc="4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F3F3F"/>
                </a:solidFill>
                <a:latin typeface="Calibri"/>
                <a:cs typeface="Calibri"/>
              </a:rPr>
              <a:t>useful</a:t>
            </a:r>
            <a:r>
              <a:rPr dirty="0" sz="800" spc="-3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61616"/>
                </a:solidFill>
                <a:latin typeface="Calibri"/>
                <a:cs typeface="Calibri"/>
              </a:rPr>
              <a:t>follow-</a:t>
            </a:r>
            <a:r>
              <a:rPr dirty="0" sz="800">
                <a:solidFill>
                  <a:srgbClr val="161616"/>
                </a:solidFill>
                <a:latin typeface="Calibri"/>
                <a:cs typeface="Calibri"/>
              </a:rPr>
              <a:t>up</a:t>
            </a:r>
            <a:r>
              <a:rPr dirty="0" sz="800" spc="35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F3F3F"/>
                </a:solidFill>
                <a:latin typeface="Calibri"/>
                <a:cs typeface="Calibri"/>
              </a:rPr>
              <a:t>questions</a:t>
            </a:r>
            <a:r>
              <a:rPr dirty="0" sz="800" spc="8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3F3F3F"/>
                </a:solidFill>
                <a:latin typeface="Calibri"/>
                <a:cs typeface="Calibri"/>
              </a:rPr>
              <a:t>before</a:t>
            </a:r>
            <a:r>
              <a:rPr dirty="0" sz="800" spc="3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67AEED"/>
                </a:solidFill>
                <a:latin typeface="Calibri"/>
                <a:cs typeface="Calibri"/>
              </a:rPr>
              <a:t>providing</a:t>
            </a:r>
            <a:r>
              <a:rPr dirty="0" sz="800" spc="5">
                <a:solidFill>
                  <a:srgbClr val="67AEED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414141"/>
                </a:solidFill>
                <a:latin typeface="Calibri"/>
                <a:cs typeface="Calibri"/>
              </a:rPr>
              <a:t>an</a:t>
            </a:r>
            <a:r>
              <a:rPr dirty="0" sz="800" spc="500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F1F1F"/>
                </a:solidFill>
                <a:latin typeface="Calibri"/>
                <a:cs typeface="Calibri"/>
              </a:rPr>
              <a:t>assessment.</a:t>
            </a:r>
            <a:endParaRPr sz="800">
              <a:latin typeface="Calibri"/>
              <a:cs typeface="Calibri"/>
            </a:endParaRPr>
          </a:p>
          <a:p>
            <a:pPr marL="105410" marR="706120" indent="62230">
              <a:lnSpc>
                <a:spcPct val="107500"/>
              </a:lnSpc>
              <a:buClr>
                <a:srgbClr val="161616"/>
              </a:buClr>
              <a:buChar char="-"/>
              <a:tabLst>
                <a:tab pos="167640" algn="l"/>
              </a:tabLst>
            </a:pPr>
            <a:r>
              <a:rPr dirty="0" sz="800">
                <a:solidFill>
                  <a:srgbClr val="244B72"/>
                </a:solidFill>
                <a:latin typeface="Calibri"/>
                <a:cs typeface="Calibri"/>
              </a:rPr>
              <a:t>Ask</a:t>
            </a:r>
            <a:r>
              <a:rPr dirty="0" sz="800" spc="20">
                <a:solidFill>
                  <a:srgbClr val="244B72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809AAC"/>
                </a:solidFill>
                <a:latin typeface="Calibri"/>
                <a:cs typeface="Calibri"/>
              </a:rPr>
              <a:t>an</a:t>
            </a:r>
            <a:r>
              <a:rPr dirty="0" sz="800" spc="-15">
                <a:solidFill>
                  <a:srgbClr val="809AAC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6D91AA"/>
                </a:solidFill>
                <a:latin typeface="Calibri"/>
                <a:cs typeface="Calibri"/>
              </a:rPr>
              <a:t>additional</a:t>
            </a:r>
            <a:r>
              <a:rPr dirty="0" sz="800" spc="30">
                <a:solidFill>
                  <a:srgbClr val="6D91A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A2A2A"/>
                </a:solidFill>
                <a:latin typeface="Calibri"/>
                <a:cs typeface="Calibri"/>
              </a:rPr>
              <a:t>clarification</a:t>
            </a:r>
            <a:r>
              <a:rPr dirty="0" sz="800" spc="5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Calibri"/>
                <a:cs typeface="Calibri"/>
              </a:rPr>
              <a:t>question</a:t>
            </a:r>
            <a:r>
              <a:rPr dirty="0" sz="800" spc="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A2A2A"/>
                </a:solidFill>
                <a:latin typeface="Calibri"/>
                <a:cs typeface="Calibri"/>
              </a:rPr>
              <a:t>only</a:t>
            </a:r>
            <a:r>
              <a:rPr dirty="0" sz="800" spc="1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2A2A2A"/>
                </a:solidFill>
                <a:latin typeface="Calibri"/>
                <a:cs typeface="Calibri"/>
              </a:rPr>
              <a:t>when</a:t>
            </a:r>
            <a:r>
              <a:rPr dirty="0" sz="800" spc="-2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8395A3"/>
                </a:solidFill>
                <a:latin typeface="Calibri"/>
                <a:cs typeface="Calibri"/>
              </a:rPr>
              <a:t>a</a:t>
            </a:r>
            <a:r>
              <a:rPr dirty="0" sz="800" spc="25">
                <a:solidFill>
                  <a:srgbClr val="8395A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82828"/>
                </a:solidFill>
                <a:latin typeface="Calibri"/>
                <a:cs typeface="Calibri"/>
              </a:rPr>
              <a:t>user's</a:t>
            </a:r>
            <a:r>
              <a:rPr dirty="0" sz="800" spc="1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8091A1"/>
                </a:solidFill>
                <a:latin typeface="Calibri"/>
                <a:cs typeface="Calibri"/>
              </a:rPr>
              <a:t>answer</a:t>
            </a:r>
            <a:r>
              <a:rPr dirty="0" sz="800" spc="20">
                <a:solidFill>
                  <a:srgbClr val="8091A1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52A0E4"/>
                </a:solidFill>
                <a:latin typeface="Calibri"/>
                <a:cs typeface="Calibri"/>
              </a:rPr>
              <a:t>is</a:t>
            </a:r>
            <a:r>
              <a:rPr dirty="0" sz="800" spc="500">
                <a:solidFill>
                  <a:srgbClr val="52A0E4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84848"/>
                </a:solidFill>
                <a:latin typeface="Calibri"/>
                <a:cs typeface="Calibri"/>
              </a:rPr>
              <a:t>ambiguous</a:t>
            </a:r>
            <a:r>
              <a:rPr dirty="0" sz="800" spc="35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dirty="0" sz="800" spc="-30">
                <a:solidFill>
                  <a:srgbClr val="494949"/>
                </a:solidFill>
                <a:latin typeface="Calibri"/>
                <a:cs typeface="Calibri"/>
              </a:rPr>
              <a:t>or</a:t>
            </a:r>
            <a:r>
              <a:rPr dirty="0" sz="800" spc="-30">
                <a:solidFill>
                  <a:srgbClr val="4D5974"/>
                </a:solidFill>
                <a:latin typeface="Calibri"/>
                <a:cs typeface="Calibri"/>
              </a:rPr>
              <a:t>a</a:t>
            </a:r>
            <a:r>
              <a:rPr dirty="0" sz="800" spc="405">
                <a:solidFill>
                  <a:srgbClr val="4D5974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A1BCC6"/>
                </a:solidFill>
                <a:latin typeface="Calibri"/>
                <a:cs typeface="Calibri"/>
              </a:rPr>
              <a:t>clinically</a:t>
            </a:r>
            <a:r>
              <a:rPr dirty="0" sz="800" spc="45">
                <a:solidFill>
                  <a:srgbClr val="A1BCC6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64646"/>
                </a:solidFill>
                <a:latin typeface="Calibri"/>
                <a:cs typeface="Calibri"/>
              </a:rPr>
              <a:t>important</a:t>
            </a:r>
            <a:r>
              <a:rPr dirty="0" sz="800" spc="65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949"/>
                </a:solidFill>
                <a:latin typeface="Calibri"/>
                <a:cs typeface="Calibri"/>
              </a:rPr>
              <a:t>detail</a:t>
            </a:r>
            <a:r>
              <a:rPr dirty="0" sz="800" spc="-2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C1A66"/>
                </a:solidFill>
                <a:latin typeface="Calibri"/>
                <a:cs typeface="Calibri"/>
              </a:rPr>
              <a:t>is</a:t>
            </a:r>
            <a:r>
              <a:rPr dirty="0" sz="800" spc="10">
                <a:solidFill>
                  <a:srgbClr val="1C1A66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84848"/>
                </a:solidFill>
                <a:latin typeface="Calibri"/>
                <a:cs typeface="Calibri"/>
              </a:rPr>
              <a:t>still</a:t>
            </a:r>
            <a:r>
              <a:rPr dirty="0" sz="800" spc="-8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949"/>
                </a:solidFill>
                <a:latin typeface="Calibri"/>
                <a:cs typeface="Calibri"/>
              </a:rPr>
              <a:t>unclear.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  <a:tabLst>
                <a:tab pos="3736975" algn="l"/>
              </a:tabLst>
            </a:pPr>
            <a:r>
              <a:rPr dirty="0" u="sng" sz="800" spc="175">
                <a:solidFill>
                  <a:srgbClr val="161616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 </a:t>
            </a:r>
            <a:r>
              <a:rPr dirty="0" u="sng" sz="800">
                <a:solidFill>
                  <a:srgbClr val="161616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-</a:t>
            </a:r>
            <a:r>
              <a:rPr dirty="0" u="sng" sz="800" spc="35">
                <a:solidFill>
                  <a:srgbClr val="161616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800">
                <a:solidFill>
                  <a:srgbClr val="4B546E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Do</a:t>
            </a:r>
            <a:r>
              <a:rPr dirty="0" u="sng" sz="800" spc="-45">
                <a:solidFill>
                  <a:srgbClr val="4B546E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800">
                <a:solidFill>
                  <a:srgbClr val="3A60A8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not</a:t>
            </a:r>
            <a:r>
              <a:rPr dirty="0" u="sng" sz="800" spc="-35">
                <a:solidFill>
                  <a:srgbClr val="3A60A8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800">
                <a:solidFill>
                  <a:srgbClr val="646464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exceed</a:t>
            </a:r>
            <a:r>
              <a:rPr dirty="0" u="sng" sz="800" spc="15">
                <a:solidFill>
                  <a:srgbClr val="646464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800">
                <a:solidFill>
                  <a:srgbClr val="21499A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5</a:t>
            </a:r>
            <a:r>
              <a:rPr dirty="0" u="sng" sz="800" spc="-15">
                <a:solidFill>
                  <a:srgbClr val="21499A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800" spc="-10">
                <a:solidFill>
                  <a:srgbClr val="161616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follow-</a:t>
            </a:r>
            <a:r>
              <a:rPr dirty="0" u="sng" sz="800">
                <a:solidFill>
                  <a:srgbClr val="161616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up </a:t>
            </a:r>
            <a:r>
              <a:rPr dirty="0" u="sng" sz="800">
                <a:solidFill>
                  <a:srgbClr val="383838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questions</a:t>
            </a:r>
            <a:r>
              <a:rPr dirty="0" u="sng" sz="800" spc="45">
                <a:solidFill>
                  <a:srgbClr val="383838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800" spc="-30">
                <a:solidFill>
                  <a:srgbClr val="676767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for</a:t>
            </a:r>
            <a:r>
              <a:rPr dirty="0" u="sng" sz="800" spc="-30">
                <a:solidFill>
                  <a:srgbClr val="64422D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</a:t>
            </a:r>
            <a:r>
              <a:rPr dirty="0" u="sng" sz="800" spc="380">
                <a:solidFill>
                  <a:srgbClr val="64422D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800" spc="-10">
                <a:solidFill>
                  <a:srgbClr val="161616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non-</a:t>
            </a:r>
            <a:r>
              <a:rPr dirty="0" u="sng" sz="800">
                <a:solidFill>
                  <a:srgbClr val="161616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emereencv</a:t>
            </a:r>
            <a:r>
              <a:rPr dirty="0" u="sng" sz="800" spc="60">
                <a:solidFill>
                  <a:srgbClr val="161616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800" spc="-10">
                <a:solidFill>
                  <a:srgbClr val="5D5D5D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symptom</a:t>
            </a:r>
            <a:r>
              <a:rPr dirty="0" u="sng" sz="800">
                <a:solidFill>
                  <a:srgbClr val="5D5D5D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934303" y="2135123"/>
            <a:ext cx="105537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10">
                <a:solidFill>
                  <a:srgbClr val="161616"/>
                </a:solidFill>
                <a:latin typeface="Calibri"/>
                <a:cs typeface="Calibri"/>
              </a:rPr>
              <a:t>Running</a:t>
            </a:r>
            <a:r>
              <a:rPr dirty="0" sz="800" spc="-1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800" spc="10">
                <a:solidFill>
                  <a:srgbClr val="161659"/>
                </a:solidFill>
                <a:latin typeface="Calibri"/>
                <a:cs typeface="Calibri"/>
              </a:rPr>
              <a:t>In</a:t>
            </a:r>
            <a:r>
              <a:rPr dirty="0" sz="800" spc="45">
                <a:solidFill>
                  <a:srgbClr val="161659"/>
                </a:solidFill>
                <a:latin typeface="Calibri"/>
                <a:cs typeface="Calibri"/>
              </a:rPr>
              <a:t> </a:t>
            </a:r>
            <a:r>
              <a:rPr dirty="0" sz="800" spc="10">
                <a:solidFill>
                  <a:srgbClr val="161616"/>
                </a:solidFill>
                <a:latin typeface="Calibri"/>
                <a:cs typeface="Calibri"/>
              </a:rPr>
              <a:t>debug </a:t>
            </a:r>
            <a:r>
              <a:rPr dirty="0" sz="800" spc="-20">
                <a:solidFill>
                  <a:srgbClr val="161616"/>
                </a:solidFill>
                <a:latin typeface="Calibri"/>
                <a:cs typeface="Calibri"/>
              </a:rPr>
              <a:t>mode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886336" y="3090708"/>
            <a:ext cx="3264535" cy="666115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900" spc="-20">
                <a:solidFill>
                  <a:srgbClr val="4D6B90"/>
                </a:solidFill>
                <a:latin typeface="Calibri"/>
                <a:cs typeface="Calibri"/>
              </a:rPr>
              <a:t>9:08 </a:t>
            </a:r>
            <a:r>
              <a:rPr dirty="0" sz="900" spc="-20">
                <a:solidFill>
                  <a:srgbClr val="526B9E"/>
                </a:solidFill>
                <a:latin typeface="Calibri"/>
                <a:cs typeface="Calibri"/>
              </a:rPr>
              <a:t>PI'4</a:t>
            </a:r>
            <a:endParaRPr sz="900">
              <a:latin typeface="Calibri"/>
              <a:cs typeface="Calibri"/>
            </a:endParaRPr>
          </a:p>
          <a:p>
            <a:pPr marL="14604">
              <a:lnSpc>
                <a:spcPct val="100000"/>
              </a:lnSpc>
              <a:spcBef>
                <a:spcPts val="459"/>
              </a:spcBef>
            </a:pPr>
            <a:r>
              <a:rPr dirty="0" sz="1400" spc="65">
                <a:solidFill>
                  <a:srgbClr val="161616"/>
                </a:solidFill>
                <a:latin typeface="Calibri"/>
                <a:cs typeface="Calibri"/>
              </a:rPr>
              <a:t>Hello,</a:t>
            </a:r>
            <a:r>
              <a:rPr dirty="0" sz="1400" spc="90">
                <a:solidFill>
                  <a:srgbClr val="161616"/>
                </a:solidFill>
                <a:latin typeface="Calibri"/>
                <a:cs typeface="Calibri"/>
              </a:rPr>
              <a:t> welcome</a:t>
            </a:r>
            <a:r>
              <a:rPr dirty="0" sz="1400" spc="114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61616"/>
                </a:solidFill>
                <a:latin typeface="Calibri"/>
                <a:cs typeface="Calibri"/>
              </a:rPr>
              <a:t>to</a:t>
            </a:r>
            <a:r>
              <a:rPr dirty="0" sz="1400" spc="65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1400" spc="75">
                <a:solidFill>
                  <a:srgbClr val="161616"/>
                </a:solidFill>
                <a:latin typeface="Calibri"/>
                <a:cs typeface="Calibri"/>
              </a:rPr>
              <a:t>watsonx</a:t>
            </a:r>
            <a:r>
              <a:rPr dirty="0" sz="1400" spc="13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1400" spc="55">
                <a:solidFill>
                  <a:srgbClr val="161616"/>
                </a:solidFill>
                <a:latin typeface="Calibri"/>
                <a:cs typeface="Calibri"/>
              </a:rPr>
              <a:t>Orchestrate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750" spc="-25">
                <a:solidFill>
                  <a:srgbClr val="5B5B5B"/>
                </a:solidFill>
                <a:latin typeface="Calibri"/>
                <a:cs typeface="Calibri"/>
              </a:rPr>
              <a:t>Accuracy</a:t>
            </a:r>
            <a:r>
              <a:rPr dirty="0" sz="750" spc="-5">
                <a:solidFill>
                  <a:srgbClr val="5B5B5B"/>
                </a:solidFill>
                <a:latin typeface="Calibri"/>
                <a:cs typeface="Calibri"/>
              </a:rPr>
              <a:t> </a:t>
            </a:r>
            <a:r>
              <a:rPr dirty="0" sz="750">
                <a:solidFill>
                  <a:srgbClr val="5E5E5E"/>
                </a:solidFill>
                <a:latin typeface="Calibri"/>
                <a:cs typeface="Calibri"/>
              </a:rPr>
              <a:t>ol</a:t>
            </a:r>
            <a:r>
              <a:rPr dirty="0" sz="750" spc="-20">
                <a:solidFill>
                  <a:srgbClr val="5E5E5E"/>
                </a:solidFill>
                <a:latin typeface="Calibri"/>
                <a:cs typeface="Calibri"/>
              </a:rPr>
              <a:t> </a:t>
            </a:r>
            <a:r>
              <a:rPr dirty="0" sz="750" spc="-40">
                <a:solidFill>
                  <a:srgbClr val="5B5B5B"/>
                </a:solidFill>
                <a:latin typeface="Calibri"/>
                <a:cs typeface="Calibri"/>
              </a:rPr>
              <a:t>generated</a:t>
            </a:r>
            <a:r>
              <a:rPr dirty="0" sz="750" spc="45">
                <a:solidFill>
                  <a:srgbClr val="5B5B5B"/>
                </a:solidFill>
                <a:latin typeface="Calibri"/>
                <a:cs typeface="Calibri"/>
              </a:rPr>
              <a:t> </a:t>
            </a:r>
            <a:r>
              <a:rPr dirty="0" sz="750" spc="-30">
                <a:solidFill>
                  <a:srgbClr val="5B5B5B"/>
                </a:solidFill>
                <a:latin typeface="Calibri"/>
                <a:cs typeface="Calibri"/>
              </a:rPr>
              <a:t>answers</a:t>
            </a:r>
            <a:r>
              <a:rPr dirty="0" sz="750" spc="20">
                <a:solidFill>
                  <a:srgbClr val="5B5B5B"/>
                </a:solidFill>
                <a:latin typeface="Calibri"/>
                <a:cs typeface="Calibri"/>
              </a:rPr>
              <a:t> </a:t>
            </a:r>
            <a:r>
              <a:rPr dirty="0" sz="750" spc="-40">
                <a:solidFill>
                  <a:srgbClr val="5B90BF"/>
                </a:solidFill>
                <a:latin typeface="Calibri"/>
                <a:cs typeface="Calibri"/>
              </a:rPr>
              <a:t>may</a:t>
            </a:r>
            <a:r>
              <a:rPr dirty="0" sz="750" spc="30">
                <a:solidFill>
                  <a:srgbClr val="5B90BF"/>
                </a:solidFill>
                <a:latin typeface="Calibri"/>
                <a:cs typeface="Calibri"/>
              </a:rPr>
              <a:t> </a:t>
            </a:r>
            <a:r>
              <a:rPr dirty="0" sz="750" spc="-40">
                <a:solidFill>
                  <a:srgbClr val="5D5D5D"/>
                </a:solidFill>
                <a:latin typeface="Calibri"/>
                <a:cs typeface="Calibri"/>
              </a:rPr>
              <a:t>vary.</a:t>
            </a:r>
            <a:r>
              <a:rPr dirty="0" sz="750" spc="-5">
                <a:solidFill>
                  <a:srgbClr val="5D5D5D"/>
                </a:solidFill>
                <a:latin typeface="Calibri"/>
                <a:cs typeface="Calibri"/>
              </a:rPr>
              <a:t> </a:t>
            </a:r>
            <a:r>
              <a:rPr dirty="0" sz="750" spc="-20">
                <a:solidFill>
                  <a:srgbClr val="5B5B5B"/>
                </a:solidFill>
                <a:latin typeface="Calibri"/>
                <a:cs typeface="Calibri"/>
              </a:rPr>
              <a:t>Please</a:t>
            </a:r>
            <a:r>
              <a:rPr dirty="0" sz="750" spc="10">
                <a:solidFill>
                  <a:srgbClr val="5B5B5B"/>
                </a:solidFill>
                <a:latin typeface="Calibri"/>
                <a:cs typeface="Calibri"/>
              </a:rPr>
              <a:t> </a:t>
            </a:r>
            <a:r>
              <a:rPr dirty="0" sz="750" spc="-35">
                <a:solidFill>
                  <a:srgbClr val="5D5D5D"/>
                </a:solidFill>
                <a:latin typeface="Calibri"/>
                <a:cs typeface="Calibri"/>
              </a:rPr>
              <a:t>double-</a:t>
            </a:r>
            <a:r>
              <a:rPr dirty="0" sz="750" spc="-10">
                <a:solidFill>
                  <a:srgbClr val="5D5D5D"/>
                </a:solidFill>
                <a:latin typeface="Calibri"/>
                <a:cs typeface="Calibri"/>
              </a:rPr>
              <a:t>check</a:t>
            </a:r>
            <a:r>
              <a:rPr dirty="0" sz="750" spc="60">
                <a:solidFill>
                  <a:srgbClr val="5D5D5D"/>
                </a:solidFill>
                <a:latin typeface="Calibri"/>
                <a:cs typeface="Calibri"/>
              </a:rPr>
              <a:t> </a:t>
            </a:r>
            <a:r>
              <a:rPr dirty="0" sz="750" spc="-10">
                <a:solidFill>
                  <a:srgbClr val="5B5B5B"/>
                </a:solidFill>
                <a:latin typeface="Calibri"/>
                <a:cs typeface="Calibri"/>
              </a:rPr>
              <a:t>responses.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564982" y="1839467"/>
            <a:ext cx="42227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55">
                <a:solidFill>
                  <a:srgbClr val="161616"/>
                </a:solidFill>
                <a:latin typeface="Calibri"/>
                <a:cs typeface="Calibri"/>
              </a:rPr>
              <a:t>Preview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996206" y="3985260"/>
            <a:ext cx="870585" cy="287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270">
              <a:lnSpc>
                <a:spcPct val="107500"/>
              </a:lnSpc>
              <a:spcBef>
                <a:spcPts val="100"/>
              </a:spcBef>
            </a:pPr>
            <a:r>
              <a:rPr dirty="0" sz="800" spc="-20">
                <a:solidFill>
                  <a:srgbClr val="428ECF"/>
                </a:solidFill>
                <a:latin typeface="Calibri"/>
                <a:cs typeface="Calibri"/>
              </a:rPr>
              <a:t>What</a:t>
            </a:r>
            <a:r>
              <a:rPr dirty="0" sz="800" spc="35">
                <a:solidFill>
                  <a:srgbClr val="428ECF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84848"/>
                </a:solidFill>
                <a:latin typeface="Calibri"/>
                <a:cs typeface="Calibri"/>
              </a:rPr>
              <a:t>can</a:t>
            </a:r>
            <a:r>
              <a:rPr dirty="0" sz="800" spc="-1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662A3F"/>
                </a:solidFill>
                <a:latin typeface="Calibri"/>
                <a:cs typeface="Calibri"/>
              </a:rPr>
              <a:t>you</a:t>
            </a:r>
            <a:r>
              <a:rPr dirty="0" sz="800" spc="-30">
                <a:solidFill>
                  <a:srgbClr val="662A3F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64646"/>
                </a:solidFill>
                <a:latin typeface="Calibri"/>
                <a:cs typeface="Calibri"/>
              </a:rPr>
              <a:t>do</a:t>
            </a:r>
            <a:r>
              <a:rPr dirty="0" sz="800" spc="15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385EA7"/>
                </a:solidFill>
                <a:latin typeface="Calibri"/>
                <a:cs typeface="Calibri"/>
              </a:rPr>
              <a:t>for</a:t>
            </a:r>
            <a:r>
              <a:rPr dirty="0" sz="800" spc="500">
                <a:solidFill>
                  <a:srgbClr val="385EA7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1A1866"/>
                </a:solidFill>
                <a:latin typeface="Calibri"/>
                <a:cs typeface="Calibri"/>
              </a:rPr>
              <a:t>me?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996329" y="4409440"/>
            <a:ext cx="868680" cy="3670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 indent="-635">
              <a:lnSpc>
                <a:spcPct val="105700"/>
              </a:lnSpc>
              <a:spcBef>
                <a:spcPts val="125"/>
              </a:spcBef>
            </a:pPr>
            <a:r>
              <a:rPr dirty="0" sz="700">
                <a:solidFill>
                  <a:srgbClr val="666666"/>
                </a:solidFill>
                <a:latin typeface="Calibri"/>
                <a:cs typeface="Calibri"/>
              </a:rPr>
              <a:t>Learn</a:t>
            </a:r>
            <a:r>
              <a:rPr dirty="0" sz="700" spc="-3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Calibri"/>
                <a:cs typeface="Calibri"/>
              </a:rPr>
              <a:t>about</a:t>
            </a:r>
            <a:r>
              <a:rPr dirty="0" sz="700" spc="-5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646464"/>
                </a:solidFill>
                <a:latin typeface="Calibri"/>
                <a:cs typeface="Calibri"/>
              </a:rPr>
              <a:t>watsonx</a:t>
            </a:r>
            <a:r>
              <a:rPr dirty="0" sz="700" spc="500">
                <a:solidFill>
                  <a:srgbClr val="646464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646464"/>
                </a:solidFill>
                <a:latin typeface="Calibri"/>
                <a:cs typeface="Calibri"/>
              </a:rPr>
              <a:t>Orchestrate</a:t>
            </a:r>
            <a:r>
              <a:rPr dirty="0" sz="700" spc="50">
                <a:solidFill>
                  <a:srgbClr val="646464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56629C"/>
                </a:solidFill>
                <a:latin typeface="Calibri"/>
                <a:cs typeface="Calibri"/>
              </a:rPr>
              <a:t>AI</a:t>
            </a:r>
            <a:r>
              <a:rPr dirty="0" sz="700" spc="75">
                <a:solidFill>
                  <a:srgbClr val="56629C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696969"/>
                </a:solidFill>
                <a:latin typeface="Calibri"/>
                <a:cs typeface="Calibri"/>
              </a:rPr>
              <a:t>Agent</a:t>
            </a:r>
            <a:r>
              <a:rPr dirty="0" sz="700" spc="500">
                <a:solidFill>
                  <a:srgbClr val="69696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A1D3ED"/>
                </a:solidFill>
                <a:latin typeface="Calibri"/>
                <a:cs typeface="Calibri"/>
              </a:rPr>
              <a:t>and</a:t>
            </a:r>
            <a:r>
              <a:rPr dirty="0" sz="700" spc="-35">
                <a:solidFill>
                  <a:srgbClr val="A1D3ED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576B9A"/>
                </a:solidFill>
                <a:latin typeface="Calibri"/>
                <a:cs typeface="Calibri"/>
              </a:rPr>
              <a:t>Gen</a:t>
            </a:r>
            <a:r>
              <a:rPr dirty="0" sz="700" spc="-5">
                <a:solidFill>
                  <a:srgbClr val="576B9A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B5CDE4"/>
                </a:solidFill>
                <a:latin typeface="Calibri"/>
                <a:cs typeface="Calibri"/>
              </a:rPr>
              <a:t>AI</a:t>
            </a:r>
            <a:r>
              <a:rPr dirty="0" sz="700" spc="60">
                <a:solidFill>
                  <a:srgbClr val="B5CDE4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7E99C1"/>
                </a:solidFill>
                <a:latin typeface="Calibri"/>
                <a:cs typeface="Calibri"/>
              </a:rPr>
              <a:t>capabilities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174839" y="3994404"/>
            <a:ext cx="82804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484848"/>
                </a:solidFill>
                <a:latin typeface="Calibri"/>
                <a:cs typeface="Calibri"/>
              </a:rPr>
              <a:t>Formalize</a:t>
            </a:r>
            <a:r>
              <a:rPr dirty="0" sz="800" spc="3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64646"/>
                </a:solidFill>
                <a:latin typeface="Calibri"/>
                <a:cs typeface="Calibri"/>
              </a:rPr>
              <a:t>I'flessage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174789" y="4412233"/>
            <a:ext cx="852805" cy="255904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7780" marR="5080" indent="-5715">
              <a:lnSpc>
                <a:spcPct val="101299"/>
              </a:lnSpc>
              <a:spcBef>
                <a:spcPts val="85"/>
              </a:spcBef>
            </a:pPr>
            <a:r>
              <a:rPr dirty="0" sz="750" spc="-45">
                <a:solidFill>
                  <a:srgbClr val="676767"/>
                </a:solidFill>
                <a:latin typeface="Cambria"/>
                <a:cs typeface="Cambria"/>
              </a:rPr>
              <a:t>Cratt</a:t>
            </a:r>
            <a:r>
              <a:rPr dirty="0" sz="750" spc="30">
                <a:solidFill>
                  <a:srgbClr val="676767"/>
                </a:solidFill>
                <a:latin typeface="Cambria"/>
                <a:cs typeface="Cambria"/>
              </a:rPr>
              <a:t> </a:t>
            </a:r>
            <a:r>
              <a:rPr dirty="0" sz="750" spc="-20">
                <a:solidFill>
                  <a:srgbClr val="696969"/>
                </a:solidFill>
                <a:latin typeface="Cambria"/>
                <a:cs typeface="Cambria"/>
              </a:rPr>
              <a:t>more</a:t>
            </a:r>
            <a:r>
              <a:rPr dirty="0" sz="750" spc="500">
                <a:solidFill>
                  <a:srgbClr val="696969"/>
                </a:solidFill>
                <a:latin typeface="Cambria"/>
                <a:cs typeface="Cambria"/>
              </a:rPr>
              <a:t> </a:t>
            </a:r>
            <a:r>
              <a:rPr dirty="0" sz="750" spc="-50">
                <a:solidFill>
                  <a:srgbClr val="676767"/>
                </a:solidFill>
                <a:latin typeface="Cambria"/>
                <a:cs typeface="Cambria"/>
              </a:rPr>
              <a:t>professional</a:t>
            </a:r>
            <a:r>
              <a:rPr dirty="0" sz="750" spc="110">
                <a:solidFill>
                  <a:srgbClr val="676767"/>
                </a:solidFill>
                <a:latin typeface="Cambria"/>
                <a:cs typeface="Cambria"/>
              </a:rPr>
              <a:t> </a:t>
            </a:r>
            <a:r>
              <a:rPr dirty="0" sz="750" spc="-40">
                <a:solidFill>
                  <a:srgbClr val="696969"/>
                </a:solidFill>
                <a:latin typeface="Cambria"/>
                <a:cs typeface="Cambria"/>
              </a:rPr>
              <a:t>messages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9355953" y="3985260"/>
            <a:ext cx="863600" cy="28765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800">
                <a:solidFill>
                  <a:srgbClr val="262626"/>
                </a:solidFill>
                <a:latin typeface="Calibri"/>
                <a:cs typeface="Calibri"/>
              </a:rPr>
              <a:t>Summarize</a:t>
            </a:r>
            <a:r>
              <a:rPr dirty="0" sz="800" spc="5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333333"/>
                </a:solidFill>
                <a:latin typeface="Calibri"/>
                <a:cs typeface="Calibri"/>
              </a:rPr>
              <a:t>Meeting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800" spc="-10" b="1">
                <a:solidFill>
                  <a:srgbClr val="5B5B5B"/>
                </a:solidFill>
                <a:latin typeface="Calibri"/>
                <a:cs typeface="Calibri"/>
              </a:rPr>
              <a:t>Notes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9351900" y="4412233"/>
            <a:ext cx="829310" cy="255904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6510" marR="5080" indent="-4445">
              <a:lnSpc>
                <a:spcPct val="101299"/>
              </a:lnSpc>
              <a:spcBef>
                <a:spcPts val="85"/>
              </a:spcBef>
            </a:pPr>
            <a:r>
              <a:rPr dirty="0" sz="750" spc="-20">
                <a:solidFill>
                  <a:srgbClr val="676767"/>
                </a:solidFill>
                <a:latin typeface="Calibri"/>
                <a:cs typeface="Calibri"/>
              </a:rPr>
              <a:t>Bullet</a:t>
            </a:r>
            <a:r>
              <a:rPr dirty="0" sz="750">
                <a:solidFill>
                  <a:srgbClr val="676767"/>
                </a:solidFill>
                <a:latin typeface="Calibri"/>
                <a:cs typeface="Calibri"/>
              </a:rPr>
              <a:t> </a:t>
            </a:r>
            <a:r>
              <a:rPr dirty="0" sz="750" spc="-20">
                <a:solidFill>
                  <a:srgbClr val="696969"/>
                </a:solidFill>
                <a:latin typeface="Calibri"/>
                <a:cs typeface="Calibri"/>
              </a:rPr>
              <a:t>key</a:t>
            </a:r>
            <a:r>
              <a:rPr dirty="0" sz="750" spc="-30">
                <a:solidFill>
                  <a:srgbClr val="696969"/>
                </a:solidFill>
                <a:latin typeface="Calibri"/>
                <a:cs typeface="Calibri"/>
              </a:rPr>
              <a:t> </a:t>
            </a:r>
            <a:r>
              <a:rPr dirty="0" sz="750" spc="-25">
                <a:solidFill>
                  <a:srgbClr val="696969"/>
                </a:solidFill>
                <a:latin typeface="Calibri"/>
                <a:cs typeface="Calibri"/>
              </a:rPr>
              <a:t>points</a:t>
            </a:r>
            <a:r>
              <a:rPr dirty="0" sz="750" spc="20">
                <a:solidFill>
                  <a:srgbClr val="696969"/>
                </a:solidFill>
                <a:latin typeface="Calibri"/>
                <a:cs typeface="Calibri"/>
              </a:rPr>
              <a:t> </a:t>
            </a:r>
            <a:r>
              <a:rPr dirty="0" sz="750" spc="-40">
                <a:solidFill>
                  <a:srgbClr val="676767"/>
                </a:solidFill>
                <a:latin typeface="Calibri"/>
                <a:cs typeface="Calibri"/>
              </a:rPr>
              <a:t>from</a:t>
            </a:r>
            <a:r>
              <a:rPr dirty="0" sz="750" spc="500">
                <a:solidFill>
                  <a:srgbClr val="676767"/>
                </a:solidFill>
                <a:latin typeface="Calibri"/>
                <a:cs typeface="Calibri"/>
              </a:rPr>
              <a:t> </a:t>
            </a:r>
            <a:r>
              <a:rPr dirty="0" sz="750" spc="-35">
                <a:solidFill>
                  <a:srgbClr val="6D6D6D"/>
                </a:solidFill>
                <a:latin typeface="Calibri"/>
                <a:cs typeface="Calibri"/>
              </a:rPr>
              <a:t>meeting</a:t>
            </a:r>
            <a:r>
              <a:rPr dirty="0" sz="750" spc="-5">
                <a:solidFill>
                  <a:srgbClr val="6D6D6D"/>
                </a:solidFill>
                <a:latin typeface="Calibri"/>
                <a:cs typeface="Calibri"/>
              </a:rPr>
              <a:t> </a:t>
            </a:r>
            <a:r>
              <a:rPr dirty="0" sz="750" spc="-20">
                <a:solidFill>
                  <a:srgbClr val="626262"/>
                </a:solidFill>
                <a:latin typeface="Calibri"/>
                <a:cs typeface="Calibri"/>
              </a:rPr>
              <a:t>notes</a:t>
            </a:r>
            <a:endParaRPr sz="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Prompt</a:t>
            </a:r>
            <a:r>
              <a:rPr dirty="0" spc="-130"/>
              <a:t> </a:t>
            </a:r>
            <a:r>
              <a:rPr dirty="0"/>
              <a:t>with</a:t>
            </a:r>
            <a:r>
              <a:rPr dirty="0" spc="-110"/>
              <a:t> </a:t>
            </a:r>
            <a:r>
              <a:rPr dirty="0"/>
              <a:t>output</a:t>
            </a:r>
            <a:r>
              <a:rPr dirty="0" spc="-110"/>
              <a:t> </a:t>
            </a:r>
            <a:r>
              <a:rPr dirty="0" spc="-10"/>
              <a:t>Screenshot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7844" y="746759"/>
            <a:ext cx="9873742" cy="56631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19632" y="1324679"/>
            <a:ext cx="82536" cy="351159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0408" y="424271"/>
            <a:ext cx="225100" cy="21009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18020" y="2450189"/>
            <a:ext cx="3347085" cy="742950"/>
          </a:xfrm>
          <a:prstGeom prst="rect">
            <a:avLst/>
          </a:prstGeom>
          <a:solidFill>
            <a:srgbClr val="0C6EFD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900">
              <a:latin typeface="Times New Roman"/>
              <a:cs typeface="Times New Roman"/>
            </a:endParaRPr>
          </a:p>
          <a:p>
            <a:pPr marL="158750">
              <a:lnSpc>
                <a:spcPct val="100000"/>
              </a:lnSpc>
              <a:tabLst>
                <a:tab pos="629920" algn="l"/>
                <a:tab pos="1087755" algn="l"/>
                <a:tab pos="2464435" algn="l"/>
              </a:tabLst>
            </a:pPr>
            <a:r>
              <a:rPr dirty="0" sz="900" spc="-20">
                <a:solidFill>
                  <a:srgbClr val="FFFFFF"/>
                </a:solidFill>
                <a:latin typeface="Arial MT"/>
                <a:cs typeface="Arial MT"/>
              </a:rPr>
              <a:t>Give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	hue</a:t>
            </a:r>
            <a:r>
              <a:rPr dirty="0" sz="900" spc="3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50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	recom</a:t>
            </a:r>
            <a:r>
              <a:rPr dirty="0" sz="900" spc="-1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mendation</a:t>
            </a:r>
            <a:r>
              <a:rPr dirty="0" sz="900" spc="250">
                <a:solidFill>
                  <a:srgbClr val="FFFFFF"/>
                </a:solidFill>
                <a:latin typeface="Arial MT"/>
                <a:cs typeface="Arial MT"/>
              </a:rPr>
              <a:t>  </a:t>
            </a:r>
            <a:r>
              <a:rPr dirty="0" sz="900" spc="-25">
                <a:solidFill>
                  <a:srgbClr val="FFFFFF"/>
                </a:solidFill>
                <a:latin typeface="Arial MT"/>
                <a:cs typeface="Arial MT"/>
              </a:rPr>
              <a:t>ba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	on</a:t>
            </a:r>
            <a:r>
              <a:rPr dirty="0" sz="900" spc="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my</a:t>
            </a:r>
            <a:r>
              <a:rPr dirty="0" sz="900" spc="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health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12130" y="881979"/>
            <a:ext cx="97543" cy="75034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015970" y="364362"/>
            <a:ext cx="1916430" cy="316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900" b="0">
                <a:solidFill>
                  <a:srgbClr val="242424"/>
                </a:solidFill>
                <a:latin typeface="Arial MT"/>
                <a:cs typeface="Arial MT"/>
              </a:rPr>
              <a:t>Helix</a:t>
            </a:r>
            <a:r>
              <a:rPr dirty="0" sz="1900" spc="60" b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900" spc="-20" b="0">
                <a:solidFill>
                  <a:srgbClr val="242424"/>
                </a:solidFill>
                <a:latin typeface="Arial MT"/>
                <a:cs typeface="Arial MT"/>
              </a:rPr>
              <a:t>AI</a:t>
            </a:r>
            <a:r>
              <a:rPr dirty="0" sz="1900" spc="-120" b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900" spc="-10" b="0">
                <a:solidFill>
                  <a:srgbClr val="242424"/>
                </a:solidFill>
                <a:latin typeface="Arial MT"/>
                <a:cs typeface="Arial MT"/>
              </a:rPr>
              <a:t>Assistant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5372" y="740470"/>
            <a:ext cx="5241290" cy="490855"/>
          </a:xfrm>
          <a:prstGeom prst="rect">
            <a:avLst/>
          </a:prstGeom>
        </p:spPr>
        <p:txBody>
          <a:bodyPr wrap="square" lIns="0" tIns="99695" rIns="0" bIns="0" rtlCol="0" vert="horz">
            <a:spAutoFit/>
          </a:bodyPr>
          <a:lstStyle/>
          <a:p>
            <a:pPr marL="214629">
              <a:lnSpc>
                <a:spcPct val="100000"/>
              </a:lnSpc>
              <a:spcBef>
                <a:spcPts val="785"/>
              </a:spcBef>
            </a:pPr>
            <a:r>
              <a:rPr dirty="0" sz="950" spc="70">
                <a:solidFill>
                  <a:srgbClr val="242424"/>
                </a:solidFill>
                <a:latin typeface="Calibri"/>
                <a:cs typeface="Calibri"/>
              </a:rPr>
              <a:t>Hallx</a:t>
            </a:r>
            <a:r>
              <a:rPr dirty="0" sz="950" spc="1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950" spc="45">
                <a:solidFill>
                  <a:srgbClr val="855228"/>
                </a:solidFill>
                <a:latin typeface="Calibri"/>
                <a:cs typeface="Calibri"/>
              </a:rPr>
              <a:t>AI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 sz="950" spc="-10">
                <a:solidFill>
                  <a:srgbClr val="97CFFF"/>
                </a:solidFill>
                <a:latin typeface="Arial MT"/>
                <a:cs typeface="Arial MT"/>
              </a:rPr>
              <a:t>Hello!</a:t>
            </a:r>
            <a:r>
              <a:rPr dirty="0" sz="950" spc="-20">
                <a:solidFill>
                  <a:srgbClr val="97CFFF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B87BC"/>
                </a:solidFill>
                <a:latin typeface="Arial MT"/>
                <a:cs typeface="Arial MT"/>
              </a:rPr>
              <a:t>I'm</a:t>
            </a:r>
            <a:r>
              <a:rPr dirty="0" sz="950" spc="40">
                <a:solidFill>
                  <a:srgbClr val="6B87BC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87BFD8"/>
                </a:solidFill>
                <a:latin typeface="Arial MT"/>
                <a:cs typeface="Arial MT"/>
              </a:rPr>
              <a:t>your</a:t>
            </a:r>
            <a:r>
              <a:rPr dirty="0" sz="950" spc="20">
                <a:solidFill>
                  <a:srgbClr val="87BF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B87BC"/>
                </a:solidFill>
                <a:latin typeface="Arial MT"/>
                <a:cs typeface="Arial MT"/>
              </a:rPr>
              <a:t>Helix</a:t>
            </a:r>
            <a:r>
              <a:rPr dirty="0" sz="950" spc="95">
                <a:solidFill>
                  <a:srgbClr val="6B87BC"/>
                </a:solidFill>
                <a:latin typeface="Arial MT"/>
                <a:cs typeface="Arial MT"/>
              </a:rPr>
              <a:t> </a:t>
            </a:r>
            <a:r>
              <a:rPr dirty="0" sz="950" spc="-40">
                <a:solidFill>
                  <a:srgbClr val="70979E"/>
                </a:solidFill>
                <a:latin typeface="Arial MT"/>
                <a:cs typeface="Arial MT"/>
              </a:rPr>
              <a:t>AI</a:t>
            </a:r>
            <a:r>
              <a:rPr dirty="0" sz="950" spc="-20">
                <a:solidFill>
                  <a:srgbClr val="70979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B75A3"/>
                </a:solidFill>
                <a:latin typeface="Arial MT"/>
                <a:cs typeface="Arial MT"/>
              </a:rPr>
              <a:t>healthcare</a:t>
            </a:r>
            <a:r>
              <a:rPr dirty="0" sz="950" spc="60">
                <a:solidFill>
                  <a:srgbClr val="6B75A3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7EB3E6"/>
                </a:solidFill>
                <a:latin typeface="Arial MT"/>
                <a:cs typeface="Arial MT"/>
              </a:rPr>
              <a:t>companion.</a:t>
            </a:r>
            <a:r>
              <a:rPr dirty="0" sz="950" spc="105">
                <a:solidFill>
                  <a:srgbClr val="7EB3E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97CFFF"/>
                </a:solidFill>
                <a:latin typeface="Arial MT"/>
                <a:cs typeface="Arial MT"/>
              </a:rPr>
              <a:t>How</a:t>
            </a:r>
            <a:r>
              <a:rPr dirty="0" sz="950" spc="50">
                <a:solidFill>
                  <a:srgbClr val="97CFFF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A0D4FF"/>
                </a:solidFill>
                <a:latin typeface="Arial MT"/>
                <a:cs typeface="Arial MT"/>
              </a:rPr>
              <a:t>can</a:t>
            </a:r>
            <a:r>
              <a:rPr dirty="0" sz="950" spc="-40">
                <a:solidFill>
                  <a:srgbClr val="A0D4FF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97CFFF"/>
                </a:solidFill>
                <a:latin typeface="Arial MT"/>
                <a:cs typeface="Arial MT"/>
              </a:rPr>
              <a:t>I</a:t>
            </a:r>
            <a:r>
              <a:rPr dirty="0" sz="950" spc="-60">
                <a:solidFill>
                  <a:srgbClr val="97CFFF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97C6ED"/>
                </a:solidFill>
                <a:latin typeface="Arial MT"/>
                <a:cs typeface="Arial MT"/>
              </a:rPr>
              <a:t>assist</a:t>
            </a:r>
            <a:r>
              <a:rPr dirty="0" sz="950" spc="80">
                <a:solidFill>
                  <a:srgbClr val="97C6ED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70A5D8"/>
                </a:solidFill>
                <a:latin typeface="Arial MT"/>
                <a:cs typeface="Arial MT"/>
              </a:rPr>
              <a:t>you</a:t>
            </a:r>
            <a:r>
              <a:rPr dirty="0" sz="950" spc="5">
                <a:solidFill>
                  <a:srgbClr val="70A5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87BFD1"/>
                </a:solidFill>
                <a:latin typeface="Arial MT"/>
                <a:cs typeface="Arial MT"/>
              </a:rPr>
              <a:t>with</a:t>
            </a:r>
            <a:r>
              <a:rPr dirty="0" sz="950" spc="60">
                <a:solidFill>
                  <a:srgbClr val="87BFD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79878E"/>
                </a:solidFill>
                <a:latin typeface="Arial MT"/>
                <a:cs typeface="Arial MT"/>
              </a:rPr>
              <a:t>your</a:t>
            </a:r>
            <a:r>
              <a:rPr dirty="0" sz="950" spc="35">
                <a:solidFill>
                  <a:srgbClr val="79878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97CFFF"/>
                </a:solidFill>
                <a:latin typeface="Arial MT"/>
                <a:cs typeface="Arial MT"/>
              </a:rPr>
              <a:t>health</a:t>
            </a:r>
            <a:r>
              <a:rPr dirty="0" sz="950" spc="-15">
                <a:solidFill>
                  <a:srgbClr val="97CFFF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B75A3"/>
                </a:solidFill>
                <a:latin typeface="Arial MT"/>
                <a:cs typeface="Arial MT"/>
              </a:rPr>
              <a:t>data</a:t>
            </a:r>
            <a:r>
              <a:rPr dirty="0" sz="950" spc="20">
                <a:solidFill>
                  <a:srgbClr val="6B75A3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6B9ED1"/>
                </a:solidFill>
                <a:latin typeface="Arial MT"/>
                <a:cs typeface="Arial MT"/>
              </a:rPr>
              <a:t>today?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51654" y="1640878"/>
            <a:ext cx="3994150" cy="490855"/>
          </a:xfrm>
          <a:prstGeom prst="rect">
            <a:avLst/>
          </a:prstGeom>
        </p:spPr>
        <p:txBody>
          <a:bodyPr wrap="square" lIns="0" tIns="99695" rIns="0" bIns="0" rtlCol="0" vert="horz">
            <a:spAutoFit/>
          </a:bodyPr>
          <a:lstStyle/>
          <a:p>
            <a:pPr marL="218440">
              <a:lnSpc>
                <a:spcPct val="100000"/>
              </a:lnSpc>
              <a:spcBef>
                <a:spcPts val="785"/>
              </a:spcBef>
            </a:pPr>
            <a:r>
              <a:rPr dirty="0" sz="950" spc="70">
                <a:solidFill>
                  <a:srgbClr val="242424"/>
                </a:solidFill>
                <a:latin typeface="Calibri"/>
                <a:cs typeface="Calibri"/>
              </a:rPr>
              <a:t>Hallx</a:t>
            </a:r>
            <a:r>
              <a:rPr dirty="0" sz="950" spc="1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950" spc="45">
                <a:solidFill>
                  <a:srgbClr val="855228"/>
                </a:solidFill>
                <a:latin typeface="Calibri"/>
                <a:cs typeface="Calibri"/>
              </a:rPr>
              <a:t>AI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 sz="950">
                <a:solidFill>
                  <a:srgbClr val="B8EDFF"/>
                </a:solidFill>
                <a:latin typeface="Arial MT"/>
                <a:cs typeface="Arial MT"/>
              </a:rPr>
              <a:t>Conversation </a:t>
            </a:r>
            <a:r>
              <a:rPr dirty="0" sz="950">
                <a:solidFill>
                  <a:srgbClr val="6B75A3"/>
                </a:solidFill>
                <a:latin typeface="Arial MT"/>
                <a:cs typeface="Arial MT"/>
              </a:rPr>
              <a:t>memory</a:t>
            </a:r>
            <a:r>
              <a:rPr dirty="0" sz="950" spc="35">
                <a:solidFill>
                  <a:srgbClr val="6B75A3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B87BC"/>
                </a:solidFill>
                <a:latin typeface="Arial MT"/>
                <a:cs typeface="Arial MT"/>
              </a:rPr>
              <a:t>has</a:t>
            </a:r>
            <a:r>
              <a:rPr dirty="0" sz="950" spc="-45">
                <a:solidFill>
                  <a:srgbClr val="6B87BC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B7580"/>
                </a:solidFill>
                <a:latin typeface="Arial MT"/>
                <a:cs typeface="Arial MT"/>
              </a:rPr>
              <a:t>been</a:t>
            </a:r>
            <a:r>
              <a:rPr dirty="0" sz="950" spc="40">
                <a:solidFill>
                  <a:srgbClr val="6B7580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AAD4ED"/>
                </a:solidFill>
                <a:latin typeface="Arial MT"/>
                <a:cs typeface="Arial MT"/>
              </a:rPr>
              <a:t>cleared.</a:t>
            </a:r>
            <a:r>
              <a:rPr dirty="0" sz="950" spc="80">
                <a:solidFill>
                  <a:srgbClr val="AAD4ED"/>
                </a:solidFill>
                <a:latin typeface="Arial MT"/>
                <a:cs typeface="Arial MT"/>
              </a:rPr>
              <a:t> </a:t>
            </a:r>
            <a:r>
              <a:rPr dirty="0" sz="950" spc="-25">
                <a:solidFill>
                  <a:srgbClr val="6B9ED1"/>
                </a:solidFill>
                <a:latin typeface="Arial MT"/>
                <a:cs typeface="Arial MT"/>
              </a:rPr>
              <a:t>You</a:t>
            </a:r>
            <a:r>
              <a:rPr dirty="0" sz="950" spc="20">
                <a:solidFill>
                  <a:srgbClr val="6B9ED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B75A3"/>
                </a:solidFill>
                <a:latin typeface="Arial MT"/>
                <a:cs typeface="Arial MT"/>
              </a:rPr>
              <a:t>are</a:t>
            </a:r>
            <a:r>
              <a:rPr dirty="0" sz="950" spc="45">
                <a:solidFill>
                  <a:srgbClr val="6B75A3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91C3E6"/>
                </a:solidFill>
                <a:latin typeface="Arial MT"/>
                <a:cs typeface="Arial MT"/>
              </a:rPr>
              <a:t>starting</a:t>
            </a:r>
            <a:r>
              <a:rPr dirty="0" sz="950" spc="-5">
                <a:solidFill>
                  <a:srgbClr val="91C3E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97C6ED"/>
                </a:solidFill>
                <a:latin typeface="Arial MT"/>
                <a:cs typeface="Arial MT"/>
              </a:rPr>
              <a:t>a</a:t>
            </a:r>
            <a:r>
              <a:rPr dirty="0" sz="950" spc="-10">
                <a:solidFill>
                  <a:srgbClr val="97C6ED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B75A3"/>
                </a:solidFill>
                <a:latin typeface="Arial MT"/>
                <a:cs typeface="Arial MT"/>
              </a:rPr>
              <a:t>fresh</a:t>
            </a:r>
            <a:r>
              <a:rPr dirty="0" sz="950" spc="25">
                <a:solidFill>
                  <a:srgbClr val="6B75A3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6B87BC"/>
                </a:solidFill>
                <a:latin typeface="Arial MT"/>
                <a:cs typeface="Arial MT"/>
              </a:rPr>
              <a:t>session.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44265" y="3419186"/>
            <a:ext cx="7228840" cy="1774189"/>
          </a:xfrm>
          <a:prstGeom prst="rect">
            <a:avLst/>
          </a:prstGeom>
        </p:spPr>
        <p:txBody>
          <a:bodyPr wrap="square" lIns="0" tIns="99695" rIns="0" bIns="0" rtlCol="0" vert="horz">
            <a:spAutoFit/>
          </a:bodyPr>
          <a:lstStyle/>
          <a:p>
            <a:pPr marL="225425">
              <a:lnSpc>
                <a:spcPct val="100000"/>
              </a:lnSpc>
              <a:spcBef>
                <a:spcPts val="785"/>
              </a:spcBef>
            </a:pPr>
            <a:r>
              <a:rPr dirty="0" sz="950" spc="70">
                <a:solidFill>
                  <a:srgbClr val="242424"/>
                </a:solidFill>
                <a:latin typeface="Calibri"/>
                <a:cs typeface="Calibri"/>
              </a:rPr>
              <a:t>Hallx</a:t>
            </a:r>
            <a:r>
              <a:rPr dirty="0" sz="950" spc="1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950" spc="45">
                <a:solidFill>
                  <a:srgbClr val="855228"/>
                </a:solidFill>
                <a:latin typeface="Calibri"/>
                <a:cs typeface="Calibri"/>
              </a:rPr>
              <a:t>AI</a:t>
            </a:r>
            <a:endParaRPr sz="950">
              <a:latin typeface="Calibri"/>
              <a:cs typeface="Calibri"/>
            </a:endParaRPr>
          </a:p>
          <a:p>
            <a:pPr marL="24130">
              <a:lnSpc>
                <a:spcPct val="100000"/>
              </a:lnSpc>
              <a:spcBef>
                <a:spcPts val="690"/>
              </a:spcBef>
            </a:pPr>
            <a:r>
              <a:rPr dirty="0" sz="950" spc="-20">
                <a:solidFill>
                  <a:srgbClr val="91C3F2"/>
                </a:solidFill>
                <a:latin typeface="Arial MT"/>
                <a:cs typeface="Arial MT"/>
              </a:rPr>
              <a:t>Based</a:t>
            </a:r>
            <a:r>
              <a:rPr dirty="0" sz="950" spc="45">
                <a:solidFill>
                  <a:srgbClr val="91C3F2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A0D4FF"/>
                </a:solidFill>
                <a:latin typeface="Arial MT"/>
                <a:cs typeface="Arial MT"/>
              </a:rPr>
              <a:t>on</a:t>
            </a:r>
            <a:r>
              <a:rPr dirty="0" sz="950" spc="95">
                <a:solidFill>
                  <a:srgbClr val="A0D4FF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79878E"/>
                </a:solidFill>
                <a:latin typeface="Arial MT"/>
                <a:cs typeface="Arial MT"/>
              </a:rPr>
              <a:t>your</a:t>
            </a:r>
            <a:r>
              <a:rPr dirty="0" sz="950" spc="85">
                <a:solidFill>
                  <a:srgbClr val="79878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97CFFF"/>
                </a:solidFill>
                <a:latin typeface="Arial MT"/>
                <a:cs typeface="Arial MT"/>
              </a:rPr>
              <a:t>health</a:t>
            </a:r>
            <a:r>
              <a:rPr dirty="0" sz="950" spc="100">
                <a:solidFill>
                  <a:srgbClr val="97CFFF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6B758E"/>
                </a:solidFill>
                <a:latin typeface="Arial MT"/>
                <a:cs typeface="Arial MT"/>
              </a:rPr>
              <a:t>data,</a:t>
            </a:r>
            <a:r>
              <a:rPr dirty="0" sz="950" spc="35">
                <a:solidFill>
                  <a:srgbClr val="6B758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B758E"/>
                </a:solidFill>
                <a:latin typeface="Arial MT"/>
                <a:cs typeface="Arial MT"/>
              </a:rPr>
              <a:t>the</a:t>
            </a:r>
            <a:r>
              <a:rPr dirty="0" sz="950" spc="-5">
                <a:solidFill>
                  <a:srgbClr val="6B758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B75A3"/>
                </a:solidFill>
                <a:latin typeface="Arial MT"/>
                <a:cs typeface="Arial MT"/>
              </a:rPr>
              <a:t>lifestyle</a:t>
            </a:r>
            <a:r>
              <a:rPr dirty="0" sz="950" spc="50">
                <a:solidFill>
                  <a:srgbClr val="6B75A3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7EB5E9"/>
                </a:solidFill>
                <a:latin typeface="Arial MT"/>
                <a:cs typeface="Arial MT"/>
              </a:rPr>
              <a:t>recommendations</a:t>
            </a:r>
            <a:r>
              <a:rPr dirty="0" sz="950" spc="-20">
                <a:solidFill>
                  <a:srgbClr val="7EB5E9"/>
                </a:solidFill>
                <a:latin typeface="Arial MT"/>
                <a:cs typeface="Arial MT"/>
              </a:rPr>
              <a:t> </a:t>
            </a:r>
            <a:r>
              <a:rPr dirty="0" sz="950" spc="-20">
                <a:solidFill>
                  <a:srgbClr val="6B75A3"/>
                </a:solidFill>
                <a:latin typeface="Arial MT"/>
                <a:cs typeface="Arial MT"/>
              </a:rPr>
              <a:t>are:</a:t>
            </a:r>
            <a:endParaRPr sz="950">
              <a:latin typeface="Arial MT"/>
              <a:cs typeface="Arial MT"/>
            </a:endParaRPr>
          </a:p>
          <a:p>
            <a:pPr marL="128270" indent="-115570">
              <a:lnSpc>
                <a:spcPct val="100000"/>
              </a:lnSpc>
              <a:spcBef>
                <a:spcPts val="280"/>
              </a:spcBef>
              <a:buClr>
                <a:srgbClr val="97CFFF"/>
              </a:buClr>
              <a:buAutoNum type="arabicPeriod"/>
              <a:tabLst>
                <a:tab pos="128270" algn="l"/>
              </a:tabLst>
            </a:pPr>
            <a:r>
              <a:rPr dirty="0" sz="950">
                <a:solidFill>
                  <a:srgbClr val="D4B58E"/>
                </a:solidFill>
                <a:latin typeface="Arial MT"/>
                <a:cs typeface="Arial MT"/>
              </a:rPr>
              <a:t>Monitor</a:t>
            </a:r>
            <a:r>
              <a:rPr dirty="0" sz="950" spc="105">
                <a:solidFill>
                  <a:srgbClr val="D4B58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79878E"/>
                </a:solidFill>
                <a:latin typeface="Arial MT"/>
                <a:cs typeface="Arial MT"/>
              </a:rPr>
              <a:t>your</a:t>
            </a:r>
            <a:r>
              <a:rPr dirty="0" sz="950" spc="25">
                <a:solidFill>
                  <a:srgbClr val="79878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B779E"/>
                </a:solidFill>
                <a:latin typeface="Arial MT"/>
                <a:cs typeface="Arial MT"/>
              </a:rPr>
              <a:t>vitals</a:t>
            </a:r>
            <a:r>
              <a:rPr dirty="0" sz="950" spc="70">
                <a:solidFill>
                  <a:srgbClr val="6B779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AAD4ED"/>
                </a:solidFill>
                <a:latin typeface="Arial MT"/>
                <a:cs typeface="Arial MT"/>
              </a:rPr>
              <a:t>closely, </a:t>
            </a:r>
            <a:r>
              <a:rPr dirty="0" sz="950">
                <a:solidFill>
                  <a:srgbClr val="97C6ED"/>
                </a:solidFill>
                <a:latin typeface="Arial MT"/>
                <a:cs typeface="Arial MT"/>
              </a:rPr>
              <a:t>as</a:t>
            </a:r>
            <a:r>
              <a:rPr dirty="0" sz="950" spc="10">
                <a:solidFill>
                  <a:srgbClr val="97C6ED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B87BC"/>
                </a:solidFill>
                <a:latin typeface="Arial MT"/>
                <a:cs typeface="Arial MT"/>
              </a:rPr>
              <a:t>there</a:t>
            </a:r>
            <a:r>
              <a:rPr dirty="0" sz="950" spc="50">
                <a:solidFill>
                  <a:srgbClr val="6B87BC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97CFFF"/>
                </a:solidFill>
                <a:latin typeface="Arial MT"/>
                <a:cs typeface="Arial MT"/>
              </a:rPr>
              <a:t>have</a:t>
            </a:r>
            <a:r>
              <a:rPr dirty="0" sz="950" spc="50">
                <a:solidFill>
                  <a:srgbClr val="97CFFF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707989"/>
                </a:solidFill>
                <a:latin typeface="Arial MT"/>
                <a:cs typeface="Arial MT"/>
              </a:rPr>
              <a:t>been</a:t>
            </a:r>
            <a:r>
              <a:rPr dirty="0" sz="950" spc="45">
                <a:solidFill>
                  <a:srgbClr val="707989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83AED8"/>
                </a:solidFill>
                <a:latin typeface="Arial MT"/>
                <a:cs typeface="Arial MT"/>
              </a:rPr>
              <a:t>dynamic</a:t>
            </a:r>
            <a:r>
              <a:rPr dirty="0" sz="950" spc="90">
                <a:solidFill>
                  <a:srgbClr val="83AE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B87BC"/>
                </a:solidFill>
                <a:latin typeface="Arial MT"/>
                <a:cs typeface="Arial MT"/>
              </a:rPr>
              <a:t>trends</a:t>
            </a:r>
            <a:r>
              <a:rPr dirty="0" sz="950" spc="10">
                <a:solidFill>
                  <a:srgbClr val="6B87BC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B75A3"/>
                </a:solidFill>
                <a:latin typeface="Arial MT"/>
                <a:cs typeface="Arial MT"/>
              </a:rPr>
              <a:t>in</a:t>
            </a:r>
            <a:r>
              <a:rPr dirty="0" sz="950" spc="30">
                <a:solidFill>
                  <a:srgbClr val="6B75A3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87BFD8"/>
                </a:solidFill>
                <a:latin typeface="Arial MT"/>
                <a:cs typeface="Arial MT"/>
              </a:rPr>
              <a:t>your</a:t>
            </a:r>
            <a:r>
              <a:rPr dirty="0" sz="950" spc="35">
                <a:solidFill>
                  <a:srgbClr val="87BF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7EB5E9"/>
                </a:solidFill>
                <a:latin typeface="Arial MT"/>
                <a:cs typeface="Arial MT"/>
              </a:rPr>
              <a:t>recent</a:t>
            </a:r>
            <a:r>
              <a:rPr dirty="0" sz="950" spc="30">
                <a:solidFill>
                  <a:srgbClr val="7EB5E9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B75A3"/>
                </a:solidFill>
                <a:latin typeface="Arial MT"/>
                <a:cs typeface="Arial MT"/>
              </a:rPr>
              <a:t>readings.</a:t>
            </a:r>
            <a:r>
              <a:rPr dirty="0" sz="950" spc="25">
                <a:solidFill>
                  <a:srgbClr val="6B75A3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6B87BC"/>
                </a:solidFill>
                <a:latin typeface="Arial MT"/>
                <a:cs typeface="Arial MT"/>
              </a:rPr>
              <a:t>Please</a:t>
            </a:r>
            <a:r>
              <a:rPr dirty="0" sz="950" spc="35">
                <a:solidFill>
                  <a:srgbClr val="6B87BC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D4AE91"/>
                </a:solidFill>
                <a:latin typeface="Arial MT"/>
                <a:cs typeface="Arial MT"/>
              </a:rPr>
              <a:t>continue </a:t>
            </a:r>
            <a:r>
              <a:rPr dirty="0" sz="950">
                <a:solidFill>
                  <a:srgbClr val="6B75A3"/>
                </a:solidFill>
                <a:latin typeface="Arial MT"/>
                <a:cs typeface="Arial MT"/>
              </a:rPr>
              <a:t>logging</a:t>
            </a:r>
            <a:r>
              <a:rPr dirty="0" sz="950" spc="20">
                <a:solidFill>
                  <a:srgbClr val="6B75A3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87BFD8"/>
                </a:solidFill>
                <a:latin typeface="Arial MT"/>
                <a:cs typeface="Arial MT"/>
              </a:rPr>
              <a:t>your</a:t>
            </a:r>
            <a:r>
              <a:rPr dirty="0" sz="950" spc="85">
                <a:solidFill>
                  <a:srgbClr val="87BF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79878E"/>
                </a:solidFill>
                <a:latin typeface="Arial MT"/>
                <a:cs typeface="Arial MT"/>
              </a:rPr>
              <a:t>vitals</a:t>
            </a:r>
            <a:r>
              <a:rPr dirty="0" sz="950" spc="15">
                <a:solidFill>
                  <a:srgbClr val="79878E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83AED8"/>
                </a:solidFill>
                <a:latin typeface="Arial MT"/>
                <a:cs typeface="Arial MT"/>
              </a:rPr>
              <a:t>daily.</a:t>
            </a:r>
            <a:endParaRPr sz="950">
              <a:latin typeface="Arial MT"/>
              <a:cs typeface="Arial MT"/>
            </a:endParaRPr>
          </a:p>
          <a:p>
            <a:pPr marL="157480" indent="-135255">
              <a:lnSpc>
                <a:spcPct val="100000"/>
              </a:lnSpc>
              <a:spcBef>
                <a:spcPts val="335"/>
              </a:spcBef>
              <a:buClr>
                <a:srgbClr val="6B83AF"/>
              </a:buClr>
              <a:buAutoNum type="arabicPeriod"/>
              <a:tabLst>
                <a:tab pos="157480" algn="l"/>
              </a:tabLst>
            </a:pPr>
            <a:r>
              <a:rPr dirty="0" sz="950">
                <a:solidFill>
                  <a:srgbClr val="91C3F2"/>
                </a:solidFill>
                <a:latin typeface="Arial MT"/>
                <a:cs typeface="Arial MT"/>
              </a:rPr>
              <a:t>Drink</a:t>
            </a:r>
            <a:r>
              <a:rPr dirty="0" sz="950" spc="-35">
                <a:solidFill>
                  <a:srgbClr val="91C3F2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97C6ED"/>
                </a:solidFill>
                <a:latin typeface="Arial MT"/>
                <a:cs typeface="Arial MT"/>
              </a:rPr>
              <a:t>at</a:t>
            </a:r>
            <a:r>
              <a:rPr dirty="0" sz="950" spc="35">
                <a:solidFill>
                  <a:srgbClr val="97C6ED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97CFFF"/>
                </a:solidFill>
                <a:latin typeface="Arial MT"/>
                <a:cs typeface="Arial MT"/>
              </a:rPr>
              <a:t>least</a:t>
            </a:r>
            <a:r>
              <a:rPr dirty="0" sz="950" spc="30">
                <a:solidFill>
                  <a:srgbClr val="97CFFF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B75A3"/>
                </a:solidFill>
                <a:latin typeface="Arial MT"/>
                <a:cs typeface="Arial MT"/>
              </a:rPr>
              <a:t>8</a:t>
            </a:r>
            <a:r>
              <a:rPr dirty="0" sz="950" spc="15">
                <a:solidFill>
                  <a:srgbClr val="6B75A3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A0D4FF"/>
                </a:solidFill>
                <a:latin typeface="Arial MT"/>
                <a:cs typeface="Arial MT"/>
              </a:rPr>
              <a:t>glasses</a:t>
            </a:r>
            <a:r>
              <a:rPr dirty="0" sz="950" spc="15">
                <a:solidFill>
                  <a:srgbClr val="A0D4FF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B7589"/>
                </a:solidFill>
                <a:latin typeface="Arial MT"/>
                <a:cs typeface="Arial MT"/>
              </a:rPr>
              <a:t>of</a:t>
            </a:r>
            <a:r>
              <a:rPr dirty="0" sz="950" spc="75">
                <a:solidFill>
                  <a:srgbClr val="6B7589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707B80"/>
                </a:solidFill>
                <a:latin typeface="Arial MT"/>
                <a:cs typeface="Arial MT"/>
              </a:rPr>
              <a:t>water</a:t>
            </a:r>
            <a:r>
              <a:rPr dirty="0" sz="950" spc="45">
                <a:solidFill>
                  <a:srgbClr val="707B80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B757C"/>
                </a:solidFill>
                <a:latin typeface="Arial MT"/>
                <a:cs typeface="Arial MT"/>
              </a:rPr>
              <a:t>a</a:t>
            </a:r>
            <a:r>
              <a:rPr dirty="0" sz="950" spc="-40">
                <a:solidFill>
                  <a:srgbClr val="6B757C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19E7C"/>
                </a:solidFill>
                <a:latin typeface="Arial MT"/>
                <a:cs typeface="Arial MT"/>
              </a:rPr>
              <a:t>day</a:t>
            </a:r>
            <a:r>
              <a:rPr dirty="0" sz="950" spc="25">
                <a:solidFill>
                  <a:srgbClr val="C19E7C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6B38E"/>
                </a:solidFill>
                <a:latin typeface="Arial MT"/>
                <a:cs typeface="Arial MT"/>
              </a:rPr>
              <a:t>and</a:t>
            </a:r>
            <a:r>
              <a:rPr dirty="0" sz="950" spc="15">
                <a:solidFill>
                  <a:srgbClr val="C6B38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B75A3"/>
                </a:solidFill>
                <a:latin typeface="Arial MT"/>
                <a:cs typeface="Arial MT"/>
              </a:rPr>
              <a:t>adjust</a:t>
            </a:r>
            <a:r>
              <a:rPr dirty="0" sz="950" spc="80">
                <a:solidFill>
                  <a:srgbClr val="6B75A3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707989"/>
                </a:solidFill>
                <a:latin typeface="Arial MT"/>
                <a:cs typeface="Arial MT"/>
              </a:rPr>
              <a:t>based</a:t>
            </a:r>
            <a:r>
              <a:rPr dirty="0" sz="950" spc="55">
                <a:solidFill>
                  <a:srgbClr val="707989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B7589"/>
                </a:solidFill>
                <a:latin typeface="Arial MT"/>
                <a:cs typeface="Arial MT"/>
              </a:rPr>
              <a:t>on </a:t>
            </a:r>
            <a:r>
              <a:rPr dirty="0" sz="950">
                <a:solidFill>
                  <a:srgbClr val="AAD4ED"/>
                </a:solidFill>
                <a:latin typeface="Arial MT"/>
                <a:cs typeface="Arial MT"/>
              </a:rPr>
              <a:t>climate</a:t>
            </a:r>
            <a:r>
              <a:rPr dirty="0" sz="950" spc="20">
                <a:solidFill>
                  <a:srgbClr val="AAD4ED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6B38E"/>
                </a:solidFill>
                <a:latin typeface="Arial MT"/>
                <a:cs typeface="Arial MT"/>
              </a:rPr>
              <a:t>and</a:t>
            </a:r>
            <a:r>
              <a:rPr dirty="0" sz="950" spc="-45">
                <a:solidFill>
                  <a:srgbClr val="C6B38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B75A3"/>
                </a:solidFill>
                <a:latin typeface="Arial MT"/>
                <a:cs typeface="Arial MT"/>
              </a:rPr>
              <a:t>activity</a:t>
            </a:r>
            <a:r>
              <a:rPr dirty="0" sz="950" spc="5">
                <a:solidFill>
                  <a:srgbClr val="6B75A3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B87BC"/>
                </a:solidFill>
                <a:latin typeface="Arial MT"/>
                <a:cs typeface="Arial MT"/>
              </a:rPr>
              <a:t>levels</a:t>
            </a:r>
            <a:r>
              <a:rPr dirty="0" sz="950" spc="25">
                <a:solidFill>
                  <a:srgbClr val="6B87BC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B75A3"/>
                </a:solidFill>
                <a:latin typeface="Arial MT"/>
                <a:cs typeface="Arial MT"/>
              </a:rPr>
              <a:t>for</a:t>
            </a:r>
            <a:r>
              <a:rPr dirty="0" sz="950" spc="20">
                <a:solidFill>
                  <a:srgbClr val="6B75A3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7EB3E6"/>
                </a:solidFill>
                <a:latin typeface="Arial MT"/>
                <a:cs typeface="Arial MT"/>
              </a:rPr>
              <a:t>consistent</a:t>
            </a:r>
            <a:r>
              <a:rPr dirty="0" sz="950" spc="35">
                <a:solidFill>
                  <a:srgbClr val="7EB3E6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6B87BC"/>
                </a:solidFill>
                <a:latin typeface="Arial MT"/>
                <a:cs typeface="Arial MT"/>
              </a:rPr>
              <a:t>hydration.</a:t>
            </a:r>
            <a:endParaRPr sz="950">
              <a:latin typeface="Arial MT"/>
              <a:cs typeface="Arial MT"/>
            </a:endParaRPr>
          </a:p>
          <a:p>
            <a:pPr marL="150495" indent="-129539">
              <a:lnSpc>
                <a:spcPct val="100000"/>
              </a:lnSpc>
              <a:spcBef>
                <a:spcPts val="280"/>
              </a:spcBef>
              <a:buClr>
                <a:srgbClr val="83A8D4"/>
              </a:buClr>
              <a:buAutoNum type="arabicPeriod"/>
              <a:tabLst>
                <a:tab pos="150495" algn="l"/>
              </a:tabLst>
            </a:pPr>
            <a:r>
              <a:rPr dirty="0" sz="950">
                <a:solidFill>
                  <a:srgbClr val="D4B58E"/>
                </a:solidFill>
                <a:latin typeface="Arial MT"/>
                <a:cs typeface="Arial MT"/>
              </a:rPr>
              <a:t>Maintain</a:t>
            </a:r>
            <a:r>
              <a:rPr dirty="0" sz="950" spc="65">
                <a:solidFill>
                  <a:srgbClr val="D4B58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6B38E"/>
                </a:solidFill>
                <a:latin typeface="Arial MT"/>
                <a:cs typeface="Arial MT"/>
              </a:rPr>
              <a:t>a</a:t>
            </a:r>
            <a:r>
              <a:rPr dirty="0" sz="950" spc="45">
                <a:solidFill>
                  <a:srgbClr val="C6B38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B758E"/>
                </a:solidFill>
                <a:latin typeface="Arial MT"/>
                <a:cs typeface="Arial MT"/>
              </a:rPr>
              <a:t>diet </a:t>
            </a:r>
            <a:r>
              <a:rPr dirty="0" sz="950">
                <a:solidFill>
                  <a:srgbClr val="6B75A3"/>
                </a:solidFill>
                <a:latin typeface="Arial MT"/>
                <a:cs typeface="Arial MT"/>
              </a:rPr>
              <a:t>rich</a:t>
            </a:r>
            <a:r>
              <a:rPr dirty="0" sz="950" spc="-20">
                <a:solidFill>
                  <a:srgbClr val="6B75A3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7EB5E9"/>
                </a:solidFill>
                <a:latin typeface="Arial MT"/>
                <a:cs typeface="Arial MT"/>
              </a:rPr>
              <a:t>in</a:t>
            </a:r>
            <a:r>
              <a:rPr dirty="0" sz="950" spc="-35">
                <a:solidFill>
                  <a:srgbClr val="7EB5E9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B3877C"/>
                </a:solidFill>
                <a:latin typeface="Arial MT"/>
                <a:cs typeface="Arial MT"/>
              </a:rPr>
              <a:t>fruits,</a:t>
            </a:r>
            <a:r>
              <a:rPr dirty="0" sz="950" spc="-15">
                <a:solidFill>
                  <a:srgbClr val="B3877C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70A7D8"/>
                </a:solidFill>
                <a:latin typeface="Arial MT"/>
                <a:cs typeface="Arial MT"/>
              </a:rPr>
              <a:t>vegetables,</a:t>
            </a:r>
            <a:r>
              <a:rPr dirty="0" sz="950" spc="70">
                <a:solidFill>
                  <a:srgbClr val="70A7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7EB5E9"/>
                </a:solidFill>
                <a:latin typeface="Arial MT"/>
                <a:cs typeface="Arial MT"/>
              </a:rPr>
              <a:t>lean</a:t>
            </a:r>
            <a:r>
              <a:rPr dirty="0" sz="950" spc="5">
                <a:solidFill>
                  <a:srgbClr val="7EB5E9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97CFFF"/>
                </a:solidFill>
                <a:latin typeface="Arial MT"/>
                <a:cs typeface="Arial MT"/>
              </a:rPr>
              <a:t>proteins,</a:t>
            </a:r>
            <a:r>
              <a:rPr dirty="0" sz="950" spc="70">
                <a:solidFill>
                  <a:srgbClr val="97CFFF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6B38E"/>
                </a:solidFill>
                <a:latin typeface="Arial MT"/>
                <a:cs typeface="Arial MT"/>
              </a:rPr>
              <a:t>and</a:t>
            </a:r>
            <a:r>
              <a:rPr dirty="0" sz="950" spc="65">
                <a:solidFill>
                  <a:srgbClr val="C6B38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87BFD1"/>
                </a:solidFill>
                <a:latin typeface="Arial MT"/>
                <a:cs typeface="Arial MT"/>
              </a:rPr>
              <a:t>whole</a:t>
            </a:r>
            <a:r>
              <a:rPr dirty="0" sz="950" spc="25">
                <a:solidFill>
                  <a:srgbClr val="87BFD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7EB5E9"/>
                </a:solidFill>
                <a:latin typeface="Arial MT"/>
                <a:cs typeface="Arial MT"/>
              </a:rPr>
              <a:t>grains</a:t>
            </a:r>
            <a:r>
              <a:rPr dirty="0" sz="950" spc="-30">
                <a:solidFill>
                  <a:srgbClr val="7EB5E9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B3E6FF"/>
                </a:solidFill>
                <a:latin typeface="Arial MT"/>
                <a:cs typeface="Arial MT"/>
              </a:rPr>
              <a:t>for</a:t>
            </a:r>
            <a:r>
              <a:rPr dirty="0" sz="950" spc="35">
                <a:solidFill>
                  <a:srgbClr val="B3E6FF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AAD6F2"/>
                </a:solidFill>
                <a:latin typeface="Arial MT"/>
                <a:cs typeface="Arial MT"/>
              </a:rPr>
              <a:t>general</a:t>
            </a:r>
            <a:r>
              <a:rPr dirty="0" sz="950" spc="105">
                <a:solidFill>
                  <a:srgbClr val="AAD6F2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AA9E7C"/>
                </a:solidFill>
                <a:latin typeface="Arial MT"/>
                <a:cs typeface="Arial MT"/>
              </a:rPr>
              <a:t>wellness</a:t>
            </a:r>
            <a:r>
              <a:rPr dirty="0" sz="950" spc="10">
                <a:solidFill>
                  <a:srgbClr val="AA9E7C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6B87BC"/>
                </a:solidFill>
                <a:latin typeface="Arial MT"/>
                <a:cs typeface="Arial MT"/>
              </a:rPr>
              <a:t>maintenance.</a:t>
            </a:r>
            <a:endParaRPr sz="950">
              <a:latin typeface="Arial MT"/>
              <a:cs typeface="Arial MT"/>
            </a:endParaRPr>
          </a:p>
          <a:p>
            <a:pPr marL="160020" indent="-135890">
              <a:lnSpc>
                <a:spcPct val="100000"/>
              </a:lnSpc>
              <a:spcBef>
                <a:spcPts val="335"/>
              </a:spcBef>
              <a:buClr>
                <a:srgbClr val="C6C3A3"/>
              </a:buClr>
              <a:buAutoNum type="arabicPeriod"/>
              <a:tabLst>
                <a:tab pos="160020" algn="l"/>
              </a:tabLst>
            </a:pPr>
            <a:r>
              <a:rPr dirty="0" sz="950" spc="-20">
                <a:solidFill>
                  <a:srgbClr val="70979E"/>
                </a:solidFill>
                <a:latin typeface="Arial MT"/>
                <a:cs typeface="Arial MT"/>
              </a:rPr>
              <a:t>Aim</a:t>
            </a:r>
            <a:r>
              <a:rPr dirty="0" sz="950" spc="10">
                <a:solidFill>
                  <a:srgbClr val="70979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B9ED1"/>
                </a:solidFill>
                <a:latin typeface="Arial MT"/>
                <a:cs typeface="Arial MT"/>
              </a:rPr>
              <a:t>for</a:t>
            </a:r>
            <a:r>
              <a:rPr dirty="0" sz="950" spc="35">
                <a:solidFill>
                  <a:srgbClr val="6B9ED1"/>
                </a:solidFill>
                <a:latin typeface="Arial MT"/>
                <a:cs typeface="Arial MT"/>
              </a:rPr>
              <a:t> </a:t>
            </a:r>
            <a:r>
              <a:rPr dirty="0" sz="950" spc="-85">
                <a:solidFill>
                  <a:srgbClr val="A5CFE6"/>
                </a:solidFill>
                <a:latin typeface="Arial MT"/>
                <a:cs typeface="Arial MT"/>
              </a:rPr>
              <a:t>3O</a:t>
            </a:r>
            <a:r>
              <a:rPr dirty="0" sz="950" spc="-30">
                <a:solidFill>
                  <a:srgbClr val="A5CFE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B75A3"/>
                </a:solidFill>
                <a:latin typeface="Arial MT"/>
                <a:cs typeface="Arial MT"/>
              </a:rPr>
              <a:t>minutes</a:t>
            </a:r>
            <a:r>
              <a:rPr dirty="0" sz="950" spc="45">
                <a:solidFill>
                  <a:srgbClr val="6B75A3"/>
                </a:solidFill>
                <a:latin typeface="Arial MT"/>
                <a:cs typeface="Arial MT"/>
              </a:rPr>
              <a:t> </a:t>
            </a:r>
            <a:r>
              <a:rPr dirty="0" sz="950" spc="-55">
                <a:solidFill>
                  <a:srgbClr val="A0D4FF"/>
                </a:solidFill>
                <a:latin typeface="Arial MT"/>
                <a:cs typeface="Arial MT"/>
              </a:rPr>
              <a:t>oJ</a:t>
            </a:r>
            <a:r>
              <a:rPr dirty="0" sz="950" spc="-5">
                <a:solidFill>
                  <a:srgbClr val="A0D4FF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7EB5E9"/>
                </a:solidFill>
                <a:latin typeface="Arial MT"/>
                <a:cs typeface="Arial MT"/>
              </a:rPr>
              <a:t>moderate</a:t>
            </a:r>
            <a:r>
              <a:rPr dirty="0" sz="950" spc="60">
                <a:solidFill>
                  <a:srgbClr val="7EB5E9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B758E"/>
                </a:solidFill>
                <a:latin typeface="Arial MT"/>
                <a:cs typeface="Arial MT"/>
              </a:rPr>
              <a:t>exercise</a:t>
            </a:r>
            <a:r>
              <a:rPr dirty="0" sz="950" spc="35">
                <a:solidFill>
                  <a:srgbClr val="6B758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83AED8"/>
                </a:solidFill>
                <a:latin typeface="Arial MT"/>
                <a:cs typeface="Arial MT"/>
              </a:rPr>
              <a:t>daily</a:t>
            </a:r>
            <a:r>
              <a:rPr dirty="0" sz="950" spc="10">
                <a:solidFill>
                  <a:srgbClr val="83AE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8CBDED"/>
                </a:solidFill>
                <a:latin typeface="Arial MT"/>
                <a:cs typeface="Arial MT"/>
              </a:rPr>
              <a:t>to</a:t>
            </a:r>
            <a:r>
              <a:rPr dirty="0" sz="950" spc="10">
                <a:solidFill>
                  <a:srgbClr val="8CBDED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97CFFF"/>
                </a:solidFill>
                <a:latin typeface="Arial MT"/>
                <a:cs typeface="Arial MT"/>
              </a:rPr>
              <a:t>maintain</a:t>
            </a:r>
            <a:r>
              <a:rPr dirty="0" sz="950" spc="85">
                <a:solidFill>
                  <a:srgbClr val="97CFFF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7EB3E6"/>
                </a:solidFill>
                <a:latin typeface="Arial MT"/>
                <a:cs typeface="Arial MT"/>
              </a:rPr>
              <a:t>cardiovascular</a:t>
            </a:r>
            <a:r>
              <a:rPr dirty="0" sz="950" spc="-5">
                <a:solidFill>
                  <a:srgbClr val="7EB3E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97CFFF"/>
                </a:solidFill>
                <a:latin typeface="Arial MT"/>
                <a:cs typeface="Arial MT"/>
              </a:rPr>
              <a:t>health,</a:t>
            </a:r>
            <a:r>
              <a:rPr dirty="0" sz="950" spc="50">
                <a:solidFill>
                  <a:srgbClr val="97CFFF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6B38E"/>
                </a:solidFill>
                <a:latin typeface="Arial MT"/>
                <a:cs typeface="Arial MT"/>
              </a:rPr>
              <a:t>as</a:t>
            </a:r>
            <a:r>
              <a:rPr dirty="0" sz="950" spc="10">
                <a:solidFill>
                  <a:srgbClr val="C6B38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79878E"/>
                </a:solidFill>
                <a:latin typeface="Arial MT"/>
                <a:cs typeface="Arial MT"/>
              </a:rPr>
              <a:t>your</a:t>
            </a:r>
            <a:r>
              <a:rPr dirty="0" sz="950" spc="20">
                <a:solidFill>
                  <a:srgbClr val="79878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B779E"/>
                </a:solidFill>
                <a:latin typeface="Arial MT"/>
                <a:cs typeface="Arial MT"/>
              </a:rPr>
              <a:t>vitals</a:t>
            </a:r>
            <a:r>
              <a:rPr dirty="0" sz="950" spc="15">
                <a:solidFill>
                  <a:srgbClr val="6B779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B757C"/>
                </a:solidFill>
                <a:latin typeface="Arial MT"/>
                <a:cs typeface="Arial MT"/>
              </a:rPr>
              <a:t>are </a:t>
            </a:r>
            <a:r>
              <a:rPr dirty="0" sz="950" spc="-10">
                <a:solidFill>
                  <a:srgbClr val="6B9ED1"/>
                </a:solidFill>
                <a:latin typeface="Arial MT"/>
                <a:cs typeface="Arial MT"/>
              </a:rPr>
              <a:t>stable.</a:t>
            </a:r>
            <a:endParaRPr sz="950">
              <a:latin typeface="Arial MT"/>
              <a:cs typeface="Arial MT"/>
            </a:endParaRPr>
          </a:p>
          <a:p>
            <a:pPr marL="149225" indent="-128270">
              <a:lnSpc>
                <a:spcPct val="100000"/>
              </a:lnSpc>
              <a:spcBef>
                <a:spcPts val="280"/>
              </a:spcBef>
              <a:buClr>
                <a:srgbClr val="6B9ED1"/>
              </a:buClr>
              <a:buAutoNum type="arabicPeriod"/>
              <a:tabLst>
                <a:tab pos="149225" algn="l"/>
              </a:tabLst>
            </a:pPr>
            <a:r>
              <a:rPr dirty="0" sz="950">
                <a:solidFill>
                  <a:srgbClr val="7EB5E9"/>
                </a:solidFill>
                <a:latin typeface="Arial MT"/>
                <a:cs typeface="Arial MT"/>
              </a:rPr>
              <a:t>Try</a:t>
            </a:r>
            <a:r>
              <a:rPr dirty="0" sz="950" spc="45">
                <a:solidFill>
                  <a:srgbClr val="7EB5E9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B9ED1"/>
                </a:solidFill>
                <a:latin typeface="Arial MT"/>
                <a:cs typeface="Arial MT"/>
              </a:rPr>
              <a:t>to</a:t>
            </a:r>
            <a:r>
              <a:rPr dirty="0" sz="950" spc="55">
                <a:solidFill>
                  <a:srgbClr val="6B9ED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B758E"/>
                </a:solidFill>
                <a:latin typeface="Arial MT"/>
                <a:cs typeface="Arial MT"/>
              </a:rPr>
              <a:t>go</a:t>
            </a:r>
            <a:r>
              <a:rPr dirty="0" sz="950" spc="10">
                <a:solidFill>
                  <a:srgbClr val="6B758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B87BC"/>
                </a:solidFill>
                <a:latin typeface="Arial MT"/>
                <a:cs typeface="Arial MT"/>
              </a:rPr>
              <a:t>to</a:t>
            </a:r>
            <a:r>
              <a:rPr dirty="0" sz="950" spc="-50">
                <a:solidFill>
                  <a:srgbClr val="6B87BC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B7780"/>
                </a:solidFill>
                <a:latin typeface="Arial MT"/>
                <a:cs typeface="Arial MT"/>
              </a:rPr>
              <a:t>bed</a:t>
            </a:r>
            <a:r>
              <a:rPr dirty="0" sz="950" spc="25">
                <a:solidFill>
                  <a:srgbClr val="6B7780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6B38E"/>
                </a:solidFill>
                <a:latin typeface="Arial MT"/>
                <a:cs typeface="Arial MT"/>
              </a:rPr>
              <a:t>and</a:t>
            </a:r>
            <a:r>
              <a:rPr dirty="0" sz="950" spc="5">
                <a:solidFill>
                  <a:srgbClr val="C6B38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87BFD1"/>
                </a:solidFill>
                <a:latin typeface="Arial MT"/>
                <a:cs typeface="Arial MT"/>
              </a:rPr>
              <a:t>wake</a:t>
            </a:r>
            <a:r>
              <a:rPr dirty="0" sz="950" spc="50">
                <a:solidFill>
                  <a:srgbClr val="87BFD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AAD4E9"/>
                </a:solidFill>
                <a:latin typeface="Arial MT"/>
                <a:cs typeface="Arial MT"/>
              </a:rPr>
              <a:t>up</a:t>
            </a:r>
            <a:r>
              <a:rPr dirty="0" sz="950" spc="-10">
                <a:solidFill>
                  <a:srgbClr val="AAD4E9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B758E"/>
                </a:solidFill>
                <a:latin typeface="Arial MT"/>
                <a:cs typeface="Arial MT"/>
              </a:rPr>
              <a:t>at</a:t>
            </a:r>
            <a:r>
              <a:rPr dirty="0" sz="950" spc="35">
                <a:solidFill>
                  <a:srgbClr val="6B758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B9ED1"/>
                </a:solidFill>
                <a:latin typeface="Arial MT"/>
                <a:cs typeface="Arial MT"/>
              </a:rPr>
              <a:t>the</a:t>
            </a:r>
            <a:r>
              <a:rPr dirty="0" sz="950" spc="65">
                <a:solidFill>
                  <a:srgbClr val="6B9ED1"/>
                </a:solidFill>
                <a:latin typeface="Arial MT"/>
                <a:cs typeface="Arial MT"/>
              </a:rPr>
              <a:t> </a:t>
            </a:r>
            <a:r>
              <a:rPr dirty="0" sz="950" spc="-20">
                <a:solidFill>
                  <a:srgbClr val="6B7595"/>
                </a:solidFill>
                <a:latin typeface="Arial MT"/>
                <a:cs typeface="Arial MT"/>
              </a:rPr>
              <a:t>same</a:t>
            </a:r>
            <a:r>
              <a:rPr dirty="0" sz="950" spc="-25">
                <a:solidFill>
                  <a:srgbClr val="6B7595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B758E"/>
                </a:solidFill>
                <a:latin typeface="Arial MT"/>
                <a:cs typeface="Arial MT"/>
              </a:rPr>
              <a:t>time</a:t>
            </a:r>
            <a:r>
              <a:rPr dirty="0" sz="950" spc="-5">
                <a:solidFill>
                  <a:srgbClr val="6B758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A5DBFF"/>
                </a:solidFill>
                <a:latin typeface="Arial MT"/>
                <a:cs typeface="Arial MT"/>
              </a:rPr>
              <a:t>every</a:t>
            </a:r>
            <a:r>
              <a:rPr dirty="0" sz="950" spc="55">
                <a:solidFill>
                  <a:srgbClr val="A5DBFF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19E7C"/>
                </a:solidFill>
                <a:latin typeface="Arial MT"/>
                <a:cs typeface="Arial MT"/>
              </a:rPr>
              <a:t>day</a:t>
            </a:r>
            <a:r>
              <a:rPr dirty="0" sz="950" spc="-5">
                <a:solidFill>
                  <a:srgbClr val="C19E7C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B87BC"/>
                </a:solidFill>
                <a:latin typeface="Arial MT"/>
                <a:cs typeface="Arial MT"/>
              </a:rPr>
              <a:t>to</a:t>
            </a:r>
            <a:r>
              <a:rPr dirty="0" sz="950" spc="-50">
                <a:solidFill>
                  <a:srgbClr val="6B87BC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B75A3"/>
                </a:solidFill>
                <a:latin typeface="Arial MT"/>
                <a:cs typeface="Arial MT"/>
              </a:rPr>
              <a:t>regulate</a:t>
            </a:r>
            <a:r>
              <a:rPr dirty="0" sz="950" spc="75">
                <a:solidFill>
                  <a:srgbClr val="6B75A3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70A5D8"/>
                </a:solidFill>
                <a:latin typeface="Arial MT"/>
                <a:cs typeface="Arial MT"/>
              </a:rPr>
              <a:t>your</a:t>
            </a:r>
            <a:r>
              <a:rPr dirty="0" sz="950" spc="60">
                <a:solidFill>
                  <a:srgbClr val="70A5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7EB3E6"/>
                </a:solidFill>
                <a:latin typeface="Arial MT"/>
                <a:cs typeface="Arial MT"/>
              </a:rPr>
              <a:t>circadian</a:t>
            </a:r>
            <a:r>
              <a:rPr dirty="0" sz="950" spc="55">
                <a:solidFill>
                  <a:srgbClr val="7EB3E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97CFFF"/>
                </a:solidFill>
                <a:latin typeface="Arial MT"/>
                <a:cs typeface="Arial MT"/>
              </a:rPr>
              <a:t>rhythm</a:t>
            </a:r>
            <a:r>
              <a:rPr dirty="0" sz="950" spc="50">
                <a:solidFill>
                  <a:srgbClr val="97CFFF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7EB5E9"/>
                </a:solidFill>
                <a:latin typeface="Arial MT"/>
                <a:cs typeface="Arial MT"/>
              </a:rPr>
              <a:t>for</a:t>
            </a:r>
            <a:r>
              <a:rPr dirty="0" sz="950" spc="40">
                <a:solidFill>
                  <a:srgbClr val="7EB5E9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B75A3"/>
                </a:solidFill>
                <a:latin typeface="Arial MT"/>
                <a:cs typeface="Arial MT"/>
              </a:rPr>
              <a:t>general</a:t>
            </a:r>
            <a:r>
              <a:rPr dirty="0" sz="950" spc="120">
                <a:solidFill>
                  <a:srgbClr val="6B75A3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AA9E7C"/>
                </a:solidFill>
                <a:latin typeface="Arial MT"/>
                <a:cs typeface="Arial MT"/>
              </a:rPr>
              <a:t>wellness</a:t>
            </a:r>
            <a:r>
              <a:rPr dirty="0" sz="950" spc="20">
                <a:solidFill>
                  <a:srgbClr val="AA9E7C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6B75A3"/>
                </a:solidFill>
                <a:latin typeface="Arial MT"/>
                <a:cs typeface="Arial MT"/>
              </a:rPr>
              <a:t>maintenance.</a:t>
            </a:r>
            <a:endParaRPr sz="950">
              <a:latin typeface="Arial MT"/>
              <a:cs typeface="Arial MT"/>
            </a:endParaRPr>
          </a:p>
          <a:p>
            <a:pPr marL="17780" marR="5080" indent="5080">
              <a:lnSpc>
                <a:spcPct val="124400"/>
              </a:lnSpc>
              <a:spcBef>
                <a:spcPts val="55"/>
              </a:spcBef>
            </a:pPr>
            <a:r>
              <a:rPr dirty="0" sz="950">
                <a:solidFill>
                  <a:srgbClr val="6B758E"/>
                </a:solidFill>
                <a:latin typeface="Arial MT"/>
                <a:cs typeface="Arial MT"/>
              </a:rPr>
              <a:t>These</a:t>
            </a:r>
            <a:r>
              <a:rPr dirty="0" sz="950" spc="10">
                <a:solidFill>
                  <a:srgbClr val="6B758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B75A3"/>
                </a:solidFill>
                <a:latin typeface="Arial MT"/>
                <a:cs typeface="Arial MT"/>
              </a:rPr>
              <a:t>recommendations</a:t>
            </a:r>
            <a:r>
              <a:rPr dirty="0" sz="950" spc="-55">
                <a:solidFill>
                  <a:srgbClr val="6B75A3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97C6ED"/>
                </a:solidFill>
                <a:latin typeface="Arial MT"/>
                <a:cs typeface="Arial MT"/>
              </a:rPr>
              <a:t>are</a:t>
            </a:r>
            <a:r>
              <a:rPr dirty="0" sz="950" spc="-30">
                <a:solidFill>
                  <a:srgbClr val="97C6ED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B7580"/>
                </a:solidFill>
                <a:latin typeface="Arial MT"/>
                <a:cs typeface="Arial MT"/>
              </a:rPr>
              <a:t>based</a:t>
            </a:r>
            <a:r>
              <a:rPr dirty="0" sz="950" spc="55">
                <a:solidFill>
                  <a:srgbClr val="6B7580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7EB3E6"/>
                </a:solidFill>
                <a:latin typeface="Arial MT"/>
                <a:cs typeface="Arial MT"/>
              </a:rPr>
              <a:t>on</a:t>
            </a:r>
            <a:r>
              <a:rPr dirty="0" sz="950" spc="-15">
                <a:solidFill>
                  <a:srgbClr val="7EB3E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70A5D8"/>
                </a:solidFill>
                <a:latin typeface="Arial MT"/>
                <a:cs typeface="Arial MT"/>
              </a:rPr>
              <a:t>your</a:t>
            </a:r>
            <a:r>
              <a:rPr dirty="0" sz="950" spc="65">
                <a:solidFill>
                  <a:srgbClr val="70A5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7EB3E6"/>
                </a:solidFill>
                <a:latin typeface="Arial MT"/>
                <a:cs typeface="Arial MT"/>
              </a:rPr>
              <a:t>current</a:t>
            </a:r>
            <a:r>
              <a:rPr dirty="0" sz="950" spc="105">
                <a:solidFill>
                  <a:srgbClr val="7EB3E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7EB5E9"/>
                </a:solidFill>
                <a:latin typeface="Arial MT"/>
                <a:cs typeface="Arial MT"/>
              </a:rPr>
              <a:t>health</a:t>
            </a:r>
            <a:r>
              <a:rPr dirty="0" sz="950" spc="55">
                <a:solidFill>
                  <a:srgbClr val="7EB5E9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B758E"/>
                </a:solidFill>
                <a:latin typeface="Arial MT"/>
                <a:cs typeface="Arial MT"/>
              </a:rPr>
              <a:t>data</a:t>
            </a:r>
            <a:r>
              <a:rPr dirty="0" sz="950" spc="20">
                <a:solidFill>
                  <a:srgbClr val="6B758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97C6ED"/>
                </a:solidFill>
                <a:latin typeface="Arial MT"/>
                <a:cs typeface="Arial MT"/>
              </a:rPr>
              <a:t>and</a:t>
            </a:r>
            <a:r>
              <a:rPr dirty="0" sz="950" spc="40">
                <a:solidFill>
                  <a:srgbClr val="97C6ED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6B38E"/>
                </a:solidFill>
                <a:latin typeface="Arial MT"/>
                <a:cs typeface="Arial MT"/>
              </a:rPr>
              <a:t>are</a:t>
            </a:r>
            <a:r>
              <a:rPr dirty="0" sz="950" spc="-5">
                <a:solidFill>
                  <a:srgbClr val="C6B38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B758E"/>
                </a:solidFill>
                <a:latin typeface="Arial MT"/>
                <a:cs typeface="Arial MT"/>
              </a:rPr>
              <a:t>classified</a:t>
            </a:r>
            <a:r>
              <a:rPr dirty="0" sz="950" spc="65">
                <a:solidFill>
                  <a:srgbClr val="6B758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B75A3"/>
                </a:solidFill>
                <a:latin typeface="Arial MT"/>
                <a:cs typeface="Arial MT"/>
              </a:rPr>
              <a:t>as</a:t>
            </a:r>
            <a:r>
              <a:rPr dirty="0" sz="950" spc="-30">
                <a:solidFill>
                  <a:srgbClr val="6B75A3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B75A3"/>
                </a:solidFill>
                <a:latin typeface="Arial MT"/>
                <a:cs typeface="Arial MT"/>
              </a:rPr>
              <a:t>low</a:t>
            </a:r>
            <a:r>
              <a:rPr dirty="0" sz="950" spc="70">
                <a:solidFill>
                  <a:srgbClr val="6B75A3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7EB5E9"/>
                </a:solidFill>
                <a:latin typeface="Arial MT"/>
                <a:cs typeface="Arial MT"/>
              </a:rPr>
              <a:t>risk.</a:t>
            </a:r>
            <a:r>
              <a:rPr dirty="0" sz="950" spc="45">
                <a:solidFill>
                  <a:srgbClr val="7EB5E9"/>
                </a:solidFill>
                <a:latin typeface="Arial MT"/>
                <a:cs typeface="Arial MT"/>
              </a:rPr>
              <a:t> </a:t>
            </a:r>
            <a:r>
              <a:rPr dirty="0" sz="950" spc="-20">
                <a:solidFill>
                  <a:srgbClr val="6B9ED1"/>
                </a:solidFill>
                <a:latin typeface="Arial MT"/>
                <a:cs typeface="Arial MT"/>
              </a:rPr>
              <a:t>Remember</a:t>
            </a:r>
            <a:r>
              <a:rPr dirty="0" sz="950" spc="75">
                <a:solidFill>
                  <a:srgbClr val="6B9ED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8CBDED"/>
                </a:solidFill>
                <a:latin typeface="Arial MT"/>
                <a:cs typeface="Arial MT"/>
              </a:rPr>
              <a:t>to</a:t>
            </a:r>
            <a:r>
              <a:rPr dirty="0" sz="950" spc="-15">
                <a:solidFill>
                  <a:srgbClr val="8CBDED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A0D4FF"/>
                </a:solidFill>
                <a:latin typeface="Arial MT"/>
                <a:cs typeface="Arial MT"/>
              </a:rPr>
              <a:t>continue</a:t>
            </a:r>
            <a:r>
              <a:rPr dirty="0" sz="950" spc="65">
                <a:solidFill>
                  <a:srgbClr val="A0D4FF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97CFFF"/>
                </a:solidFill>
                <a:latin typeface="Arial MT"/>
                <a:cs typeface="Arial MT"/>
              </a:rPr>
              <a:t>monitoring</a:t>
            </a:r>
            <a:r>
              <a:rPr dirty="0" sz="950" spc="140">
                <a:solidFill>
                  <a:srgbClr val="97CFFF"/>
                </a:solidFill>
                <a:latin typeface="Arial MT"/>
                <a:cs typeface="Arial MT"/>
              </a:rPr>
              <a:t> </a:t>
            </a:r>
            <a:r>
              <a:rPr dirty="0" sz="950" spc="-20">
                <a:solidFill>
                  <a:srgbClr val="87BFD8"/>
                </a:solidFill>
                <a:latin typeface="Arial MT"/>
                <a:cs typeface="Arial MT"/>
              </a:rPr>
              <a:t>your </a:t>
            </a:r>
            <a:r>
              <a:rPr dirty="0" sz="950">
                <a:solidFill>
                  <a:srgbClr val="FFCFA3"/>
                </a:solidFill>
                <a:latin typeface="Arial MT"/>
                <a:cs typeface="Arial MT"/>
              </a:rPr>
              <a:t>health</a:t>
            </a:r>
            <a:r>
              <a:rPr dirty="0" sz="950" spc="60">
                <a:solidFill>
                  <a:srgbClr val="FFCFA3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B75A3"/>
                </a:solidFill>
                <a:latin typeface="Arial MT"/>
                <a:cs typeface="Arial MT"/>
              </a:rPr>
              <a:t>and</a:t>
            </a:r>
            <a:r>
              <a:rPr dirty="0" sz="950" spc="-15">
                <a:solidFill>
                  <a:srgbClr val="6B75A3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B757C"/>
                </a:solidFill>
                <a:latin typeface="Arial MT"/>
                <a:cs typeface="Arial MT"/>
              </a:rPr>
              <a:t>adjusting</a:t>
            </a:r>
            <a:r>
              <a:rPr dirty="0" sz="950" spc="55">
                <a:solidFill>
                  <a:srgbClr val="6B757C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977789"/>
                </a:solidFill>
                <a:latin typeface="Arial MT"/>
                <a:cs typeface="Arial MT"/>
              </a:rPr>
              <a:t>your</a:t>
            </a:r>
            <a:r>
              <a:rPr dirty="0" sz="950" spc="114">
                <a:solidFill>
                  <a:srgbClr val="977789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97CFFF"/>
                </a:solidFill>
                <a:latin typeface="Arial MT"/>
                <a:cs typeface="Arial MT"/>
              </a:rPr>
              <a:t>lifestyle</a:t>
            </a:r>
            <a:r>
              <a:rPr dirty="0" sz="950" spc="25">
                <a:solidFill>
                  <a:srgbClr val="97CFFF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B87BC"/>
                </a:solidFill>
                <a:latin typeface="Arial MT"/>
                <a:cs typeface="Arial MT"/>
              </a:rPr>
              <a:t>habits</a:t>
            </a:r>
            <a:r>
              <a:rPr dirty="0" sz="950" spc="30">
                <a:solidFill>
                  <a:srgbClr val="6B87BC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C6B38E"/>
                </a:solidFill>
                <a:latin typeface="Arial MT"/>
                <a:cs typeface="Arial MT"/>
              </a:rPr>
              <a:t>accordingly.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41260" y="424702"/>
            <a:ext cx="815975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3240" algn="l"/>
              </a:tabLst>
            </a:pPr>
            <a:r>
              <a:rPr dirty="0" sz="1100">
                <a:solidFill>
                  <a:srgbClr val="679AFB"/>
                </a:solidFill>
                <a:latin typeface="Arial MT"/>
                <a:cs typeface="Arial MT"/>
              </a:rPr>
              <a:t>+</a:t>
            </a:r>
            <a:r>
              <a:rPr dirty="0" sz="1100" spc="125">
                <a:solidFill>
                  <a:srgbClr val="679AFB"/>
                </a:solidFill>
                <a:latin typeface="Arial MT"/>
                <a:cs typeface="Arial MT"/>
              </a:rPr>
              <a:t>  </a:t>
            </a:r>
            <a:r>
              <a:rPr dirty="0" sz="1100" spc="-25">
                <a:solidFill>
                  <a:srgbClr val="0C6EFD"/>
                </a:solidFill>
                <a:latin typeface="Arial MT"/>
                <a:cs typeface="Arial MT"/>
              </a:rPr>
              <a:t>Ne</a:t>
            </a:r>
            <a:r>
              <a:rPr dirty="0" sz="1100">
                <a:solidFill>
                  <a:srgbClr val="0C6EFD"/>
                </a:solidFill>
                <a:latin typeface="Arial MT"/>
                <a:cs typeface="Arial MT"/>
              </a:rPr>
              <a:t>	</a:t>
            </a:r>
            <a:r>
              <a:rPr dirty="0" sz="1100" spc="-25">
                <a:solidFill>
                  <a:srgbClr val="0C6EFD"/>
                </a:solidFill>
                <a:latin typeface="Arial MT"/>
                <a:cs typeface="Arial MT"/>
              </a:rPr>
              <a:t>Chat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84273" y="5504505"/>
            <a:ext cx="9144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5">
                <a:solidFill>
                  <a:srgbClr val="595B7E"/>
                </a:solidFill>
                <a:latin typeface="Arial MT"/>
                <a:cs typeface="Arial MT"/>
              </a:rPr>
              <a:t>it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69737" y="5504505"/>
            <a:ext cx="13970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0">
                <a:solidFill>
                  <a:srgbClr val="5B5B5B"/>
                </a:solidFill>
                <a:latin typeface="Arial MT"/>
                <a:cs typeface="Arial MT"/>
              </a:rPr>
              <a:t>m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068" y="5604886"/>
            <a:ext cx="9640488" cy="37049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08578" y="2225059"/>
            <a:ext cx="83172" cy="198857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6629" y="561609"/>
            <a:ext cx="226835" cy="21171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841932" y="969910"/>
            <a:ext cx="2110105" cy="355600"/>
          </a:xfrm>
          <a:prstGeom prst="rect">
            <a:avLst/>
          </a:prstGeom>
          <a:solidFill>
            <a:srgbClr val="0C6EFD"/>
          </a:solidFill>
        </p:spPr>
        <p:txBody>
          <a:bodyPr wrap="square" lIns="0" tIns="21590" rIns="0" bIns="0" rtlCol="0" vert="horz">
            <a:spAutoFit/>
          </a:bodyPr>
          <a:lstStyle/>
          <a:p>
            <a:pPr marL="160020">
              <a:lnSpc>
                <a:spcPct val="100000"/>
              </a:lnSpc>
              <a:spcBef>
                <a:spcPts val="170"/>
              </a:spcBef>
              <a:tabLst>
                <a:tab pos="381000" algn="l"/>
                <a:tab pos="896619" algn="l"/>
              </a:tabLst>
            </a:pPr>
            <a:r>
              <a:rPr dirty="0" sz="900" spc="-50">
                <a:solidFill>
                  <a:srgbClr val="FFFFFF"/>
                </a:solidFill>
                <a:latin typeface="Arial MT"/>
                <a:cs typeface="Arial MT"/>
              </a:rPr>
              <a:t>G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erase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900" spc="-35">
                <a:solidFill>
                  <a:srgbClr val="FFFFFF"/>
                </a:solidFill>
                <a:latin typeface="Arial MT"/>
                <a:cs typeface="Arial MT"/>
              </a:rPr>
              <a:t>Tatest</a:t>
            </a:r>
            <a:r>
              <a:rPr dirty="0" sz="90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health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82249" y="1665535"/>
            <a:ext cx="642699" cy="12853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01016" y="5332685"/>
            <a:ext cx="98295" cy="75611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1034748" y="499762"/>
            <a:ext cx="1927860" cy="3206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900" b="0">
                <a:solidFill>
                  <a:srgbClr val="242424"/>
                </a:solidFill>
                <a:latin typeface="Arial MT"/>
                <a:cs typeface="Arial MT"/>
              </a:rPr>
              <a:t>Helix</a:t>
            </a:r>
            <a:r>
              <a:rPr dirty="0" sz="1900" spc="80" b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900" b="0">
                <a:solidFill>
                  <a:srgbClr val="242424"/>
                </a:solidFill>
                <a:latin typeface="Arial MT"/>
                <a:cs typeface="Arial MT"/>
              </a:rPr>
              <a:t>AI</a:t>
            </a:r>
            <a:r>
              <a:rPr dirty="0" sz="1900" spc="-130" b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900" spc="-10" b="0">
                <a:solidFill>
                  <a:srgbClr val="242424"/>
                </a:solidFill>
                <a:latin typeface="Arial MT"/>
                <a:cs typeface="Arial MT"/>
              </a:rPr>
              <a:t>Assistant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1849" y="1870848"/>
            <a:ext cx="7533640" cy="40068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67335">
              <a:lnSpc>
                <a:spcPct val="100000"/>
              </a:lnSpc>
              <a:spcBef>
                <a:spcPts val="90"/>
              </a:spcBef>
            </a:pPr>
            <a:r>
              <a:rPr dirty="0" sz="1000" spc="-50">
                <a:solidFill>
                  <a:srgbClr val="97CFFF"/>
                </a:solidFill>
                <a:latin typeface="Arial MT"/>
                <a:cs typeface="Arial MT"/>
              </a:rPr>
              <a:t>Your</a:t>
            </a:r>
            <a:r>
              <a:rPr dirty="0" sz="1000" spc="-20">
                <a:solidFill>
                  <a:srgbClr val="97C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7EB5E9"/>
                </a:solidFill>
                <a:latin typeface="Arial MT"/>
                <a:cs typeface="Arial MT"/>
              </a:rPr>
              <a:t>health</a:t>
            </a:r>
            <a:r>
              <a:rPr dirty="0" sz="1000" spc="-35">
                <a:solidFill>
                  <a:srgbClr val="7EB5E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7EB5E9"/>
                </a:solidFill>
                <a:latin typeface="Arial MT"/>
                <a:cs typeface="Arial MT"/>
              </a:rPr>
              <a:t>report</a:t>
            </a:r>
            <a:r>
              <a:rPr dirty="0" sz="1000" spc="20">
                <a:solidFill>
                  <a:srgbClr val="7EB5E9"/>
                </a:solidFill>
                <a:latin typeface="Arial MT"/>
                <a:cs typeface="Arial MT"/>
              </a:rPr>
              <a:t> </a:t>
            </a:r>
            <a:r>
              <a:rPr dirty="0" sz="1000" spc="-35">
                <a:solidFill>
                  <a:srgbClr val="AA9E7C"/>
                </a:solidFill>
                <a:latin typeface="Arial MT"/>
                <a:cs typeface="Arial MT"/>
              </a:rPr>
              <a:t>was</a:t>
            </a:r>
            <a:r>
              <a:rPr dirty="0" sz="1000" spc="-30">
                <a:solidFill>
                  <a:srgbClr val="AA9E7C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6B75A3"/>
                </a:solidFill>
                <a:latin typeface="Arial MT"/>
                <a:cs typeface="Arial MT"/>
              </a:rPr>
              <a:t>generated</a:t>
            </a:r>
            <a:r>
              <a:rPr dirty="0" sz="1000" spc="15">
                <a:solidFill>
                  <a:srgbClr val="6B75A3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6B7595"/>
                </a:solidFill>
                <a:latin typeface="Arial MT"/>
                <a:cs typeface="Arial MT"/>
              </a:rPr>
              <a:t>successfully.</a:t>
            </a:r>
            <a:endParaRPr sz="1000">
              <a:latin typeface="Arial MT"/>
              <a:cs typeface="Arial MT"/>
            </a:endParaRPr>
          </a:p>
          <a:p>
            <a:pPr marL="263525" marR="413384" indent="3810">
              <a:lnSpc>
                <a:spcPct val="243100"/>
              </a:lnSpc>
            </a:pPr>
            <a:r>
              <a:rPr dirty="0" sz="1000" spc="-50">
                <a:solidFill>
                  <a:srgbClr val="97CFFF"/>
                </a:solidFill>
                <a:latin typeface="Arial MT"/>
                <a:cs typeface="Arial MT"/>
              </a:rPr>
              <a:t>Your</a:t>
            </a:r>
            <a:r>
              <a:rPr dirty="0" sz="1000" spc="-20">
                <a:solidFill>
                  <a:srgbClr val="97CFFF"/>
                </a:solidFill>
                <a:latin typeface="Arial MT"/>
                <a:cs typeface="Arial MT"/>
              </a:rPr>
              <a:t> </a:t>
            </a:r>
            <a:r>
              <a:rPr dirty="0" sz="1000" spc="-55">
                <a:solidFill>
                  <a:srgbClr val="7EB5E9"/>
                </a:solidFill>
                <a:latin typeface="Arial MT"/>
                <a:cs typeface="Arial MT"/>
              </a:rPr>
              <a:t>pro1ile</a:t>
            </a:r>
            <a:r>
              <a:rPr dirty="0" sz="1000" spc="-15">
                <a:solidFill>
                  <a:srgbClr val="7EB5E9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6B87BC"/>
                </a:solidFill>
                <a:latin typeface="Arial MT"/>
                <a:cs typeface="Arial MT"/>
              </a:rPr>
              <a:t>indicates</a:t>
            </a:r>
            <a:r>
              <a:rPr dirty="0" sz="1000" spc="-30">
                <a:solidFill>
                  <a:srgbClr val="6B87BC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70A5D8"/>
                </a:solidFill>
                <a:latin typeface="Arial MT"/>
                <a:cs typeface="Arial MT"/>
              </a:rPr>
              <a:t>you</a:t>
            </a:r>
            <a:r>
              <a:rPr dirty="0" sz="1000" spc="-70">
                <a:solidFill>
                  <a:srgbClr val="70A5D8"/>
                </a:solidFill>
                <a:latin typeface="Arial MT"/>
                <a:cs typeface="Arial MT"/>
              </a:rPr>
              <a:t> </a:t>
            </a:r>
            <a:r>
              <a:rPr dirty="0" sz="1000" spc="-40">
                <a:solidFill>
                  <a:srgbClr val="6B757C"/>
                </a:solidFill>
                <a:latin typeface="Arial MT"/>
                <a:cs typeface="Arial MT"/>
              </a:rPr>
              <a:t>are</a:t>
            </a:r>
            <a:r>
              <a:rPr dirty="0" sz="1000" spc="-35">
                <a:solidFill>
                  <a:srgbClr val="6B757C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97C6ED"/>
                </a:solidFill>
                <a:latin typeface="Arial MT"/>
                <a:cs typeface="Arial MT"/>
              </a:rPr>
              <a:t>a</a:t>
            </a:r>
            <a:r>
              <a:rPr dirty="0" sz="1000" spc="-125">
                <a:solidFill>
                  <a:srgbClr val="97C6ED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878787"/>
                </a:solidFill>
                <a:latin typeface="Arial MT"/>
                <a:cs typeface="Arial MT"/>
              </a:rPr>
              <a:t>19-year-</a:t>
            </a:r>
            <a:r>
              <a:rPr dirty="0" sz="1000">
                <a:solidFill>
                  <a:srgbClr val="878787"/>
                </a:solidFill>
                <a:latin typeface="Arial MT"/>
                <a:cs typeface="Arial MT"/>
              </a:rPr>
              <a:t>old</a:t>
            </a:r>
            <a:r>
              <a:rPr dirty="0" sz="1000" spc="10">
                <a:solidFill>
                  <a:srgbClr val="878787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6B9ED1"/>
                </a:solidFill>
                <a:latin typeface="Arial MT"/>
                <a:cs typeface="Arial MT"/>
              </a:rPr>
              <a:t>female</a:t>
            </a:r>
            <a:r>
              <a:rPr dirty="0" sz="1000" spc="-50">
                <a:solidFill>
                  <a:srgbClr val="6B9ED1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6B75A3"/>
                </a:solidFill>
                <a:latin typeface="Arial MT"/>
                <a:cs typeface="Arial MT"/>
              </a:rPr>
              <a:t>named</a:t>
            </a:r>
            <a:r>
              <a:rPr dirty="0" sz="1000" spc="-35">
                <a:solidFill>
                  <a:srgbClr val="6B75A3"/>
                </a:solidFill>
                <a:latin typeface="Arial MT"/>
                <a:cs typeface="Arial MT"/>
              </a:rPr>
              <a:t> </a:t>
            </a:r>
            <a:r>
              <a:rPr dirty="0" sz="1000" spc="-30">
                <a:solidFill>
                  <a:srgbClr val="6B758E"/>
                </a:solidFill>
                <a:latin typeface="Arial MT"/>
                <a:cs typeface="Arial MT"/>
              </a:rPr>
              <a:t>Pranathi</a:t>
            </a:r>
            <a:r>
              <a:rPr dirty="0" sz="1000" spc="5">
                <a:solidFill>
                  <a:srgbClr val="6B758E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6B8289"/>
                </a:solidFill>
                <a:latin typeface="Arial MT"/>
                <a:cs typeface="Arial MT"/>
              </a:rPr>
              <a:t>Korupolu</a:t>
            </a:r>
            <a:r>
              <a:rPr dirty="0" sz="1000" spc="65">
                <a:solidFill>
                  <a:srgbClr val="6B828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AA9E7C"/>
                </a:solidFill>
                <a:latin typeface="Arial MT"/>
                <a:cs typeface="Arial MT"/>
              </a:rPr>
              <a:t>with</a:t>
            </a:r>
            <a:r>
              <a:rPr dirty="0" sz="1000" spc="-45">
                <a:solidFill>
                  <a:srgbClr val="AA9E7C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B7980"/>
                </a:solidFill>
                <a:latin typeface="Arial MT"/>
                <a:cs typeface="Arial MT"/>
              </a:rPr>
              <a:t>blood</a:t>
            </a:r>
            <a:r>
              <a:rPr dirty="0" sz="1000" spc="15">
                <a:solidFill>
                  <a:srgbClr val="6B798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B758E"/>
                </a:solidFill>
                <a:latin typeface="Arial MT"/>
                <a:cs typeface="Arial MT"/>
              </a:rPr>
              <a:t>group</a:t>
            </a:r>
            <a:r>
              <a:rPr dirty="0" sz="1000" spc="10">
                <a:solidFill>
                  <a:srgbClr val="6B758E"/>
                </a:solidFill>
                <a:latin typeface="Arial MT"/>
                <a:cs typeface="Arial MT"/>
              </a:rPr>
              <a:t> </a:t>
            </a:r>
            <a:r>
              <a:rPr dirty="0" sz="1000" spc="-30">
                <a:solidFill>
                  <a:srgbClr val="91917C"/>
                </a:solidFill>
                <a:latin typeface="Arial MT"/>
                <a:cs typeface="Arial MT"/>
              </a:rPr>
              <a:t>A+</a:t>
            </a:r>
            <a:r>
              <a:rPr dirty="0" sz="1000" spc="-5">
                <a:solidFill>
                  <a:srgbClr val="91917C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C6B38E"/>
                </a:solidFill>
                <a:latin typeface="Arial MT"/>
                <a:cs typeface="Arial MT"/>
              </a:rPr>
              <a:t>and</a:t>
            </a:r>
            <a:r>
              <a:rPr dirty="0" sz="1000" spc="-40">
                <a:solidFill>
                  <a:srgbClr val="C6B38E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97CFFF"/>
                </a:solidFill>
                <a:latin typeface="Arial MT"/>
                <a:cs typeface="Arial MT"/>
              </a:rPr>
              <a:t>no</a:t>
            </a:r>
            <a:r>
              <a:rPr dirty="0" sz="1000" spc="-60">
                <a:solidFill>
                  <a:srgbClr val="97C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6B87BC"/>
                </a:solidFill>
                <a:latin typeface="Arial MT"/>
                <a:cs typeface="Arial MT"/>
              </a:rPr>
              <a:t>reported</a:t>
            </a:r>
            <a:r>
              <a:rPr dirty="0" sz="1000" spc="-35">
                <a:solidFill>
                  <a:srgbClr val="6B87BC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A0D4FF"/>
                </a:solidFill>
                <a:latin typeface="Arial MT"/>
                <a:cs typeface="Arial MT"/>
              </a:rPr>
              <a:t>conditions. </a:t>
            </a:r>
            <a:r>
              <a:rPr dirty="0" sz="1000" spc="-20">
                <a:solidFill>
                  <a:srgbClr val="97CFFF"/>
                </a:solidFill>
                <a:latin typeface="Arial MT"/>
                <a:cs typeface="Arial MT"/>
              </a:rPr>
              <a:t>In</a:t>
            </a:r>
            <a:r>
              <a:rPr dirty="0" sz="1000" spc="-50">
                <a:solidFill>
                  <a:srgbClr val="97C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B87BC"/>
                </a:solidFill>
                <a:latin typeface="Arial MT"/>
                <a:cs typeface="Arial MT"/>
              </a:rPr>
              <a:t>terms</a:t>
            </a:r>
            <a:r>
              <a:rPr dirty="0" sz="1000" spc="-45">
                <a:solidFill>
                  <a:srgbClr val="6B87BC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B7589"/>
                </a:solidFill>
                <a:latin typeface="Arial MT"/>
                <a:cs typeface="Arial MT"/>
              </a:rPr>
              <a:t>of</a:t>
            </a:r>
            <a:r>
              <a:rPr dirty="0" sz="1000" spc="-15">
                <a:solidFill>
                  <a:srgbClr val="6B7589"/>
                </a:solidFill>
                <a:latin typeface="Arial MT"/>
                <a:cs typeface="Arial MT"/>
              </a:rPr>
              <a:t> </a:t>
            </a:r>
            <a:r>
              <a:rPr dirty="0" sz="1000" spc="-35">
                <a:solidFill>
                  <a:srgbClr val="6B75A3"/>
                </a:solidFill>
                <a:latin typeface="Arial MT"/>
                <a:cs typeface="Arial MT"/>
              </a:rPr>
              <a:t>li1estyle,</a:t>
            </a:r>
            <a:r>
              <a:rPr dirty="0" sz="1000" spc="-20">
                <a:solidFill>
                  <a:srgbClr val="6B75A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8CBDED"/>
                </a:solidFill>
                <a:latin typeface="Arial MT"/>
                <a:cs typeface="Arial MT"/>
              </a:rPr>
              <a:t>the</a:t>
            </a:r>
            <a:r>
              <a:rPr dirty="0" sz="1000" spc="-25">
                <a:solidFill>
                  <a:srgbClr val="8CBDE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7EB5E9"/>
                </a:solidFill>
                <a:latin typeface="Arial MT"/>
                <a:cs typeface="Arial MT"/>
              </a:rPr>
              <a:t>report</a:t>
            </a:r>
            <a:r>
              <a:rPr dirty="0" sz="1000" spc="10">
                <a:solidFill>
                  <a:srgbClr val="7EB5E9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6B9ED1"/>
                </a:solidFill>
                <a:latin typeface="Arial MT"/>
                <a:cs typeface="Arial MT"/>
              </a:rPr>
              <a:t>suggests:</a:t>
            </a:r>
            <a:endParaRPr sz="1000">
              <a:latin typeface="Arial MT"/>
              <a:cs typeface="Arial MT"/>
            </a:endParaRPr>
          </a:p>
          <a:p>
            <a:pPr marL="347980" indent="-84455">
              <a:lnSpc>
                <a:spcPct val="100000"/>
              </a:lnSpc>
              <a:spcBef>
                <a:spcPts val="229"/>
              </a:spcBef>
              <a:buClr>
                <a:srgbClr val="CACACA"/>
              </a:buClr>
              <a:buChar char="-"/>
              <a:tabLst>
                <a:tab pos="347980" algn="l"/>
              </a:tabLst>
            </a:pPr>
            <a:r>
              <a:rPr dirty="0" sz="1000" spc="-10">
                <a:solidFill>
                  <a:srgbClr val="7EB5C3"/>
                </a:solidFill>
                <a:latin typeface="Arial MT"/>
                <a:cs typeface="Arial MT"/>
              </a:rPr>
              <a:t>Monitoring</a:t>
            </a:r>
            <a:r>
              <a:rPr dirty="0" sz="1000" spc="-45">
                <a:solidFill>
                  <a:srgbClr val="7EB5C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79AEE1"/>
                </a:solidFill>
                <a:latin typeface="Arial MT"/>
                <a:cs typeface="Arial MT"/>
              </a:rPr>
              <a:t>your</a:t>
            </a:r>
            <a:r>
              <a:rPr dirty="0" sz="1000" spc="20">
                <a:solidFill>
                  <a:srgbClr val="79AEE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87BFD8"/>
                </a:solidFill>
                <a:latin typeface="Arial MT"/>
                <a:cs typeface="Arial MT"/>
              </a:rPr>
              <a:t>vitals</a:t>
            </a:r>
            <a:r>
              <a:rPr dirty="0" sz="1000" spc="-50">
                <a:solidFill>
                  <a:srgbClr val="87BFD8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A0D4FF"/>
                </a:solidFill>
                <a:latin typeface="Arial MT"/>
                <a:cs typeface="Arial MT"/>
              </a:rPr>
              <a:t>closely</a:t>
            </a:r>
            <a:r>
              <a:rPr dirty="0" sz="1000" spc="45">
                <a:solidFill>
                  <a:srgbClr val="A0D4FF"/>
                </a:solidFill>
                <a:latin typeface="Arial MT"/>
                <a:cs typeface="Arial MT"/>
              </a:rPr>
              <a:t> </a:t>
            </a:r>
            <a:r>
              <a:rPr dirty="0" sz="1000" spc="-30">
                <a:solidFill>
                  <a:srgbClr val="6B758E"/>
                </a:solidFill>
                <a:latin typeface="Arial MT"/>
                <a:cs typeface="Arial MT"/>
              </a:rPr>
              <a:t>due</a:t>
            </a:r>
            <a:r>
              <a:rPr dirty="0" sz="1000" spc="-65">
                <a:solidFill>
                  <a:srgbClr val="6B758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8CBDED"/>
                </a:solidFill>
                <a:latin typeface="Arial MT"/>
                <a:cs typeface="Arial MT"/>
              </a:rPr>
              <a:t>to</a:t>
            </a:r>
            <a:r>
              <a:rPr dirty="0" sz="1000" spc="-20">
                <a:solidFill>
                  <a:srgbClr val="8CBDED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6B758E"/>
                </a:solidFill>
                <a:latin typeface="Arial MT"/>
                <a:cs typeface="Arial MT"/>
              </a:rPr>
              <a:t>dynamic</a:t>
            </a:r>
            <a:r>
              <a:rPr dirty="0" sz="1000" spc="20">
                <a:solidFill>
                  <a:srgbClr val="6B758E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6B9ED1"/>
                </a:solidFill>
                <a:latin typeface="Arial MT"/>
                <a:cs typeface="Arial MT"/>
              </a:rPr>
              <a:t>trends</a:t>
            </a:r>
            <a:r>
              <a:rPr dirty="0" sz="1000" spc="-50">
                <a:solidFill>
                  <a:srgbClr val="6B9ED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7EB5E9"/>
                </a:solidFill>
                <a:latin typeface="Arial MT"/>
                <a:cs typeface="Arial MT"/>
              </a:rPr>
              <a:t>in</a:t>
            </a:r>
            <a:r>
              <a:rPr dirty="0" sz="1000" spc="-35">
                <a:solidFill>
                  <a:srgbClr val="7EB5E9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79878E"/>
                </a:solidFill>
                <a:latin typeface="Arial MT"/>
                <a:cs typeface="Arial MT"/>
              </a:rPr>
              <a:t>your</a:t>
            </a:r>
            <a:r>
              <a:rPr dirty="0" sz="1000" spc="-30">
                <a:solidFill>
                  <a:srgbClr val="79878E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97CFFF"/>
                </a:solidFill>
                <a:latin typeface="Arial MT"/>
                <a:cs typeface="Arial MT"/>
              </a:rPr>
              <a:t>recent</a:t>
            </a:r>
            <a:r>
              <a:rPr dirty="0" sz="1000" spc="-30">
                <a:solidFill>
                  <a:srgbClr val="97C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6B87BC"/>
                </a:solidFill>
                <a:latin typeface="Arial MT"/>
                <a:cs typeface="Arial MT"/>
              </a:rPr>
              <a:t>readings.</a:t>
            </a:r>
            <a:endParaRPr sz="1000">
              <a:latin typeface="Arial MT"/>
              <a:cs typeface="Arial MT"/>
            </a:endParaRPr>
          </a:p>
          <a:p>
            <a:pPr marL="347980" indent="-84455">
              <a:lnSpc>
                <a:spcPct val="100000"/>
              </a:lnSpc>
              <a:spcBef>
                <a:spcPts val="290"/>
              </a:spcBef>
              <a:buClr>
                <a:srgbClr val="CACACA"/>
              </a:buClr>
              <a:buChar char="-"/>
              <a:tabLst>
                <a:tab pos="347980" algn="l"/>
              </a:tabLst>
            </a:pPr>
            <a:r>
              <a:rPr dirty="0" sz="1000" spc="-25">
                <a:solidFill>
                  <a:srgbClr val="7EB5C3"/>
                </a:solidFill>
                <a:latin typeface="Arial MT"/>
                <a:cs typeface="Arial MT"/>
              </a:rPr>
              <a:t>Maintaining</a:t>
            </a:r>
            <a:r>
              <a:rPr dirty="0" sz="1000" spc="-20">
                <a:solidFill>
                  <a:srgbClr val="7EB5C3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A0D4FF"/>
                </a:solidFill>
                <a:latin typeface="Arial MT"/>
                <a:cs typeface="Arial MT"/>
              </a:rPr>
              <a:t>consistent</a:t>
            </a:r>
            <a:r>
              <a:rPr dirty="0" sz="1000" spc="50">
                <a:solidFill>
                  <a:srgbClr val="A0D4FF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97CFFF"/>
                </a:solidFill>
                <a:latin typeface="Arial MT"/>
                <a:cs typeface="Arial MT"/>
              </a:rPr>
              <a:t>hydration </a:t>
            </a:r>
            <a:r>
              <a:rPr dirty="0" sz="1000">
                <a:solidFill>
                  <a:srgbClr val="6B7980"/>
                </a:solidFill>
                <a:latin typeface="Arial MT"/>
                <a:cs typeface="Arial MT"/>
              </a:rPr>
              <a:t>by</a:t>
            </a:r>
            <a:r>
              <a:rPr dirty="0" sz="1000" spc="15">
                <a:solidFill>
                  <a:srgbClr val="6B7980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6B758E"/>
                </a:solidFill>
                <a:latin typeface="Arial MT"/>
                <a:cs typeface="Arial MT"/>
              </a:rPr>
              <a:t>drinking</a:t>
            </a:r>
            <a:r>
              <a:rPr dirty="0" sz="1000" spc="-55">
                <a:solidFill>
                  <a:srgbClr val="6B758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B757C"/>
                </a:solidFill>
                <a:latin typeface="Arial MT"/>
                <a:cs typeface="Arial MT"/>
              </a:rPr>
              <a:t>at</a:t>
            </a:r>
            <a:r>
              <a:rPr dirty="0" sz="1000" spc="-10">
                <a:solidFill>
                  <a:srgbClr val="6B757C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97CFFF"/>
                </a:solidFill>
                <a:latin typeface="Arial MT"/>
                <a:cs typeface="Arial MT"/>
              </a:rPr>
              <a:t>least</a:t>
            </a:r>
            <a:r>
              <a:rPr dirty="0" sz="1000" spc="-15">
                <a:solidFill>
                  <a:srgbClr val="97C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B75A3"/>
                </a:solidFill>
                <a:latin typeface="Arial MT"/>
                <a:cs typeface="Arial MT"/>
              </a:rPr>
              <a:t>8</a:t>
            </a:r>
            <a:r>
              <a:rPr dirty="0" sz="1000" spc="-20">
                <a:solidFill>
                  <a:srgbClr val="6B75A3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7EB5E9"/>
                </a:solidFill>
                <a:latin typeface="Arial MT"/>
                <a:cs typeface="Arial MT"/>
              </a:rPr>
              <a:t>glasses</a:t>
            </a:r>
            <a:r>
              <a:rPr dirty="0" sz="1000" spc="-30">
                <a:solidFill>
                  <a:srgbClr val="7EB5E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B7589"/>
                </a:solidFill>
                <a:latin typeface="Arial MT"/>
                <a:cs typeface="Arial MT"/>
              </a:rPr>
              <a:t>of</a:t>
            </a:r>
            <a:r>
              <a:rPr dirty="0" sz="1000" spc="25">
                <a:solidFill>
                  <a:srgbClr val="6B7589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87BFD1"/>
                </a:solidFill>
                <a:latin typeface="Arial MT"/>
                <a:cs typeface="Arial MT"/>
              </a:rPr>
              <a:t>water</a:t>
            </a:r>
            <a:r>
              <a:rPr dirty="0" sz="1000">
                <a:solidFill>
                  <a:srgbClr val="87BFD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B75A3"/>
                </a:solidFill>
                <a:latin typeface="Arial MT"/>
                <a:cs typeface="Arial MT"/>
              </a:rPr>
              <a:t>a</a:t>
            </a:r>
            <a:r>
              <a:rPr dirty="0" sz="1000" spc="-10">
                <a:solidFill>
                  <a:srgbClr val="6B75A3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C19E7C"/>
                </a:solidFill>
                <a:latin typeface="Arial MT"/>
                <a:cs typeface="Arial MT"/>
              </a:rPr>
              <a:t>day.</a:t>
            </a:r>
            <a:endParaRPr sz="1000">
              <a:latin typeface="Arial MT"/>
              <a:cs typeface="Arial MT"/>
            </a:endParaRPr>
          </a:p>
          <a:p>
            <a:pPr marL="346710" indent="-83185">
              <a:lnSpc>
                <a:spcPct val="100000"/>
              </a:lnSpc>
              <a:spcBef>
                <a:spcPts val="225"/>
              </a:spcBef>
              <a:buClr>
                <a:srgbClr val="CACACA"/>
              </a:buClr>
              <a:buChar char="-"/>
              <a:tabLst>
                <a:tab pos="346710" algn="l"/>
              </a:tabLst>
            </a:pPr>
            <a:r>
              <a:rPr dirty="0" sz="1000" spc="-25">
                <a:solidFill>
                  <a:srgbClr val="6B9ED1"/>
                </a:solidFill>
                <a:latin typeface="Arial MT"/>
                <a:cs typeface="Arial MT"/>
              </a:rPr>
              <a:t>Following</a:t>
            </a:r>
            <a:r>
              <a:rPr dirty="0" sz="1000" spc="-45">
                <a:solidFill>
                  <a:srgbClr val="6B9ED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6B757C"/>
                </a:solidFill>
                <a:latin typeface="Arial MT"/>
                <a:cs typeface="Arial MT"/>
              </a:rPr>
              <a:t>a</a:t>
            </a:r>
            <a:r>
              <a:rPr dirty="0" sz="1000" spc="-80">
                <a:solidFill>
                  <a:srgbClr val="6B757C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6B7580"/>
                </a:solidFill>
                <a:latin typeface="Arial MT"/>
                <a:cs typeface="Arial MT"/>
              </a:rPr>
              <a:t>balanced</a:t>
            </a:r>
            <a:r>
              <a:rPr dirty="0" sz="1000" spc="25">
                <a:solidFill>
                  <a:srgbClr val="6B7580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878787"/>
                </a:solidFill>
                <a:latin typeface="Arial MT"/>
                <a:cs typeface="Arial MT"/>
              </a:rPr>
              <a:t>whole-</a:t>
            </a:r>
            <a:r>
              <a:rPr dirty="0" sz="1000">
                <a:solidFill>
                  <a:srgbClr val="878787"/>
                </a:solidFill>
                <a:latin typeface="Arial MT"/>
                <a:cs typeface="Arial MT"/>
              </a:rPr>
              <a:t>food</a:t>
            </a:r>
            <a:r>
              <a:rPr dirty="0" sz="1000" spc="35">
                <a:solidFill>
                  <a:srgbClr val="878787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6B758E"/>
                </a:solidFill>
                <a:latin typeface="Arial MT"/>
                <a:cs typeface="Arial MT"/>
              </a:rPr>
              <a:t>diet</a:t>
            </a:r>
            <a:r>
              <a:rPr dirty="0" sz="1000" spc="-45">
                <a:solidFill>
                  <a:srgbClr val="6B758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B75A3"/>
                </a:solidFill>
                <a:latin typeface="Arial MT"/>
                <a:cs typeface="Arial MT"/>
              </a:rPr>
              <a:t>rich</a:t>
            </a:r>
            <a:r>
              <a:rPr dirty="0" sz="1000" spc="-70">
                <a:solidFill>
                  <a:srgbClr val="6B75A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B87BC"/>
                </a:solidFill>
                <a:latin typeface="Arial MT"/>
                <a:cs typeface="Arial MT"/>
              </a:rPr>
              <a:t>in</a:t>
            </a:r>
            <a:r>
              <a:rPr dirty="0" sz="1000" spc="-70">
                <a:solidFill>
                  <a:srgbClr val="6B87BC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7EB5E9"/>
                </a:solidFill>
                <a:latin typeface="Arial MT"/>
                <a:cs typeface="Arial MT"/>
              </a:rPr>
              <a:t>fruits,</a:t>
            </a:r>
            <a:r>
              <a:rPr dirty="0" sz="1000" spc="-65">
                <a:solidFill>
                  <a:srgbClr val="7EB5E9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70A7D8"/>
                </a:solidFill>
                <a:latin typeface="Arial MT"/>
                <a:cs typeface="Arial MT"/>
              </a:rPr>
              <a:t>vegetables,</a:t>
            </a:r>
            <a:r>
              <a:rPr dirty="0" sz="1000" spc="15">
                <a:solidFill>
                  <a:srgbClr val="70A7D8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7EB5E9"/>
                </a:solidFill>
                <a:latin typeface="Arial MT"/>
                <a:cs typeface="Arial MT"/>
              </a:rPr>
              <a:t>lean</a:t>
            </a:r>
            <a:r>
              <a:rPr dirty="0" sz="1000" spc="-50">
                <a:solidFill>
                  <a:srgbClr val="7EB5E9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97CFFF"/>
                </a:solidFill>
                <a:latin typeface="Arial MT"/>
                <a:cs typeface="Arial MT"/>
              </a:rPr>
              <a:t>proteins,</a:t>
            </a:r>
            <a:r>
              <a:rPr dirty="0" sz="1000" spc="15">
                <a:solidFill>
                  <a:srgbClr val="97C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C6B38E"/>
                </a:solidFill>
                <a:latin typeface="Arial MT"/>
                <a:cs typeface="Arial MT"/>
              </a:rPr>
              <a:t>and</a:t>
            </a:r>
            <a:r>
              <a:rPr dirty="0" sz="1000" spc="5">
                <a:solidFill>
                  <a:srgbClr val="C6B38E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87BFD1"/>
                </a:solidFill>
                <a:latin typeface="Arial MT"/>
                <a:cs typeface="Arial MT"/>
              </a:rPr>
              <a:t>whole</a:t>
            </a:r>
            <a:r>
              <a:rPr dirty="0" sz="1000" spc="-25">
                <a:solidFill>
                  <a:srgbClr val="87BFD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7EB5E9"/>
                </a:solidFill>
                <a:latin typeface="Arial MT"/>
                <a:cs typeface="Arial MT"/>
              </a:rPr>
              <a:t>grains.</a:t>
            </a:r>
            <a:endParaRPr sz="1000">
              <a:latin typeface="Arial MT"/>
              <a:cs typeface="Arial MT"/>
            </a:endParaRPr>
          </a:p>
          <a:p>
            <a:pPr marL="349885" indent="-86360">
              <a:lnSpc>
                <a:spcPct val="100000"/>
              </a:lnSpc>
              <a:spcBef>
                <a:spcPts val="290"/>
              </a:spcBef>
              <a:buClr>
                <a:srgbClr val="CACACA"/>
              </a:buClr>
              <a:buChar char="-"/>
              <a:tabLst>
                <a:tab pos="349885" algn="l"/>
              </a:tabLst>
            </a:pPr>
            <a:r>
              <a:rPr dirty="0" sz="1000" spc="-35">
                <a:solidFill>
                  <a:srgbClr val="91917C"/>
                </a:solidFill>
                <a:latin typeface="Arial MT"/>
                <a:cs typeface="Arial MT"/>
              </a:rPr>
              <a:t>Aiming</a:t>
            </a:r>
            <a:r>
              <a:rPr dirty="0" sz="1000" spc="-85">
                <a:solidFill>
                  <a:srgbClr val="91917C"/>
                </a:solidFill>
                <a:latin typeface="Arial MT"/>
                <a:cs typeface="Arial MT"/>
              </a:rPr>
              <a:t> </a:t>
            </a:r>
            <a:r>
              <a:rPr dirty="0" sz="1000" spc="-55">
                <a:solidFill>
                  <a:srgbClr val="B3E6FF"/>
                </a:solidFill>
                <a:latin typeface="Arial MT"/>
                <a:cs typeface="Arial MT"/>
              </a:rPr>
              <a:t>1or</a:t>
            </a:r>
            <a:r>
              <a:rPr dirty="0" sz="1000" spc="-15">
                <a:solidFill>
                  <a:srgbClr val="B3E6FF"/>
                </a:solidFill>
                <a:latin typeface="Arial MT"/>
                <a:cs typeface="Arial MT"/>
              </a:rPr>
              <a:t> </a:t>
            </a:r>
            <a:r>
              <a:rPr dirty="0" sz="1000" spc="-114">
                <a:solidFill>
                  <a:srgbClr val="83A8D4"/>
                </a:solidFill>
                <a:latin typeface="Arial MT"/>
                <a:cs typeface="Arial MT"/>
              </a:rPr>
              <a:t>3O</a:t>
            </a:r>
            <a:r>
              <a:rPr dirty="0" sz="1000">
                <a:solidFill>
                  <a:srgbClr val="83A8D4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97CFFF"/>
                </a:solidFill>
                <a:latin typeface="Arial MT"/>
                <a:cs typeface="Arial MT"/>
              </a:rPr>
              <a:t>minutes</a:t>
            </a:r>
            <a:r>
              <a:rPr dirty="0" sz="1000" spc="-20">
                <a:solidFill>
                  <a:srgbClr val="97C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B9ED1"/>
                </a:solidFill>
                <a:latin typeface="Arial MT"/>
                <a:cs typeface="Arial MT"/>
              </a:rPr>
              <a:t>of</a:t>
            </a:r>
            <a:r>
              <a:rPr dirty="0" sz="1000" spc="-15">
                <a:solidFill>
                  <a:srgbClr val="6B9ED1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6B75A3"/>
                </a:solidFill>
                <a:latin typeface="Arial MT"/>
                <a:cs typeface="Arial MT"/>
              </a:rPr>
              <a:t>moderate</a:t>
            </a:r>
            <a:r>
              <a:rPr dirty="0" sz="1000" spc="10">
                <a:solidFill>
                  <a:srgbClr val="6B75A3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A5DBFF"/>
                </a:solidFill>
                <a:latin typeface="Arial MT"/>
                <a:cs typeface="Arial MT"/>
              </a:rPr>
              <a:t>exercise</a:t>
            </a:r>
            <a:r>
              <a:rPr dirty="0" sz="1000" spc="-5">
                <a:solidFill>
                  <a:srgbClr val="A5DB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C19E7C"/>
                </a:solidFill>
                <a:latin typeface="Arial MT"/>
                <a:cs typeface="Arial MT"/>
              </a:rPr>
              <a:t>daily</a:t>
            </a:r>
            <a:r>
              <a:rPr dirty="0" sz="1000" spc="20">
                <a:solidFill>
                  <a:srgbClr val="C19E7C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B87BC"/>
                </a:solidFill>
                <a:latin typeface="Arial MT"/>
                <a:cs typeface="Arial MT"/>
              </a:rPr>
              <a:t>to</a:t>
            </a:r>
            <a:r>
              <a:rPr dirty="0" sz="1000" spc="-75">
                <a:solidFill>
                  <a:srgbClr val="6B87BC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6B87BC"/>
                </a:solidFill>
                <a:latin typeface="Arial MT"/>
                <a:cs typeface="Arial MT"/>
              </a:rPr>
              <a:t>maintain</a:t>
            </a:r>
            <a:r>
              <a:rPr dirty="0" sz="1000" spc="-35">
                <a:solidFill>
                  <a:srgbClr val="6B87BC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A0D4FF"/>
                </a:solidFill>
                <a:latin typeface="Arial MT"/>
                <a:cs typeface="Arial MT"/>
              </a:rPr>
              <a:t>cardiovascular</a:t>
            </a:r>
            <a:r>
              <a:rPr dirty="0" sz="1000" spc="-45">
                <a:solidFill>
                  <a:srgbClr val="A0D4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7EB5E9"/>
                </a:solidFill>
                <a:latin typeface="Arial MT"/>
                <a:cs typeface="Arial MT"/>
              </a:rPr>
              <a:t>health.</a:t>
            </a:r>
            <a:endParaRPr sz="1000">
              <a:latin typeface="Arial MT"/>
              <a:cs typeface="Arial MT"/>
            </a:endParaRPr>
          </a:p>
          <a:p>
            <a:pPr marL="346710" indent="-83185">
              <a:lnSpc>
                <a:spcPct val="100000"/>
              </a:lnSpc>
              <a:spcBef>
                <a:spcPts val="229"/>
              </a:spcBef>
              <a:buClr>
                <a:srgbClr val="CACACA"/>
              </a:buClr>
              <a:buChar char="-"/>
              <a:tabLst>
                <a:tab pos="346710" algn="l"/>
              </a:tabLst>
            </a:pPr>
            <a:r>
              <a:rPr dirty="0" sz="1000" spc="-10">
                <a:solidFill>
                  <a:srgbClr val="7EB5E9"/>
                </a:solidFill>
                <a:latin typeface="Arial MT"/>
                <a:cs typeface="Arial MT"/>
              </a:rPr>
              <a:t>Trying</a:t>
            </a:r>
            <a:r>
              <a:rPr dirty="0" sz="1000" spc="-60">
                <a:solidFill>
                  <a:srgbClr val="7EB5E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B9ED1"/>
                </a:solidFill>
                <a:latin typeface="Arial MT"/>
                <a:cs typeface="Arial MT"/>
              </a:rPr>
              <a:t>to</a:t>
            </a:r>
            <a:r>
              <a:rPr dirty="0" sz="1000" spc="-70">
                <a:solidFill>
                  <a:srgbClr val="6B9ED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7EB5E9"/>
                </a:solidFill>
                <a:latin typeface="Arial MT"/>
                <a:cs typeface="Arial MT"/>
              </a:rPr>
              <a:t>go</a:t>
            </a:r>
            <a:r>
              <a:rPr dirty="0" sz="1000" spc="-70">
                <a:solidFill>
                  <a:srgbClr val="7EB5E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B87BC"/>
                </a:solidFill>
                <a:latin typeface="Arial MT"/>
                <a:cs typeface="Arial MT"/>
              </a:rPr>
              <a:t>to</a:t>
            </a:r>
            <a:r>
              <a:rPr dirty="0" sz="1000" spc="-75">
                <a:solidFill>
                  <a:srgbClr val="6B87BC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B7580"/>
                </a:solidFill>
                <a:latin typeface="Arial MT"/>
                <a:cs typeface="Arial MT"/>
              </a:rPr>
              <a:t>bed</a:t>
            </a:r>
            <a:r>
              <a:rPr dirty="0" sz="1000" spc="-40">
                <a:solidFill>
                  <a:srgbClr val="6B758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B75A3"/>
                </a:solidFill>
                <a:latin typeface="Arial MT"/>
                <a:cs typeface="Arial MT"/>
              </a:rPr>
              <a:t>and</a:t>
            </a:r>
            <a:r>
              <a:rPr dirty="0" sz="1000" spc="-50">
                <a:solidFill>
                  <a:srgbClr val="6B75A3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707B80"/>
                </a:solidFill>
                <a:latin typeface="Arial MT"/>
                <a:cs typeface="Arial MT"/>
              </a:rPr>
              <a:t>wake</a:t>
            </a:r>
            <a:r>
              <a:rPr dirty="0" sz="1000" spc="-50">
                <a:solidFill>
                  <a:srgbClr val="707B8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B758E"/>
                </a:solidFill>
                <a:latin typeface="Arial MT"/>
                <a:cs typeface="Arial MT"/>
              </a:rPr>
              <a:t>up</a:t>
            </a:r>
            <a:r>
              <a:rPr dirty="0" sz="1000" spc="-55">
                <a:solidFill>
                  <a:srgbClr val="6B758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B757C"/>
                </a:solidFill>
                <a:latin typeface="Arial MT"/>
                <a:cs typeface="Arial MT"/>
              </a:rPr>
              <a:t>at</a:t>
            </a:r>
            <a:r>
              <a:rPr dirty="0" sz="1000" spc="-20">
                <a:solidFill>
                  <a:srgbClr val="6B757C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B9ED1"/>
                </a:solidFill>
                <a:latin typeface="Arial MT"/>
                <a:cs typeface="Arial MT"/>
              </a:rPr>
              <a:t>the</a:t>
            </a:r>
            <a:r>
              <a:rPr dirty="0" sz="1000" spc="10">
                <a:solidFill>
                  <a:srgbClr val="6B9ED1"/>
                </a:solidFill>
                <a:latin typeface="Arial MT"/>
                <a:cs typeface="Arial MT"/>
              </a:rPr>
              <a:t> </a:t>
            </a:r>
            <a:r>
              <a:rPr dirty="0" sz="1000" spc="-50">
                <a:solidFill>
                  <a:srgbClr val="6B7595"/>
                </a:solidFill>
                <a:latin typeface="Arial MT"/>
                <a:cs typeface="Arial MT"/>
              </a:rPr>
              <a:t>same</a:t>
            </a:r>
            <a:r>
              <a:rPr dirty="0" sz="1000" spc="-45">
                <a:solidFill>
                  <a:srgbClr val="6B7595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8CBDED"/>
                </a:solidFill>
                <a:latin typeface="Arial MT"/>
                <a:cs typeface="Arial MT"/>
              </a:rPr>
              <a:t>time</a:t>
            </a:r>
            <a:r>
              <a:rPr dirty="0" sz="1000" spc="-55">
                <a:solidFill>
                  <a:srgbClr val="8CBDE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A5DBFF"/>
                </a:solidFill>
                <a:latin typeface="Arial MT"/>
                <a:cs typeface="Arial MT"/>
              </a:rPr>
              <a:t>every</a:t>
            </a:r>
            <a:r>
              <a:rPr dirty="0" sz="1000" spc="-5">
                <a:solidFill>
                  <a:srgbClr val="A5DBFF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C19E7C"/>
                </a:solidFill>
                <a:latin typeface="Arial MT"/>
                <a:cs typeface="Arial MT"/>
              </a:rPr>
              <a:t>day</a:t>
            </a:r>
            <a:r>
              <a:rPr dirty="0" sz="1000" spc="-45">
                <a:solidFill>
                  <a:srgbClr val="C19E7C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B758E"/>
                </a:solidFill>
                <a:latin typeface="Arial MT"/>
                <a:cs typeface="Arial MT"/>
              </a:rPr>
              <a:t>to</a:t>
            </a:r>
            <a:r>
              <a:rPr dirty="0" sz="1000" spc="-75">
                <a:solidFill>
                  <a:srgbClr val="6B758E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6B75A3"/>
                </a:solidFill>
                <a:latin typeface="Arial MT"/>
                <a:cs typeface="Arial MT"/>
              </a:rPr>
              <a:t>regulate</a:t>
            </a:r>
            <a:r>
              <a:rPr dirty="0" sz="1000" spc="10">
                <a:solidFill>
                  <a:srgbClr val="6B75A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70A5D8"/>
                </a:solidFill>
                <a:latin typeface="Arial MT"/>
                <a:cs typeface="Arial MT"/>
              </a:rPr>
              <a:t>your</a:t>
            </a:r>
            <a:r>
              <a:rPr dirty="0" sz="1000" spc="-5">
                <a:solidFill>
                  <a:srgbClr val="70A5D8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6B758E"/>
                </a:solidFill>
                <a:latin typeface="Arial MT"/>
                <a:cs typeface="Arial MT"/>
              </a:rPr>
              <a:t>circadian</a:t>
            </a:r>
            <a:r>
              <a:rPr dirty="0" sz="1000">
                <a:solidFill>
                  <a:srgbClr val="6B758E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7EB5E9"/>
                </a:solidFill>
                <a:latin typeface="Arial MT"/>
                <a:cs typeface="Arial MT"/>
              </a:rPr>
              <a:t>rhythm.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000">
              <a:latin typeface="Arial MT"/>
              <a:cs typeface="Arial MT"/>
            </a:endParaRPr>
          </a:p>
          <a:p>
            <a:pPr marL="259079" marR="5080" indent="7620">
              <a:lnSpc>
                <a:spcPct val="124000"/>
              </a:lnSpc>
            </a:pPr>
            <a:r>
              <a:rPr dirty="0" sz="1000" spc="-35">
                <a:solidFill>
                  <a:srgbClr val="97CFFF"/>
                </a:solidFill>
                <a:latin typeface="Arial MT"/>
                <a:cs typeface="Arial MT"/>
              </a:rPr>
              <a:t>Your </a:t>
            </a:r>
            <a:r>
              <a:rPr dirty="0" sz="1000" spc="-10">
                <a:solidFill>
                  <a:srgbClr val="AAD4ED"/>
                </a:solidFill>
                <a:latin typeface="Arial MT"/>
                <a:cs typeface="Arial MT"/>
              </a:rPr>
              <a:t>current</a:t>
            </a:r>
            <a:r>
              <a:rPr dirty="0" sz="1000" spc="-50">
                <a:solidFill>
                  <a:srgbClr val="AAD4ED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6B75A3"/>
                </a:solidFill>
                <a:latin typeface="Arial MT"/>
                <a:cs typeface="Arial MT"/>
              </a:rPr>
              <a:t>medications</a:t>
            </a:r>
            <a:r>
              <a:rPr dirty="0" sz="1000" spc="35">
                <a:solidFill>
                  <a:srgbClr val="6B75A3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97CFFF"/>
                </a:solidFill>
                <a:latin typeface="Arial MT"/>
                <a:cs typeface="Arial MT"/>
              </a:rPr>
              <a:t>include</a:t>
            </a:r>
            <a:r>
              <a:rPr dirty="0" sz="1000" spc="10">
                <a:solidFill>
                  <a:srgbClr val="97CFFF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97CFFF"/>
                </a:solidFill>
                <a:latin typeface="Arial MT"/>
                <a:cs typeface="Arial MT"/>
              </a:rPr>
              <a:t>paracetamol</a:t>
            </a:r>
            <a:r>
              <a:rPr dirty="0" sz="1000" spc="100">
                <a:solidFill>
                  <a:srgbClr val="97C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79ACB3"/>
                </a:solidFill>
                <a:latin typeface="Arial MT"/>
                <a:cs typeface="Arial MT"/>
              </a:rPr>
              <a:t>with</a:t>
            </a:r>
            <a:r>
              <a:rPr dirty="0" sz="1000" spc="-60">
                <a:solidFill>
                  <a:srgbClr val="79ACB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B757C"/>
                </a:solidFill>
                <a:latin typeface="Arial MT"/>
                <a:cs typeface="Arial MT"/>
              </a:rPr>
              <a:t>a</a:t>
            </a:r>
            <a:r>
              <a:rPr dirty="0" sz="1000" spc="-70">
                <a:solidFill>
                  <a:srgbClr val="6B757C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C19E7C"/>
                </a:solidFill>
                <a:latin typeface="Arial MT"/>
                <a:cs typeface="Arial MT"/>
              </a:rPr>
              <a:t>dosage </a:t>
            </a:r>
            <a:r>
              <a:rPr dirty="0" sz="1000">
                <a:solidFill>
                  <a:srgbClr val="6B7589"/>
                </a:solidFill>
                <a:latin typeface="Arial MT"/>
                <a:cs typeface="Arial MT"/>
              </a:rPr>
              <a:t>of</a:t>
            </a:r>
            <a:r>
              <a:rPr dirty="0" sz="1000" spc="-65">
                <a:solidFill>
                  <a:srgbClr val="6B7589"/>
                </a:solidFill>
                <a:latin typeface="Arial MT"/>
                <a:cs typeface="Arial MT"/>
              </a:rPr>
              <a:t> </a:t>
            </a:r>
            <a:r>
              <a:rPr dirty="0" sz="1000" spc="-100">
                <a:solidFill>
                  <a:srgbClr val="97CFFF"/>
                </a:solidFill>
                <a:latin typeface="Arial MT"/>
                <a:cs typeface="Arial MT"/>
              </a:rPr>
              <a:t>1Omg</a:t>
            </a:r>
            <a:r>
              <a:rPr dirty="0" sz="1000" spc="-25">
                <a:solidFill>
                  <a:srgbClr val="97CFFF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6B75A3"/>
                </a:solidFill>
                <a:latin typeface="Arial MT"/>
                <a:cs typeface="Arial MT"/>
              </a:rPr>
              <a:t>and</a:t>
            </a:r>
            <a:r>
              <a:rPr dirty="0" sz="1000" spc="-55">
                <a:solidFill>
                  <a:srgbClr val="6B75A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97C6ED"/>
                </a:solidFill>
                <a:latin typeface="Arial MT"/>
                <a:cs typeface="Arial MT"/>
              </a:rPr>
              <a:t>a</a:t>
            </a:r>
            <a:r>
              <a:rPr dirty="0" sz="1000" spc="-45">
                <a:solidFill>
                  <a:srgbClr val="97C6ED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6B75A3"/>
                </a:solidFill>
                <a:latin typeface="Arial MT"/>
                <a:cs typeface="Arial MT"/>
              </a:rPr>
              <a:t>frequency</a:t>
            </a:r>
            <a:r>
              <a:rPr dirty="0" sz="1000" spc="40">
                <a:solidFill>
                  <a:srgbClr val="6B75A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A0D4FF"/>
                </a:solidFill>
                <a:latin typeface="Arial MT"/>
                <a:cs typeface="Arial MT"/>
              </a:rPr>
              <a:t>of</a:t>
            </a:r>
            <a:r>
              <a:rPr dirty="0" sz="1000" spc="30">
                <a:solidFill>
                  <a:srgbClr val="A0D4FF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707B80"/>
                </a:solidFill>
                <a:latin typeface="Arial MT"/>
                <a:cs typeface="Arial MT"/>
              </a:rPr>
              <a:t>weekly,</a:t>
            </a:r>
            <a:r>
              <a:rPr dirty="0" sz="1000" spc="5">
                <a:solidFill>
                  <a:srgbClr val="707B80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6B757C"/>
                </a:solidFill>
                <a:latin typeface="Arial MT"/>
                <a:cs typeface="Arial MT"/>
              </a:rPr>
              <a:t>and</a:t>
            </a:r>
            <a:r>
              <a:rPr dirty="0" sz="1000" spc="-60">
                <a:solidFill>
                  <a:srgbClr val="6B757C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79AEE1"/>
                </a:solidFill>
                <a:latin typeface="Arial MT"/>
                <a:cs typeface="Arial MT"/>
              </a:rPr>
              <a:t>you</a:t>
            </a:r>
            <a:r>
              <a:rPr dirty="0" sz="1000" spc="-45">
                <a:solidFill>
                  <a:srgbClr val="79AEE1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7EB5E9"/>
                </a:solidFill>
                <a:latin typeface="Arial MT"/>
                <a:cs typeface="Arial MT"/>
              </a:rPr>
              <a:t>have</a:t>
            </a:r>
            <a:r>
              <a:rPr dirty="0" sz="1000" spc="-5">
                <a:solidFill>
                  <a:srgbClr val="7EB5E9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6B7980"/>
                </a:solidFill>
                <a:latin typeface="Arial MT"/>
                <a:cs typeface="Arial MT"/>
              </a:rPr>
              <a:t>been</a:t>
            </a:r>
            <a:r>
              <a:rPr dirty="0" sz="1000" spc="-15">
                <a:solidFill>
                  <a:srgbClr val="6B7980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6B75A3"/>
                </a:solidFill>
                <a:latin typeface="Arial MT"/>
                <a:cs typeface="Arial MT"/>
              </a:rPr>
              <a:t>adhering </a:t>
            </a:r>
            <a:r>
              <a:rPr dirty="0" sz="1000">
                <a:solidFill>
                  <a:srgbClr val="6B9ED1"/>
                </a:solidFill>
                <a:latin typeface="Arial MT"/>
                <a:cs typeface="Arial MT"/>
              </a:rPr>
              <a:t>to</a:t>
            </a:r>
            <a:r>
              <a:rPr dirty="0" sz="1000" spc="-85">
                <a:solidFill>
                  <a:srgbClr val="6B9ED1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6B758E"/>
                </a:solidFill>
                <a:latin typeface="Arial MT"/>
                <a:cs typeface="Arial MT"/>
              </a:rPr>
              <a:t>this </a:t>
            </a:r>
            <a:r>
              <a:rPr dirty="0" sz="1000" spc="-20">
                <a:solidFill>
                  <a:srgbClr val="6B75A3"/>
                </a:solidFill>
                <a:latin typeface="Arial MT"/>
                <a:cs typeface="Arial MT"/>
              </a:rPr>
              <a:t>medication</a:t>
            </a:r>
            <a:r>
              <a:rPr dirty="0" sz="1000" spc="-15">
                <a:solidFill>
                  <a:srgbClr val="6B75A3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97CFFF"/>
                </a:solidFill>
                <a:latin typeface="Arial MT"/>
                <a:cs typeface="Arial MT"/>
              </a:rPr>
              <a:t>100%.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1000">
              <a:latin typeface="Arial MT"/>
              <a:cs typeface="Arial MT"/>
            </a:endParaRPr>
          </a:p>
          <a:p>
            <a:pPr marL="259079" marR="146050" indent="5080">
              <a:lnSpc>
                <a:spcPct val="121600"/>
              </a:lnSpc>
            </a:pPr>
            <a:r>
              <a:rPr dirty="0" sz="1000" spc="-35">
                <a:solidFill>
                  <a:srgbClr val="6B758E"/>
                </a:solidFill>
                <a:latin typeface="Arial MT"/>
                <a:cs typeface="Arial MT"/>
              </a:rPr>
              <a:t>The</a:t>
            </a:r>
            <a:r>
              <a:rPr dirty="0" sz="1000" spc="-55">
                <a:solidFill>
                  <a:srgbClr val="6B758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B75A3"/>
                </a:solidFill>
                <a:latin typeface="Arial MT"/>
                <a:cs typeface="Arial MT"/>
              </a:rPr>
              <a:t>risk</a:t>
            </a:r>
            <a:r>
              <a:rPr dirty="0" sz="1000" spc="-70">
                <a:solidFill>
                  <a:srgbClr val="6B75A3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97C6ED"/>
                </a:solidFill>
                <a:latin typeface="Arial MT"/>
                <a:cs typeface="Arial MT"/>
              </a:rPr>
              <a:t>analysis</a:t>
            </a:r>
            <a:r>
              <a:rPr dirty="0" sz="1000" spc="-30">
                <a:solidFill>
                  <a:srgbClr val="97C6ED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97CFFF"/>
                </a:solidFill>
                <a:latin typeface="Arial MT"/>
                <a:cs typeface="Arial MT"/>
              </a:rPr>
              <a:t>indicates</a:t>
            </a:r>
            <a:r>
              <a:rPr dirty="0" sz="1000" spc="-5">
                <a:solidFill>
                  <a:srgbClr val="97CFFF"/>
                </a:solidFill>
                <a:latin typeface="Arial MT"/>
                <a:cs typeface="Arial MT"/>
              </a:rPr>
              <a:t> </a:t>
            </a:r>
            <a:r>
              <a:rPr dirty="0" sz="1000" spc="-85">
                <a:solidFill>
                  <a:srgbClr val="C6B38E"/>
                </a:solidFill>
                <a:latin typeface="Arial MT"/>
                <a:cs typeface="Arial MT"/>
              </a:rPr>
              <a:t>a</a:t>
            </a:r>
            <a:r>
              <a:rPr dirty="0" sz="1000" spc="-10">
                <a:solidFill>
                  <a:srgbClr val="C6B38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B87BC"/>
                </a:solidFill>
                <a:latin typeface="Arial MT"/>
                <a:cs typeface="Arial MT"/>
              </a:rPr>
              <a:t>low</a:t>
            </a:r>
            <a:r>
              <a:rPr dirty="0" sz="1000" spc="5">
                <a:solidFill>
                  <a:srgbClr val="6B87BC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97CFFF"/>
                </a:solidFill>
                <a:latin typeface="Arial MT"/>
                <a:cs typeface="Arial MT"/>
              </a:rPr>
              <a:t>risk</a:t>
            </a:r>
            <a:r>
              <a:rPr dirty="0" sz="1000" spc="-15">
                <a:solidFill>
                  <a:srgbClr val="97CFFF"/>
                </a:solidFill>
                <a:latin typeface="Arial MT"/>
                <a:cs typeface="Arial MT"/>
              </a:rPr>
              <a:t> </a:t>
            </a:r>
            <a:r>
              <a:rPr dirty="0" sz="1000" spc="-30">
                <a:solidFill>
                  <a:srgbClr val="AAD4ED"/>
                </a:solidFill>
                <a:latin typeface="Arial MT"/>
                <a:cs typeface="Arial MT"/>
              </a:rPr>
              <a:t>classi1ication</a:t>
            </a:r>
            <a:r>
              <a:rPr dirty="0" sz="1000" spc="-40">
                <a:solidFill>
                  <a:srgbClr val="AAD4ED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79ACB3"/>
                </a:solidFill>
                <a:latin typeface="Arial MT"/>
                <a:cs typeface="Arial MT"/>
              </a:rPr>
              <a:t>with</a:t>
            </a:r>
            <a:r>
              <a:rPr dirty="0" sz="1000" spc="-55">
                <a:solidFill>
                  <a:srgbClr val="79ACB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B757C"/>
                </a:solidFill>
                <a:latin typeface="Arial MT"/>
                <a:cs typeface="Arial MT"/>
              </a:rPr>
              <a:t>a</a:t>
            </a:r>
            <a:r>
              <a:rPr dirty="0" sz="1000" spc="-65">
                <a:solidFill>
                  <a:srgbClr val="6B757C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6B87BC"/>
                </a:solidFill>
                <a:latin typeface="Arial MT"/>
                <a:cs typeface="Arial MT"/>
              </a:rPr>
              <a:t>score</a:t>
            </a:r>
            <a:r>
              <a:rPr dirty="0" sz="1000" spc="-30">
                <a:solidFill>
                  <a:srgbClr val="6B87BC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B9ED1"/>
                </a:solidFill>
                <a:latin typeface="Arial MT"/>
                <a:cs typeface="Arial MT"/>
              </a:rPr>
              <a:t>of </a:t>
            </a:r>
            <a:r>
              <a:rPr dirty="0" sz="1000">
                <a:solidFill>
                  <a:srgbClr val="757585"/>
                </a:solidFill>
                <a:latin typeface="Arial MT"/>
                <a:cs typeface="Arial MT"/>
              </a:rPr>
              <a:t>0.</a:t>
            </a:r>
            <a:r>
              <a:rPr dirty="0" sz="1000" spc="-35">
                <a:solidFill>
                  <a:srgbClr val="757585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97CFFF"/>
                </a:solidFill>
                <a:latin typeface="Arial MT"/>
                <a:cs typeface="Arial MT"/>
              </a:rPr>
              <a:t>Factors</a:t>
            </a:r>
            <a:r>
              <a:rPr dirty="0" sz="1000" spc="20">
                <a:solidFill>
                  <a:srgbClr val="97C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97CFFF"/>
                </a:solidFill>
                <a:latin typeface="Arial MT"/>
                <a:cs typeface="Arial MT"/>
              </a:rPr>
              <a:t>influencing </a:t>
            </a:r>
            <a:r>
              <a:rPr dirty="0" sz="1000">
                <a:solidFill>
                  <a:srgbClr val="6B87BC"/>
                </a:solidFill>
                <a:latin typeface="Arial MT"/>
                <a:cs typeface="Arial MT"/>
              </a:rPr>
              <a:t>this</a:t>
            </a:r>
            <a:r>
              <a:rPr dirty="0" sz="1000" spc="-45">
                <a:solidFill>
                  <a:srgbClr val="6B87BC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6B9ED1"/>
                </a:solidFill>
                <a:latin typeface="Arial MT"/>
                <a:cs typeface="Arial MT"/>
              </a:rPr>
              <a:t>score</a:t>
            </a:r>
            <a:r>
              <a:rPr dirty="0" sz="1000" spc="-15">
                <a:solidFill>
                  <a:srgbClr val="6B9ED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7EB5E9"/>
                </a:solidFill>
                <a:latin typeface="Arial MT"/>
                <a:cs typeface="Arial MT"/>
              </a:rPr>
              <a:t>include</a:t>
            </a:r>
            <a:r>
              <a:rPr dirty="0" sz="1000" spc="-5">
                <a:solidFill>
                  <a:srgbClr val="7EB5E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B9ED1"/>
                </a:solidFill>
                <a:latin typeface="Arial MT"/>
                <a:cs typeface="Arial MT"/>
              </a:rPr>
              <a:t>the</a:t>
            </a:r>
            <a:r>
              <a:rPr dirty="0" sz="1000" spc="-20">
                <a:solidFill>
                  <a:srgbClr val="6B9ED1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7EB5E9"/>
                </a:solidFill>
                <a:latin typeface="Arial MT"/>
                <a:cs typeface="Arial MT"/>
              </a:rPr>
              <a:t>increase</a:t>
            </a:r>
            <a:r>
              <a:rPr dirty="0" sz="1000" spc="20">
                <a:solidFill>
                  <a:srgbClr val="7EB5E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7EB5E9"/>
                </a:solidFill>
                <a:latin typeface="Arial MT"/>
                <a:cs typeface="Arial MT"/>
              </a:rPr>
              <a:t>in</a:t>
            </a:r>
            <a:r>
              <a:rPr dirty="0" sz="1000" spc="-35">
                <a:solidFill>
                  <a:srgbClr val="7EB5E9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6B9ED1"/>
                </a:solidFill>
                <a:latin typeface="Arial MT"/>
                <a:cs typeface="Arial MT"/>
              </a:rPr>
              <a:t>systolic </a:t>
            </a:r>
            <a:r>
              <a:rPr dirty="0" sz="1000">
                <a:solidFill>
                  <a:srgbClr val="6B7580"/>
                </a:solidFill>
                <a:latin typeface="Arial MT"/>
                <a:cs typeface="Arial MT"/>
              </a:rPr>
              <a:t>blood</a:t>
            </a:r>
            <a:r>
              <a:rPr dirty="0" sz="1000" spc="-50">
                <a:solidFill>
                  <a:srgbClr val="6B7580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6B7580"/>
                </a:solidFill>
                <a:latin typeface="Arial MT"/>
                <a:cs typeface="Arial MT"/>
              </a:rPr>
              <a:t>pressure</a:t>
            </a:r>
            <a:r>
              <a:rPr dirty="0" sz="1000" spc="-25">
                <a:solidFill>
                  <a:srgbClr val="6B758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7EB5E9"/>
                </a:solidFill>
                <a:latin typeface="Arial MT"/>
                <a:cs typeface="Arial MT"/>
              </a:rPr>
              <a:t>from</a:t>
            </a:r>
            <a:r>
              <a:rPr dirty="0" sz="1000" spc="-70">
                <a:solidFill>
                  <a:srgbClr val="7EB5E9"/>
                </a:solidFill>
                <a:latin typeface="Arial MT"/>
                <a:cs typeface="Arial MT"/>
              </a:rPr>
              <a:t> </a:t>
            </a:r>
            <a:r>
              <a:rPr dirty="0" sz="1000" spc="-40">
                <a:solidFill>
                  <a:srgbClr val="97CFFF"/>
                </a:solidFill>
                <a:latin typeface="Arial MT"/>
                <a:cs typeface="Arial MT"/>
              </a:rPr>
              <a:t>100</a:t>
            </a:r>
            <a:r>
              <a:rPr dirty="0" sz="1000" spc="-15">
                <a:solidFill>
                  <a:srgbClr val="97C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B758E"/>
                </a:solidFill>
                <a:latin typeface="Arial MT"/>
                <a:cs typeface="Arial MT"/>
              </a:rPr>
              <a:t>to</a:t>
            </a:r>
            <a:r>
              <a:rPr dirty="0" sz="1000" spc="-114">
                <a:solidFill>
                  <a:srgbClr val="6B758E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97CFFF"/>
                </a:solidFill>
                <a:latin typeface="Arial MT"/>
                <a:cs typeface="Arial MT"/>
              </a:rPr>
              <a:t>120</a:t>
            </a:r>
            <a:r>
              <a:rPr dirty="0" sz="1000" spc="-5">
                <a:solidFill>
                  <a:srgbClr val="97CFFF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7EB5E9"/>
                </a:solidFill>
                <a:latin typeface="Arial MT"/>
                <a:cs typeface="Arial MT"/>
              </a:rPr>
              <a:t>mmHg,</a:t>
            </a:r>
            <a:r>
              <a:rPr dirty="0" sz="1000">
                <a:solidFill>
                  <a:srgbClr val="7EB5E9"/>
                </a:solidFill>
                <a:latin typeface="Arial MT"/>
                <a:cs typeface="Arial MT"/>
              </a:rPr>
              <a:t> </a:t>
            </a:r>
            <a:r>
              <a:rPr dirty="0" sz="1000" spc="-45">
                <a:solidFill>
                  <a:srgbClr val="6B75A3"/>
                </a:solidFill>
                <a:latin typeface="Arial MT"/>
                <a:cs typeface="Arial MT"/>
              </a:rPr>
              <a:t>an</a:t>
            </a:r>
            <a:r>
              <a:rPr dirty="0" sz="1000" spc="-25">
                <a:solidFill>
                  <a:srgbClr val="6B75A3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6B87BC"/>
                </a:solidFill>
                <a:latin typeface="Arial MT"/>
                <a:cs typeface="Arial MT"/>
              </a:rPr>
              <a:t>increase</a:t>
            </a:r>
            <a:r>
              <a:rPr dirty="0" sz="1000" spc="-35">
                <a:solidFill>
                  <a:srgbClr val="6B87BC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B87BC"/>
                </a:solidFill>
                <a:latin typeface="Arial MT"/>
                <a:cs typeface="Arial MT"/>
              </a:rPr>
              <a:t>in</a:t>
            </a:r>
            <a:r>
              <a:rPr dirty="0" sz="1000" spc="-35">
                <a:solidFill>
                  <a:srgbClr val="6B87BC"/>
                </a:solidFill>
                <a:latin typeface="Arial MT"/>
                <a:cs typeface="Arial MT"/>
              </a:rPr>
              <a:t> </a:t>
            </a:r>
            <a:r>
              <a:rPr dirty="0" sz="1000" spc="-60">
                <a:solidFill>
                  <a:srgbClr val="87BFF2"/>
                </a:solidFill>
                <a:latin typeface="Arial MT"/>
                <a:cs typeface="Arial MT"/>
              </a:rPr>
              <a:t>SpO2</a:t>
            </a:r>
            <a:r>
              <a:rPr dirty="0" sz="1000" spc="-85">
                <a:solidFill>
                  <a:srgbClr val="87BFF2"/>
                </a:solidFill>
                <a:latin typeface="Arial MT"/>
                <a:cs typeface="Arial MT"/>
              </a:rPr>
              <a:t> </a:t>
            </a:r>
            <a:r>
              <a:rPr dirty="0" sz="1000" spc="-45">
                <a:solidFill>
                  <a:srgbClr val="B3E6FF"/>
                </a:solidFill>
                <a:latin typeface="Arial MT"/>
                <a:cs typeface="Arial MT"/>
              </a:rPr>
              <a:t>1rom</a:t>
            </a:r>
            <a:r>
              <a:rPr dirty="0" sz="1000" spc="15">
                <a:solidFill>
                  <a:srgbClr val="B3E6FF"/>
                </a:solidFill>
                <a:latin typeface="Arial MT"/>
                <a:cs typeface="Arial MT"/>
              </a:rPr>
              <a:t> </a:t>
            </a:r>
            <a:r>
              <a:rPr dirty="0" sz="1000" spc="-60">
                <a:solidFill>
                  <a:srgbClr val="AAD4E9"/>
                </a:solidFill>
                <a:latin typeface="Arial MT"/>
                <a:cs typeface="Arial MT"/>
              </a:rPr>
              <a:t>90.O%</a:t>
            </a:r>
            <a:r>
              <a:rPr dirty="0" sz="1000" spc="65">
                <a:solidFill>
                  <a:srgbClr val="AAD4E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B9ED1"/>
                </a:solidFill>
                <a:latin typeface="Arial MT"/>
                <a:cs typeface="Arial MT"/>
              </a:rPr>
              <a:t>to</a:t>
            </a:r>
            <a:r>
              <a:rPr dirty="0" sz="1000" spc="-65">
                <a:solidFill>
                  <a:srgbClr val="6B9ED1"/>
                </a:solidFill>
                <a:latin typeface="Arial MT"/>
                <a:cs typeface="Arial MT"/>
              </a:rPr>
              <a:t> </a:t>
            </a:r>
            <a:r>
              <a:rPr dirty="0" sz="1000" spc="-55">
                <a:solidFill>
                  <a:srgbClr val="6BA1D4"/>
                </a:solidFill>
                <a:latin typeface="Arial MT"/>
                <a:cs typeface="Arial MT"/>
              </a:rPr>
              <a:t>98.O%,</a:t>
            </a:r>
            <a:r>
              <a:rPr dirty="0" sz="1000" spc="10">
                <a:solidFill>
                  <a:srgbClr val="6BA1D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C6B38E"/>
                </a:solidFill>
                <a:latin typeface="Arial MT"/>
                <a:cs typeface="Arial MT"/>
              </a:rPr>
              <a:t>a</a:t>
            </a:r>
            <a:r>
              <a:rPr dirty="0" sz="1000" spc="5">
                <a:solidFill>
                  <a:srgbClr val="C6B38E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6B758E"/>
                </a:solidFill>
                <a:latin typeface="Arial MT"/>
                <a:cs typeface="Arial MT"/>
              </a:rPr>
              <a:t>decrease</a:t>
            </a:r>
            <a:r>
              <a:rPr dirty="0" sz="1000" spc="40">
                <a:solidFill>
                  <a:srgbClr val="6B758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97CFFF"/>
                </a:solidFill>
                <a:latin typeface="Arial MT"/>
                <a:cs typeface="Arial MT"/>
              </a:rPr>
              <a:t>in</a:t>
            </a:r>
            <a:r>
              <a:rPr dirty="0" sz="1000" spc="-55">
                <a:solidFill>
                  <a:srgbClr val="97C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707989"/>
                </a:solidFill>
                <a:latin typeface="Arial MT"/>
                <a:cs typeface="Arial MT"/>
              </a:rPr>
              <a:t>body</a:t>
            </a:r>
            <a:r>
              <a:rPr dirty="0" sz="1000" spc="25">
                <a:solidFill>
                  <a:srgbClr val="707989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6B9ED1"/>
                </a:solidFill>
                <a:latin typeface="Arial MT"/>
                <a:cs typeface="Arial MT"/>
              </a:rPr>
              <a:t>temperature</a:t>
            </a:r>
            <a:r>
              <a:rPr dirty="0" sz="1000">
                <a:solidFill>
                  <a:srgbClr val="6B9ED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7EB5E9"/>
                </a:solidFill>
                <a:latin typeface="Arial MT"/>
                <a:cs typeface="Arial MT"/>
              </a:rPr>
              <a:t>from</a:t>
            </a:r>
            <a:r>
              <a:rPr dirty="0" sz="1000" spc="-5">
                <a:solidFill>
                  <a:srgbClr val="7EB5E9"/>
                </a:solidFill>
                <a:latin typeface="Arial MT"/>
                <a:cs typeface="Arial MT"/>
              </a:rPr>
              <a:t> </a:t>
            </a:r>
            <a:r>
              <a:rPr dirty="0" sz="1000" spc="-65">
                <a:solidFill>
                  <a:srgbClr val="91BAE1"/>
                </a:solidFill>
                <a:latin typeface="Arial MT"/>
                <a:cs typeface="Arial MT"/>
              </a:rPr>
              <a:t>39.O°C</a:t>
            </a:r>
            <a:r>
              <a:rPr dirty="0" sz="1000" spc="5">
                <a:solidFill>
                  <a:srgbClr val="91BAE1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6B87BC"/>
                </a:solidFill>
                <a:latin typeface="Arial MT"/>
                <a:cs typeface="Arial MT"/>
              </a:rPr>
              <a:t>to </a:t>
            </a:r>
            <a:r>
              <a:rPr dirty="0" sz="1000" spc="-65">
                <a:solidFill>
                  <a:srgbClr val="83A8D4"/>
                </a:solidFill>
                <a:latin typeface="Arial MT"/>
                <a:cs typeface="Arial MT"/>
              </a:rPr>
              <a:t>3y.O°C,</a:t>
            </a:r>
            <a:r>
              <a:rPr dirty="0" sz="1000" spc="-30">
                <a:solidFill>
                  <a:srgbClr val="83A8D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97C6ED"/>
                </a:solidFill>
                <a:latin typeface="Arial MT"/>
                <a:cs typeface="Arial MT"/>
              </a:rPr>
              <a:t>and</a:t>
            </a:r>
            <a:r>
              <a:rPr dirty="0" sz="1000" spc="10">
                <a:solidFill>
                  <a:srgbClr val="97C6ED"/>
                </a:solidFill>
                <a:latin typeface="Arial MT"/>
                <a:cs typeface="Arial MT"/>
              </a:rPr>
              <a:t> </a:t>
            </a:r>
            <a:r>
              <a:rPr dirty="0" sz="1000" spc="-45">
                <a:solidFill>
                  <a:srgbClr val="C6B38E"/>
                </a:solidFill>
                <a:latin typeface="Arial MT"/>
                <a:cs typeface="Arial MT"/>
              </a:rPr>
              <a:t>an</a:t>
            </a:r>
            <a:r>
              <a:rPr dirty="0" sz="1000" spc="-15">
                <a:solidFill>
                  <a:srgbClr val="C6B38E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6B87BC"/>
                </a:solidFill>
                <a:latin typeface="Arial MT"/>
                <a:cs typeface="Arial MT"/>
              </a:rPr>
              <a:t>increase </a:t>
            </a:r>
            <a:r>
              <a:rPr dirty="0" sz="1000">
                <a:solidFill>
                  <a:srgbClr val="6B87BC"/>
                </a:solidFill>
                <a:latin typeface="Arial MT"/>
                <a:cs typeface="Arial MT"/>
              </a:rPr>
              <a:t>in</a:t>
            </a:r>
            <a:r>
              <a:rPr dirty="0" sz="1000" spc="25">
                <a:solidFill>
                  <a:srgbClr val="6B87BC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AA9E7C"/>
                </a:solidFill>
                <a:latin typeface="Arial MT"/>
                <a:cs typeface="Arial MT"/>
              </a:rPr>
              <a:t>weight</a:t>
            </a:r>
            <a:r>
              <a:rPr dirty="0" sz="1000" spc="-90">
                <a:solidFill>
                  <a:srgbClr val="AA9E7C"/>
                </a:solidFill>
                <a:latin typeface="Arial MT"/>
                <a:cs typeface="Arial MT"/>
              </a:rPr>
              <a:t> </a:t>
            </a:r>
            <a:r>
              <a:rPr dirty="0" sz="1000" spc="-45">
                <a:solidFill>
                  <a:srgbClr val="B3E6FF"/>
                </a:solidFill>
                <a:latin typeface="Arial MT"/>
                <a:cs typeface="Arial MT"/>
              </a:rPr>
              <a:t>1rom</a:t>
            </a:r>
            <a:r>
              <a:rPr dirty="0" sz="1000" spc="35">
                <a:solidFill>
                  <a:srgbClr val="B3E6FF"/>
                </a:solidFill>
                <a:latin typeface="Arial MT"/>
                <a:cs typeface="Arial MT"/>
              </a:rPr>
              <a:t> </a:t>
            </a:r>
            <a:r>
              <a:rPr dirty="0" sz="1000" spc="-125">
                <a:solidFill>
                  <a:srgbClr val="B3D4E9"/>
                </a:solidFill>
                <a:latin typeface="Arial MT"/>
                <a:cs typeface="Arial MT"/>
              </a:rPr>
              <a:t>57.O</a:t>
            </a:r>
            <a:r>
              <a:rPr dirty="0" sz="1000" spc="20">
                <a:solidFill>
                  <a:srgbClr val="B3D4E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B9ED1"/>
                </a:solidFill>
                <a:latin typeface="Arial MT"/>
                <a:cs typeface="Arial MT"/>
              </a:rPr>
              <a:t>to</a:t>
            </a:r>
            <a:r>
              <a:rPr dirty="0" sz="1000" spc="-50">
                <a:solidFill>
                  <a:srgbClr val="6B9ED1"/>
                </a:solidFill>
                <a:latin typeface="Arial MT"/>
                <a:cs typeface="Arial MT"/>
              </a:rPr>
              <a:t> </a:t>
            </a:r>
            <a:r>
              <a:rPr dirty="0" sz="1000" spc="-85">
                <a:solidFill>
                  <a:srgbClr val="6B779E"/>
                </a:solidFill>
                <a:latin typeface="Arial MT"/>
                <a:cs typeface="Arial MT"/>
              </a:rPr>
              <a:t>7O.0</a:t>
            </a:r>
            <a:r>
              <a:rPr dirty="0" sz="1000" spc="25">
                <a:solidFill>
                  <a:srgbClr val="6B779E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707E85"/>
                </a:solidFill>
                <a:latin typeface="Arial MT"/>
                <a:cs typeface="Arial MT"/>
              </a:rPr>
              <a:t>kg.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10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</a:pPr>
            <a:r>
              <a:rPr dirty="0" sz="1000" spc="-40">
                <a:solidFill>
                  <a:srgbClr val="97CFFF"/>
                </a:solidFill>
                <a:latin typeface="Arial MT"/>
                <a:cs typeface="Arial MT"/>
              </a:rPr>
              <a:t>Recent</a:t>
            </a:r>
            <a:r>
              <a:rPr dirty="0" sz="1000" spc="-20">
                <a:solidFill>
                  <a:srgbClr val="97CFFF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6B87BC"/>
                </a:solidFill>
                <a:latin typeface="Arial MT"/>
                <a:cs typeface="Arial MT"/>
              </a:rPr>
              <a:t>timeline</a:t>
            </a:r>
            <a:r>
              <a:rPr dirty="0" sz="1000" spc="-5">
                <a:solidFill>
                  <a:srgbClr val="6B87BC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A5DBFF"/>
                </a:solidFill>
                <a:latin typeface="Arial MT"/>
                <a:cs typeface="Arial MT"/>
              </a:rPr>
              <a:t>events</a:t>
            </a:r>
            <a:r>
              <a:rPr dirty="0" sz="1000" spc="15">
                <a:solidFill>
                  <a:srgbClr val="A5DB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7EB5E9"/>
                </a:solidFill>
                <a:latin typeface="Arial MT"/>
                <a:cs typeface="Arial MT"/>
              </a:rPr>
              <a:t>include</a:t>
            </a:r>
            <a:r>
              <a:rPr dirty="0" sz="1000" spc="15">
                <a:solidFill>
                  <a:srgbClr val="7EB5E9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C19E7C"/>
                </a:solidFill>
                <a:latin typeface="Arial MT"/>
                <a:cs typeface="Arial MT"/>
              </a:rPr>
              <a:t>updates</a:t>
            </a:r>
            <a:r>
              <a:rPr dirty="0" sz="1000" spc="-50">
                <a:solidFill>
                  <a:srgbClr val="C19E7C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B758E"/>
                </a:solidFill>
                <a:latin typeface="Arial MT"/>
                <a:cs typeface="Arial MT"/>
              </a:rPr>
              <a:t>to</a:t>
            </a:r>
            <a:r>
              <a:rPr dirty="0" sz="1000" spc="-30">
                <a:solidFill>
                  <a:srgbClr val="6B758E"/>
                </a:solidFill>
                <a:latin typeface="Arial MT"/>
                <a:cs typeface="Arial MT"/>
              </a:rPr>
              <a:t> </a:t>
            </a:r>
            <a:r>
              <a:rPr dirty="0" sz="1000" spc="-40">
                <a:solidFill>
                  <a:srgbClr val="97CFFF"/>
                </a:solidFill>
                <a:latin typeface="Arial MT"/>
                <a:cs typeface="Arial MT"/>
              </a:rPr>
              <a:t>li1estyle</a:t>
            </a:r>
            <a:r>
              <a:rPr dirty="0" sz="1000" spc="-25">
                <a:solidFill>
                  <a:srgbClr val="97CFFF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6B87BC"/>
                </a:solidFill>
                <a:latin typeface="Arial MT"/>
                <a:cs typeface="Arial MT"/>
              </a:rPr>
              <a:t>recommendations,</a:t>
            </a:r>
            <a:r>
              <a:rPr dirty="0" sz="1000" spc="-105">
                <a:solidFill>
                  <a:srgbClr val="6B87BC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97C6ED"/>
                </a:solidFill>
                <a:latin typeface="Arial MT"/>
                <a:cs typeface="Arial MT"/>
              </a:rPr>
              <a:t>abnormal</a:t>
            </a:r>
            <a:r>
              <a:rPr dirty="0" sz="1000" spc="55">
                <a:solidFill>
                  <a:srgbClr val="97C6ED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79878E"/>
                </a:solidFill>
                <a:latin typeface="Arial MT"/>
                <a:cs typeface="Arial MT"/>
              </a:rPr>
              <a:t>vital</a:t>
            </a:r>
            <a:r>
              <a:rPr dirty="0" sz="1000" spc="-40">
                <a:solidFill>
                  <a:srgbClr val="79878E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6B87BC"/>
                </a:solidFill>
                <a:latin typeface="Arial MT"/>
                <a:cs typeface="Arial MT"/>
              </a:rPr>
              <a:t>readings,</a:t>
            </a:r>
            <a:r>
              <a:rPr dirty="0" sz="1000" spc="-35">
                <a:solidFill>
                  <a:srgbClr val="6B87BC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B757C"/>
                </a:solidFill>
                <a:latin typeface="Arial MT"/>
                <a:cs typeface="Arial MT"/>
              </a:rPr>
              <a:t>and</a:t>
            </a:r>
            <a:r>
              <a:rPr dirty="0" sz="1000" spc="-45">
                <a:solidFill>
                  <a:srgbClr val="6B757C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B87BC"/>
                </a:solidFill>
                <a:latin typeface="Arial MT"/>
                <a:cs typeface="Arial MT"/>
              </a:rPr>
              <a:t>logged</a:t>
            </a:r>
            <a:r>
              <a:rPr dirty="0" sz="1000" spc="40">
                <a:solidFill>
                  <a:srgbClr val="6B87BC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87BFD8"/>
                </a:solidFill>
                <a:latin typeface="Arial MT"/>
                <a:cs typeface="Arial MT"/>
              </a:rPr>
              <a:t>vitals.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150" spc="-70">
                <a:solidFill>
                  <a:srgbClr val="B8825E"/>
                </a:solidFill>
                <a:latin typeface="Arial MT"/>
                <a:cs typeface="Arial MT"/>
              </a:rPr>
              <a:t>|Ask</a:t>
            </a:r>
            <a:r>
              <a:rPr dirty="0" sz="1150" spc="-15">
                <a:solidFill>
                  <a:srgbClr val="B8825E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A3CFE4"/>
                </a:solidFill>
                <a:latin typeface="Arial MT"/>
                <a:cs typeface="Arial MT"/>
              </a:rPr>
              <a:t>about</a:t>
            </a:r>
            <a:r>
              <a:rPr dirty="0" sz="1150" spc="-5">
                <a:solidFill>
                  <a:srgbClr val="A3CFE4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6E705E"/>
                </a:solidFill>
                <a:latin typeface="Arial MT"/>
                <a:cs typeface="Arial MT"/>
              </a:rPr>
              <a:t>your</a:t>
            </a:r>
            <a:r>
              <a:rPr dirty="0" sz="1150" spc="10">
                <a:solidFill>
                  <a:srgbClr val="6E705E"/>
                </a:solidFill>
                <a:latin typeface="Arial MT"/>
                <a:cs typeface="Arial MT"/>
              </a:rPr>
              <a:t> </a:t>
            </a:r>
            <a:r>
              <a:rPr dirty="0" sz="1150" spc="-25">
                <a:solidFill>
                  <a:srgbClr val="5D5D5D"/>
                </a:solidFill>
                <a:latin typeface="Arial MT"/>
                <a:cs typeface="Arial MT"/>
              </a:rPr>
              <a:t>vitals,</a:t>
            </a:r>
            <a:r>
              <a:rPr dirty="0" sz="1150" spc="-55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595B7E"/>
                </a:solidFill>
                <a:latin typeface="Arial MT"/>
                <a:cs typeface="Arial MT"/>
              </a:rPr>
              <a:t>risk,</a:t>
            </a:r>
            <a:r>
              <a:rPr dirty="0" sz="1150" spc="-65">
                <a:solidFill>
                  <a:srgbClr val="595B7E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606060"/>
                </a:solidFill>
                <a:latin typeface="Arial MT"/>
                <a:cs typeface="Arial MT"/>
              </a:rPr>
              <a:t>or</a:t>
            </a:r>
            <a:r>
              <a:rPr dirty="0" sz="1150" spc="-50">
                <a:solidFill>
                  <a:srgbClr val="606060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597BB6"/>
                </a:solidFill>
                <a:latin typeface="Arial MT"/>
                <a:cs typeface="Arial MT"/>
              </a:rPr>
              <a:t>lifestyle</a:t>
            </a:r>
            <a:r>
              <a:rPr dirty="0" sz="1150" spc="-70">
                <a:solidFill>
                  <a:srgbClr val="597BB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5B5B5B"/>
                </a:solidFill>
                <a:latin typeface="Arial MT"/>
                <a:cs typeface="Arial MT"/>
              </a:rPr>
              <a:t>recommendations...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25185" y="577893"/>
            <a:ext cx="822325" cy="1771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27050" algn="l"/>
              </a:tabLst>
            </a:pPr>
            <a:r>
              <a:rPr dirty="0" sz="1000">
                <a:solidFill>
                  <a:srgbClr val="679AFB"/>
                </a:solidFill>
                <a:latin typeface="Arial MT"/>
                <a:cs typeface="Arial MT"/>
              </a:rPr>
              <a:t>+</a:t>
            </a:r>
            <a:r>
              <a:rPr dirty="0" sz="1000" spc="185">
                <a:solidFill>
                  <a:srgbClr val="679AFB"/>
                </a:solidFill>
                <a:latin typeface="Arial MT"/>
                <a:cs typeface="Arial MT"/>
              </a:rPr>
              <a:t>  </a:t>
            </a:r>
            <a:r>
              <a:rPr dirty="0" sz="1000" spc="-25">
                <a:solidFill>
                  <a:srgbClr val="0C6EFD"/>
                </a:solidFill>
                <a:latin typeface="Arial MT"/>
                <a:cs typeface="Arial MT"/>
              </a:rPr>
              <a:t>Ne</a:t>
            </a:r>
            <a:r>
              <a:rPr dirty="0" sz="1000">
                <a:solidFill>
                  <a:srgbClr val="0C6EFD"/>
                </a:solidFill>
                <a:latin typeface="Arial MT"/>
                <a:cs typeface="Arial MT"/>
              </a:rPr>
              <a:t>	</a:t>
            </a:r>
            <a:r>
              <a:rPr dirty="0" sz="1000" spc="-20">
                <a:solidFill>
                  <a:srgbClr val="0C6EFD"/>
                </a:solidFill>
                <a:latin typeface="Arial MT"/>
                <a:cs typeface="Arial MT"/>
              </a:rPr>
              <a:t>Chat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048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Orchestrate</a:t>
            </a:r>
            <a:r>
              <a:rPr dirty="0" spc="-170"/>
              <a:t> </a:t>
            </a:r>
            <a:r>
              <a:rPr dirty="0"/>
              <a:t>Architecture</a:t>
            </a:r>
            <a:r>
              <a:rPr dirty="0" spc="-100"/>
              <a:t> </a:t>
            </a:r>
            <a:r>
              <a:rPr dirty="0" spc="-10"/>
              <a:t>Blueprint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243" y="1420380"/>
            <a:ext cx="9753600" cy="49072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5115" rIns="0" bIns="0" rtlCol="0" vert="horz">
            <a:spAutoFit/>
          </a:bodyPr>
          <a:lstStyle/>
          <a:p>
            <a:pPr marL="135890">
              <a:lnSpc>
                <a:spcPct val="100000"/>
              </a:lnSpc>
              <a:spcBef>
                <a:spcPts val="95"/>
              </a:spcBef>
            </a:pPr>
            <a:r>
              <a:rPr dirty="0" spc="-25"/>
              <a:t>Role</a:t>
            </a:r>
            <a:r>
              <a:rPr dirty="0" spc="-185"/>
              <a:t> </a:t>
            </a:r>
            <a:r>
              <a:rPr dirty="0"/>
              <a:t>of</a:t>
            </a:r>
            <a:r>
              <a:rPr dirty="0" spc="-45"/>
              <a:t> </a:t>
            </a:r>
            <a:r>
              <a:rPr dirty="0" spc="-25"/>
              <a:t>Agentic</a:t>
            </a:r>
            <a:r>
              <a:rPr dirty="0" spc="-215"/>
              <a:t> </a:t>
            </a:r>
            <a:r>
              <a:rPr dirty="0"/>
              <a:t>AI</a:t>
            </a:r>
            <a:r>
              <a:rPr dirty="0" spc="-95"/>
              <a:t> </a:t>
            </a:r>
            <a:r>
              <a:rPr dirty="0"/>
              <a:t>in</a:t>
            </a:r>
            <a:r>
              <a:rPr dirty="0" spc="-100"/>
              <a:t> </a:t>
            </a:r>
            <a:r>
              <a:rPr dirty="0"/>
              <a:t>the</a:t>
            </a:r>
            <a:r>
              <a:rPr dirty="0" spc="-114"/>
              <a:t> </a:t>
            </a:r>
            <a:r>
              <a:rPr dirty="0" spc="-10"/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2827" y="1336294"/>
            <a:ext cx="6988175" cy="51936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Arial"/>
                <a:cs typeface="Arial"/>
              </a:rPr>
              <a:t>Role</a:t>
            </a:r>
            <a:r>
              <a:rPr dirty="0" sz="2000" spc="-2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of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Agentic</a:t>
            </a:r>
            <a:r>
              <a:rPr dirty="0" sz="2000" spc="-2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AI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in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Helix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 spc="-25" b="1">
                <a:latin typeface="Arial"/>
                <a:cs typeface="Arial"/>
              </a:rPr>
              <a:t>AI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2000">
              <a:latin typeface="Arial"/>
              <a:cs typeface="Arial"/>
            </a:endParaRPr>
          </a:p>
          <a:p>
            <a:pPr marL="12700" marR="20320">
              <a:lnSpc>
                <a:spcPct val="97400"/>
              </a:lnSpc>
            </a:pPr>
            <a:r>
              <a:rPr dirty="0" sz="2000">
                <a:latin typeface="Arial MT"/>
                <a:cs typeface="Arial MT"/>
              </a:rPr>
              <a:t>Agentic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AI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enables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b="1">
                <a:latin typeface="Arial"/>
                <a:cs typeface="Arial"/>
              </a:rPr>
              <a:t>Helix</a:t>
            </a:r>
            <a:r>
              <a:rPr dirty="0" sz="2000" spc="-1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AI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function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as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intelligent, </a:t>
            </a:r>
            <a:r>
              <a:rPr dirty="0" sz="2000">
                <a:latin typeface="Arial MT"/>
                <a:cs typeface="Arial MT"/>
              </a:rPr>
              <a:t>autonomous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healthcare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ecosystem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rather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than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conventional </a:t>
            </a:r>
            <a:r>
              <a:rPr dirty="0" sz="2000">
                <a:latin typeface="Arial MT"/>
                <a:cs typeface="Arial MT"/>
              </a:rPr>
              <a:t>chatbot.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By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leveraging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b="1">
                <a:latin typeface="Arial"/>
                <a:cs typeface="Arial"/>
              </a:rPr>
              <a:t>IBM</a:t>
            </a:r>
            <a:r>
              <a:rPr dirty="0" sz="2000" spc="-4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Watsonx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Orchestrate,</a:t>
            </a:r>
            <a:r>
              <a:rPr dirty="0" sz="2000" spc="-40" b="1">
                <a:latin typeface="Arial"/>
                <a:cs typeface="Arial"/>
              </a:rPr>
              <a:t> </a:t>
            </a:r>
            <a:r>
              <a:rPr dirty="0" sz="2000" spc="-25" b="1">
                <a:latin typeface="Arial"/>
                <a:cs typeface="Arial"/>
              </a:rPr>
              <a:t>IBM </a:t>
            </a:r>
            <a:r>
              <a:rPr dirty="0" sz="2000" b="1">
                <a:latin typeface="Arial"/>
                <a:cs typeface="Arial"/>
              </a:rPr>
              <a:t>watsonx.ai,</a:t>
            </a:r>
            <a:r>
              <a:rPr dirty="0" sz="2000" spc="-2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and</a:t>
            </a:r>
            <a:r>
              <a:rPr dirty="0" sz="2000" spc="-1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IBM</a:t>
            </a:r>
            <a:r>
              <a:rPr dirty="0" sz="2000" spc="-1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Granite</a:t>
            </a:r>
            <a:r>
              <a:rPr dirty="0" sz="2000" spc="-1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Models</a:t>
            </a:r>
            <a:r>
              <a:rPr dirty="0" sz="2000">
                <a:latin typeface="Arial MT"/>
                <a:cs typeface="Arial MT"/>
              </a:rPr>
              <a:t>,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system </a:t>
            </a:r>
            <a:r>
              <a:rPr dirty="0" sz="2000">
                <a:latin typeface="Arial MT"/>
                <a:cs typeface="Arial MT"/>
              </a:rPr>
              <a:t>coordinates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multiple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specialized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healthcare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agents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that </a:t>
            </a:r>
            <a:r>
              <a:rPr dirty="0" sz="2000">
                <a:latin typeface="Arial MT"/>
                <a:cs typeface="Arial MT"/>
              </a:rPr>
              <a:t>collaborate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provide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personalized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context-aware </a:t>
            </a:r>
            <a:r>
              <a:rPr dirty="0" sz="2000">
                <a:latin typeface="Arial MT"/>
                <a:cs typeface="Arial MT"/>
              </a:rPr>
              <a:t>healthcare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assistance.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00">
              <a:latin typeface="Arial MT"/>
              <a:cs typeface="Arial MT"/>
            </a:endParaRPr>
          </a:p>
          <a:p>
            <a:pPr marL="12700" marR="5080">
              <a:lnSpc>
                <a:spcPct val="97500"/>
              </a:lnSpc>
            </a:pPr>
            <a:r>
              <a:rPr dirty="0" sz="2000">
                <a:latin typeface="Arial MT"/>
                <a:cs typeface="Arial MT"/>
              </a:rPr>
              <a:t>Each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agent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is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responsible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for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specific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healthcare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function, </a:t>
            </a:r>
            <a:r>
              <a:rPr dirty="0" sz="2000">
                <a:latin typeface="Arial MT"/>
                <a:cs typeface="Arial MT"/>
              </a:rPr>
              <a:t>such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as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b="1">
                <a:latin typeface="Arial"/>
                <a:cs typeface="Arial"/>
              </a:rPr>
              <a:t>clinical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assessment,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chronic</a:t>
            </a:r>
            <a:r>
              <a:rPr dirty="0" sz="2000" spc="-4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health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monitoring, </a:t>
            </a:r>
            <a:r>
              <a:rPr dirty="0" sz="2000" b="1">
                <a:latin typeface="Arial"/>
                <a:cs typeface="Arial"/>
              </a:rPr>
              <a:t>medical</a:t>
            </a:r>
            <a:r>
              <a:rPr dirty="0" sz="2000" spc="-4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knowledge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retrieval,</a:t>
            </a:r>
            <a:r>
              <a:rPr dirty="0" sz="2000" spc="-4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AI-powered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health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report </a:t>
            </a:r>
            <a:r>
              <a:rPr dirty="0" sz="2000" b="1">
                <a:latin typeface="Arial"/>
                <a:cs typeface="Arial"/>
              </a:rPr>
              <a:t>generation,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and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personalized</a:t>
            </a:r>
            <a:r>
              <a:rPr dirty="0" sz="2000" spc="-2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lifestyle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guidance</a:t>
            </a:r>
            <a:r>
              <a:rPr dirty="0" sz="2000">
                <a:latin typeface="Arial MT"/>
                <a:cs typeface="Arial MT"/>
              </a:rPr>
              <a:t>,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while </a:t>
            </a:r>
            <a:r>
              <a:rPr dirty="0" sz="2000">
                <a:latin typeface="Arial MT"/>
                <a:cs typeface="Arial MT"/>
              </a:rPr>
              <a:t>working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together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through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centralized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Supervisor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Agent.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This </a:t>
            </a:r>
            <a:r>
              <a:rPr dirty="0" sz="2000">
                <a:latin typeface="Arial MT"/>
                <a:cs typeface="Arial MT"/>
              </a:rPr>
              <a:t>collaborative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architecture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improves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efficiency,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accuracy,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and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63711" y="1331594"/>
            <a:ext cx="3003423" cy="451739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2827" y="467613"/>
            <a:ext cx="6857365" cy="27076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Arial MT"/>
                <a:cs typeface="Arial MT"/>
              </a:rPr>
              <a:t>task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specialization.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00">
              <a:latin typeface="Arial MT"/>
              <a:cs typeface="Arial MT"/>
            </a:endParaRPr>
          </a:p>
          <a:p>
            <a:pPr marL="12700" marR="5080">
              <a:lnSpc>
                <a:spcPct val="97400"/>
              </a:lnSpc>
            </a:pPr>
            <a:r>
              <a:rPr dirty="0" sz="2000">
                <a:latin typeface="Arial MT"/>
                <a:cs typeface="Arial MT"/>
              </a:rPr>
              <a:t>Agentic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AI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continuously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understands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user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context</a:t>
            </a:r>
            <a:r>
              <a:rPr dirty="0" sz="2000" spc="-25">
                <a:latin typeface="Arial MT"/>
                <a:cs typeface="Arial MT"/>
              </a:rPr>
              <a:t> by </a:t>
            </a:r>
            <a:r>
              <a:rPr dirty="0" sz="2000">
                <a:latin typeface="Arial MT"/>
                <a:cs typeface="Arial MT"/>
              </a:rPr>
              <a:t>analyzing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symptoms,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health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records,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vitals,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medications,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and </a:t>
            </a:r>
            <a:r>
              <a:rPr dirty="0" sz="2000">
                <a:latin typeface="Arial MT"/>
                <a:cs typeface="Arial MT"/>
              </a:rPr>
              <a:t>medical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history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generate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personalized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healthcare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insights. </a:t>
            </a:r>
            <a:r>
              <a:rPr dirty="0" sz="2000">
                <a:latin typeface="Arial MT"/>
                <a:cs typeface="Arial MT"/>
              </a:rPr>
              <a:t>It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intelligently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delegates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tasks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most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suitable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agent, </a:t>
            </a:r>
            <a:r>
              <a:rPr dirty="0" sz="2000">
                <a:latin typeface="Arial MT"/>
                <a:cs typeface="Arial MT"/>
              </a:rPr>
              <a:t>retrieves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trusted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medical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information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using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 b="1">
                <a:latin typeface="Arial"/>
                <a:cs typeface="Arial"/>
              </a:rPr>
              <a:t>Retrieval-</a:t>
            </a:r>
            <a:r>
              <a:rPr dirty="0" sz="2000" b="1">
                <a:latin typeface="Arial"/>
                <a:cs typeface="Arial"/>
              </a:rPr>
              <a:t>Augmented</a:t>
            </a:r>
            <a:r>
              <a:rPr dirty="0" sz="2000" spc="-5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Generation</a:t>
            </a:r>
            <a:r>
              <a:rPr dirty="0" sz="2000" spc="-4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(RAG)</a:t>
            </a:r>
            <a:r>
              <a:rPr dirty="0" sz="2000">
                <a:latin typeface="Arial MT"/>
                <a:cs typeface="Arial MT"/>
              </a:rPr>
              <a:t>,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combines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multiple </a:t>
            </a:r>
            <a:r>
              <a:rPr dirty="0" sz="2000">
                <a:latin typeface="Arial MT"/>
                <a:cs typeface="Arial MT"/>
              </a:rPr>
              <a:t>sources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information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before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generating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responses.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0918" rIns="0" bIns="0" rtlCol="0" vert="horz">
            <a:spAutoFit/>
          </a:bodyPr>
          <a:lstStyle/>
          <a:p>
            <a:pPr marL="362585">
              <a:lnSpc>
                <a:spcPct val="100000"/>
              </a:lnSpc>
              <a:spcBef>
                <a:spcPts val="95"/>
              </a:spcBef>
            </a:pPr>
            <a:r>
              <a:rPr dirty="0"/>
              <a:t>Novelty</a:t>
            </a:r>
            <a:r>
              <a:rPr dirty="0" spc="-85"/>
              <a:t> </a:t>
            </a:r>
            <a:r>
              <a:rPr dirty="0"/>
              <a:t>and</a:t>
            </a:r>
            <a:r>
              <a:rPr dirty="0" spc="-120"/>
              <a:t> </a:t>
            </a:r>
            <a:r>
              <a:rPr dirty="0" spc="-10"/>
              <a:t>Uniqueness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2932" y="1244853"/>
            <a:ext cx="10706735" cy="528828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94615" marR="134620">
              <a:lnSpc>
                <a:spcPts val="2390"/>
              </a:lnSpc>
              <a:spcBef>
                <a:spcPts val="190"/>
              </a:spcBef>
            </a:pP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proposed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 b="1">
                <a:latin typeface="Arial"/>
                <a:cs typeface="Arial"/>
              </a:rPr>
              <a:t>Helix</a:t>
            </a:r>
            <a:r>
              <a:rPr dirty="0" sz="2000" spc="-8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AI</a:t>
            </a:r>
            <a:r>
              <a:rPr dirty="0" sz="2000" spc="-70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combines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 spc="-10" b="1">
                <a:latin typeface="Arial"/>
                <a:cs typeface="Arial"/>
              </a:rPr>
              <a:t>Agentic</a:t>
            </a:r>
            <a:r>
              <a:rPr dirty="0" sz="2000" spc="-8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AI,</a:t>
            </a:r>
            <a:r>
              <a:rPr dirty="0" sz="2000" spc="-85" b="1">
                <a:latin typeface="Arial"/>
                <a:cs typeface="Arial"/>
              </a:rPr>
              <a:t> </a:t>
            </a:r>
            <a:r>
              <a:rPr dirty="0" sz="2000" spc="-20" b="1">
                <a:latin typeface="Arial"/>
                <a:cs typeface="Arial"/>
              </a:rPr>
              <a:t>Retrieval-Augmented</a:t>
            </a:r>
            <a:r>
              <a:rPr dirty="0" sz="2000" spc="-8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Generation</a:t>
            </a:r>
            <a:r>
              <a:rPr dirty="0" sz="2000" spc="-8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(RAG),</a:t>
            </a:r>
            <a:r>
              <a:rPr dirty="0" sz="2000" spc="-85" b="1">
                <a:latin typeface="Arial"/>
                <a:cs typeface="Arial"/>
              </a:rPr>
              <a:t> </a:t>
            </a:r>
            <a:r>
              <a:rPr dirty="0" sz="2000" spc="-25" b="1">
                <a:latin typeface="Arial"/>
                <a:cs typeface="Arial"/>
              </a:rPr>
              <a:t>IBM </a:t>
            </a:r>
            <a:r>
              <a:rPr dirty="0" sz="2000" b="1">
                <a:latin typeface="Arial"/>
                <a:cs typeface="Arial"/>
              </a:rPr>
              <a:t>Granite</a:t>
            </a:r>
            <a:r>
              <a:rPr dirty="0" sz="2000" spc="-8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Models,</a:t>
            </a:r>
            <a:r>
              <a:rPr dirty="0" sz="2000" spc="-8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and</a:t>
            </a:r>
            <a:r>
              <a:rPr dirty="0" sz="2000" spc="-8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personalized</a:t>
            </a:r>
            <a:r>
              <a:rPr dirty="0" sz="2000" spc="-7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healthcare</a:t>
            </a:r>
            <a:r>
              <a:rPr dirty="0" sz="2000" spc="-8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intelligence</a:t>
            </a:r>
            <a:r>
              <a:rPr dirty="0" sz="2000" spc="-65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into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unified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healthcare ecosystem.</a:t>
            </a:r>
            <a:endParaRPr sz="2000">
              <a:latin typeface="Arial MT"/>
              <a:cs typeface="Arial MT"/>
            </a:endParaRPr>
          </a:p>
          <a:p>
            <a:pPr marL="241300" marR="627380" indent="-228600">
              <a:lnSpc>
                <a:spcPts val="2390"/>
              </a:lnSpc>
              <a:spcBef>
                <a:spcPts val="130"/>
              </a:spcBef>
              <a:buFont typeface="Symbol"/>
              <a:buChar char=""/>
              <a:tabLst>
                <a:tab pos="241300" algn="l"/>
              </a:tabLst>
            </a:pPr>
            <a:r>
              <a:rPr dirty="0" sz="2000" spc="-20" b="1">
                <a:latin typeface="Arial"/>
                <a:cs typeface="Arial"/>
              </a:rPr>
              <a:t>Multi-</a:t>
            </a:r>
            <a:r>
              <a:rPr dirty="0" sz="2000" b="1">
                <a:latin typeface="Arial"/>
                <a:cs typeface="Arial"/>
              </a:rPr>
              <a:t>Agent</a:t>
            </a:r>
            <a:r>
              <a:rPr dirty="0" sz="2000" spc="-7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Intelligence</a:t>
            </a:r>
            <a:r>
              <a:rPr dirty="0" sz="2000" spc="-70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–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Multiple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specialized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healthcare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agents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collaborate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provide </a:t>
            </a:r>
            <a:r>
              <a:rPr dirty="0" sz="2000">
                <a:latin typeface="Arial MT"/>
                <a:cs typeface="Arial MT"/>
              </a:rPr>
              <a:t>accurate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context-</a:t>
            </a:r>
            <a:r>
              <a:rPr dirty="0" sz="2000">
                <a:latin typeface="Arial MT"/>
                <a:cs typeface="Arial MT"/>
              </a:rPr>
              <a:t>aware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assistance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instead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relying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on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single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chatbot.</a:t>
            </a:r>
            <a:endParaRPr sz="20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40"/>
              </a:spcBef>
              <a:buFont typeface="Symbol"/>
              <a:buChar char=""/>
              <a:tabLst>
                <a:tab pos="240665" algn="l"/>
              </a:tabLst>
            </a:pPr>
            <a:r>
              <a:rPr dirty="0" sz="2000" spc="-20" b="1">
                <a:latin typeface="Arial"/>
                <a:cs typeface="Arial"/>
              </a:rPr>
              <a:t>RAG-</a:t>
            </a:r>
            <a:r>
              <a:rPr dirty="0" sz="2000" b="1">
                <a:latin typeface="Arial"/>
                <a:cs typeface="Arial"/>
              </a:rPr>
              <a:t>Based</a:t>
            </a:r>
            <a:r>
              <a:rPr dirty="0" sz="2000" spc="-10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Medical</a:t>
            </a:r>
            <a:r>
              <a:rPr dirty="0" sz="2000" spc="-9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Knowledge</a:t>
            </a:r>
            <a:r>
              <a:rPr dirty="0" sz="2000" spc="-80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–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Retrieves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trusted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information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from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sources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such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as</a:t>
            </a:r>
            <a:endParaRPr sz="20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</a:pPr>
            <a:r>
              <a:rPr dirty="0" sz="2000" b="1">
                <a:latin typeface="Arial"/>
                <a:cs typeface="Arial"/>
              </a:rPr>
              <a:t>WHO,</a:t>
            </a:r>
            <a:r>
              <a:rPr dirty="0" sz="2000" spc="-9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CDC,</a:t>
            </a:r>
            <a:r>
              <a:rPr dirty="0" sz="2000" spc="-9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NHS,</a:t>
            </a:r>
            <a:r>
              <a:rPr dirty="0" sz="2000" spc="-9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and</a:t>
            </a:r>
            <a:r>
              <a:rPr dirty="0" sz="2000" spc="-8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NCI</a:t>
            </a:r>
            <a:r>
              <a:rPr dirty="0" sz="2000">
                <a:latin typeface="Arial MT"/>
                <a:cs typeface="Arial MT"/>
              </a:rPr>
              <a:t>,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ensuring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reliable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evidence-</a:t>
            </a:r>
            <a:r>
              <a:rPr dirty="0" sz="2000">
                <a:latin typeface="Arial MT"/>
                <a:cs typeface="Arial MT"/>
              </a:rPr>
              <a:t>based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healthcare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responses.</a:t>
            </a:r>
            <a:endParaRPr sz="2000">
              <a:latin typeface="Arial MT"/>
              <a:cs typeface="Arial MT"/>
            </a:endParaRPr>
          </a:p>
          <a:p>
            <a:pPr marL="241300" marR="635000" indent="-228600">
              <a:lnSpc>
                <a:spcPts val="2390"/>
              </a:lnSpc>
              <a:spcBef>
                <a:spcPts val="209"/>
              </a:spcBef>
              <a:buFont typeface="Symbol"/>
              <a:buChar char=""/>
              <a:tabLst>
                <a:tab pos="241300" algn="l"/>
              </a:tabLst>
            </a:pPr>
            <a:r>
              <a:rPr dirty="0" sz="2000" spc="-10" b="1">
                <a:latin typeface="Arial"/>
                <a:cs typeface="Arial"/>
              </a:rPr>
              <a:t>Personalized</a:t>
            </a:r>
            <a:r>
              <a:rPr dirty="0" sz="2000" spc="-7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Healthcare</a:t>
            </a:r>
            <a:r>
              <a:rPr dirty="0" sz="2000" spc="-70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–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Delivers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recommendations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based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on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user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symptoms,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vitals, </a:t>
            </a:r>
            <a:r>
              <a:rPr dirty="0" sz="2000">
                <a:latin typeface="Arial MT"/>
                <a:cs typeface="Arial MT"/>
              </a:rPr>
              <a:t>medical</a:t>
            </a:r>
            <a:r>
              <a:rPr dirty="0" sz="2000" spc="-10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history,</a:t>
            </a:r>
            <a:r>
              <a:rPr dirty="0" sz="2000" spc="-114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health</a:t>
            </a:r>
            <a:r>
              <a:rPr dirty="0" sz="2000" spc="-1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conditions,</a:t>
            </a:r>
            <a:r>
              <a:rPr dirty="0" sz="2000" spc="-1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10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lifestyle.</a:t>
            </a:r>
            <a:endParaRPr sz="2000">
              <a:latin typeface="Arial MT"/>
              <a:cs typeface="Arial MT"/>
            </a:endParaRPr>
          </a:p>
          <a:p>
            <a:pPr marL="241300" marR="781685" indent="-228600">
              <a:lnSpc>
                <a:spcPts val="2390"/>
              </a:lnSpc>
              <a:spcBef>
                <a:spcPts val="125"/>
              </a:spcBef>
              <a:buFont typeface="Symbol"/>
              <a:buChar char=""/>
              <a:tabLst>
                <a:tab pos="241300" algn="l"/>
              </a:tabLst>
            </a:pPr>
            <a:r>
              <a:rPr dirty="0" sz="2000" spc="-10" b="1">
                <a:latin typeface="Arial"/>
                <a:cs typeface="Arial"/>
              </a:rPr>
              <a:t>Proactive</a:t>
            </a:r>
            <a:r>
              <a:rPr dirty="0" sz="2000" spc="-9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Health</a:t>
            </a:r>
            <a:r>
              <a:rPr dirty="0" sz="2000" spc="-8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Monitoring</a:t>
            </a:r>
            <a:r>
              <a:rPr dirty="0" sz="2000" spc="-80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–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Continuously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monitors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health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trends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risk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factors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to </a:t>
            </a:r>
            <a:r>
              <a:rPr dirty="0" sz="2000">
                <a:latin typeface="Arial MT"/>
                <a:cs typeface="Arial MT"/>
              </a:rPr>
              <a:t>provide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early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health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insights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preventive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guidance.</a:t>
            </a:r>
            <a:endParaRPr sz="2000">
              <a:latin typeface="Arial MT"/>
              <a:cs typeface="Arial MT"/>
            </a:endParaRPr>
          </a:p>
          <a:p>
            <a:pPr marL="241300" marR="288290" indent="-228600">
              <a:lnSpc>
                <a:spcPct val="100000"/>
              </a:lnSpc>
              <a:spcBef>
                <a:spcPts val="40"/>
              </a:spcBef>
              <a:buFont typeface="Symbol"/>
              <a:buChar char=""/>
              <a:tabLst>
                <a:tab pos="241300" algn="l"/>
              </a:tabLst>
            </a:pPr>
            <a:r>
              <a:rPr dirty="0" sz="2000" spc="-20" b="1">
                <a:latin typeface="Arial"/>
                <a:cs typeface="Arial"/>
              </a:rPr>
              <a:t>AI-</a:t>
            </a:r>
            <a:r>
              <a:rPr dirty="0" sz="2000" spc="-10" b="1">
                <a:latin typeface="Arial"/>
                <a:cs typeface="Arial"/>
              </a:rPr>
              <a:t>Powered</a:t>
            </a:r>
            <a:r>
              <a:rPr dirty="0" sz="2000" spc="-8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Health</a:t>
            </a:r>
            <a:r>
              <a:rPr dirty="0" sz="2000" spc="-8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Reports</a:t>
            </a:r>
            <a:r>
              <a:rPr dirty="0" sz="2000" spc="-75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–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Generates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personalized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health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reports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by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combining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patient </a:t>
            </a:r>
            <a:r>
              <a:rPr dirty="0" sz="2000">
                <a:latin typeface="Arial MT"/>
                <a:cs typeface="Arial MT"/>
              </a:rPr>
              <a:t>data</a:t>
            </a:r>
            <a:r>
              <a:rPr dirty="0" sz="2000" spc="-9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with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AI-</a:t>
            </a:r>
            <a:r>
              <a:rPr dirty="0" sz="2000">
                <a:latin typeface="Arial MT"/>
                <a:cs typeface="Arial MT"/>
              </a:rPr>
              <a:t>driven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analysis.</a:t>
            </a:r>
            <a:endParaRPr sz="2000">
              <a:latin typeface="Arial MT"/>
              <a:cs typeface="Arial MT"/>
            </a:endParaRPr>
          </a:p>
          <a:p>
            <a:pPr marL="241300" marR="411480" indent="-228600">
              <a:lnSpc>
                <a:spcPts val="2390"/>
              </a:lnSpc>
              <a:spcBef>
                <a:spcPts val="215"/>
              </a:spcBef>
              <a:buFont typeface="Symbol"/>
              <a:buChar char=""/>
              <a:tabLst>
                <a:tab pos="241300" algn="l"/>
              </a:tabLst>
            </a:pPr>
            <a:r>
              <a:rPr dirty="0" sz="2000" spc="-10" b="1">
                <a:latin typeface="Arial"/>
                <a:cs typeface="Arial"/>
              </a:rPr>
              <a:t>Scalable</a:t>
            </a:r>
            <a:r>
              <a:rPr dirty="0" sz="2000" spc="-7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&amp;</a:t>
            </a:r>
            <a:r>
              <a:rPr dirty="0" sz="2000" spc="-50" b="1">
                <a:latin typeface="Arial"/>
                <a:cs typeface="Arial"/>
              </a:rPr>
              <a:t> </a:t>
            </a:r>
            <a:r>
              <a:rPr dirty="0" sz="2000" spc="-25" b="1">
                <a:latin typeface="Arial"/>
                <a:cs typeface="Arial"/>
              </a:rPr>
              <a:t>Enterprise-</a:t>
            </a:r>
            <a:r>
              <a:rPr dirty="0" sz="2000" b="1">
                <a:latin typeface="Arial"/>
                <a:cs typeface="Arial"/>
              </a:rPr>
              <a:t>Ready</a:t>
            </a:r>
            <a:r>
              <a:rPr dirty="0" sz="2000" spc="-65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–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Built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using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 b="1">
                <a:latin typeface="Arial"/>
                <a:cs typeface="Arial"/>
              </a:rPr>
              <a:t>IBM</a:t>
            </a:r>
            <a:r>
              <a:rPr dirty="0" sz="2000" spc="-7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Watsonx.ai,</a:t>
            </a:r>
            <a:r>
              <a:rPr dirty="0" sz="2000" spc="-6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Watsonx</a:t>
            </a:r>
            <a:r>
              <a:rPr dirty="0" sz="2000" spc="-7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Orchestrate,</a:t>
            </a:r>
            <a:r>
              <a:rPr dirty="0" sz="2000" spc="-75" b="1">
                <a:latin typeface="Arial"/>
                <a:cs typeface="Arial"/>
              </a:rPr>
              <a:t> </a:t>
            </a:r>
            <a:r>
              <a:rPr dirty="0" sz="2000" spc="-25" b="1">
                <a:latin typeface="Arial"/>
                <a:cs typeface="Arial"/>
              </a:rPr>
              <a:t>and </a:t>
            </a:r>
            <a:r>
              <a:rPr dirty="0" sz="2000" b="1">
                <a:latin typeface="Arial"/>
                <a:cs typeface="Arial"/>
              </a:rPr>
              <a:t>IBM</a:t>
            </a:r>
            <a:r>
              <a:rPr dirty="0" sz="2000" spc="-8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Granite</a:t>
            </a:r>
            <a:r>
              <a:rPr dirty="0" sz="2000" spc="-6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Models</a:t>
            </a:r>
            <a:r>
              <a:rPr dirty="0" sz="2000" spc="-10">
                <a:latin typeface="Arial MT"/>
                <a:cs typeface="Arial MT"/>
              </a:rPr>
              <a:t>,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ensuring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secure,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scalable,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enterprise-</a:t>
            </a:r>
            <a:r>
              <a:rPr dirty="0" sz="2000">
                <a:latin typeface="Arial MT"/>
                <a:cs typeface="Arial MT"/>
              </a:rPr>
              <a:t>grade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AI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deployment.</a:t>
            </a:r>
            <a:endParaRPr sz="2000">
              <a:latin typeface="Arial MT"/>
              <a:cs typeface="Arial MT"/>
            </a:endParaRPr>
          </a:p>
          <a:p>
            <a:pPr marL="94615">
              <a:lnSpc>
                <a:spcPts val="2300"/>
              </a:lnSpc>
            </a:pPr>
            <a:r>
              <a:rPr dirty="0" sz="2000">
                <a:latin typeface="Arial MT"/>
                <a:cs typeface="Arial MT"/>
              </a:rPr>
              <a:t>This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makes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Helix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AI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proactive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intelligent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healthcare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companion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that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delivers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personalized</a:t>
            </a:r>
            <a:endParaRPr sz="2000">
              <a:latin typeface="Arial MT"/>
              <a:cs typeface="Arial MT"/>
            </a:endParaRPr>
          </a:p>
          <a:p>
            <a:pPr marL="94615">
              <a:lnSpc>
                <a:spcPts val="2395"/>
              </a:lnSpc>
            </a:pPr>
            <a:r>
              <a:rPr dirty="0" sz="2000" spc="-10">
                <a:latin typeface="Arial MT"/>
                <a:cs typeface="Arial MT"/>
              </a:rPr>
              <a:t>healthcare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assistance,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trusted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medical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knowledge,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continuous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monitoring.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24560" y="1054354"/>
            <a:ext cx="211201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Git</a:t>
            </a:r>
            <a:r>
              <a:rPr dirty="0" spc="-90"/>
              <a:t> </a:t>
            </a:r>
            <a:r>
              <a:rPr dirty="0"/>
              <a:t>Hub</a:t>
            </a:r>
            <a:r>
              <a:rPr dirty="0" spc="-140"/>
              <a:t> </a:t>
            </a:r>
            <a:r>
              <a:rPr dirty="0" spc="-20"/>
              <a:t>Link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73327" y="1631950"/>
            <a:ext cx="4904740" cy="18141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sng" sz="2000" spc="-8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https://github.com/pranathi0104/Helix-</a:t>
            </a:r>
            <a:r>
              <a:rPr dirty="0" u="sng" sz="2000" spc="-1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AI.git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000">
              <a:latin typeface="Arial"/>
              <a:cs typeface="Arial"/>
            </a:endParaRPr>
          </a:p>
          <a:p>
            <a:pPr marL="44450">
              <a:lnSpc>
                <a:spcPct val="100000"/>
              </a:lnSpc>
            </a:pPr>
            <a:r>
              <a:rPr dirty="0" sz="2800" spc="-110" b="1">
                <a:solidFill>
                  <a:srgbClr val="2B3541"/>
                </a:solidFill>
                <a:latin typeface="Arial"/>
                <a:cs typeface="Arial"/>
              </a:rPr>
              <a:t>Deployed</a:t>
            </a:r>
            <a:r>
              <a:rPr dirty="0" sz="2800" spc="-80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800" spc="-95" b="1">
                <a:solidFill>
                  <a:srgbClr val="2B3541"/>
                </a:solidFill>
                <a:latin typeface="Arial"/>
                <a:cs typeface="Arial"/>
              </a:rPr>
              <a:t>Application</a:t>
            </a:r>
            <a:r>
              <a:rPr dirty="0" sz="2800" spc="-80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800" spc="-20" b="1">
                <a:solidFill>
                  <a:srgbClr val="2B3541"/>
                </a:solidFill>
                <a:latin typeface="Arial"/>
                <a:cs typeface="Arial"/>
              </a:rPr>
              <a:t>link</a:t>
            </a:r>
            <a:endParaRPr sz="2800">
              <a:latin typeface="Arial"/>
              <a:cs typeface="Arial"/>
            </a:endParaRPr>
          </a:p>
          <a:p>
            <a:pPr marL="44450">
              <a:lnSpc>
                <a:spcPct val="100000"/>
              </a:lnSpc>
              <a:spcBef>
                <a:spcPts val="1195"/>
              </a:spcBef>
            </a:pPr>
            <a:r>
              <a:rPr dirty="0" u="sng" sz="2000" spc="-75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3"/>
              </a:rPr>
              <a:t>https://helix-</a:t>
            </a:r>
            <a:r>
              <a:rPr dirty="0" u="sng" sz="2000" spc="-7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3"/>
              </a:rPr>
              <a:t>ai-</a:t>
            </a:r>
            <a:r>
              <a:rPr dirty="0" u="sng" sz="2000" spc="-2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3"/>
              </a:rPr>
              <a:t>qjc9.onrender.com/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1023" rIns="0" bIns="0" rtlCol="0" vert="horz">
            <a:spAutoFit/>
          </a:bodyPr>
          <a:lstStyle/>
          <a:p>
            <a:pPr marL="426720">
              <a:lnSpc>
                <a:spcPct val="100000"/>
              </a:lnSpc>
              <a:spcBef>
                <a:spcPts val="95"/>
              </a:spcBef>
            </a:pPr>
            <a:r>
              <a:rPr dirty="0"/>
              <a:t>Future</a:t>
            </a:r>
            <a:r>
              <a:rPr dirty="0" spc="-150"/>
              <a:t> </a:t>
            </a:r>
            <a:r>
              <a:rPr dirty="0" spc="-10"/>
              <a:t>Scope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7419" y="1397253"/>
            <a:ext cx="11152505" cy="50120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74320" indent="-261620">
              <a:lnSpc>
                <a:spcPts val="2350"/>
              </a:lnSpc>
              <a:spcBef>
                <a:spcPts val="105"/>
              </a:spcBef>
              <a:buAutoNum type="arabicPeriod"/>
              <a:tabLst>
                <a:tab pos="274320" algn="l"/>
              </a:tabLst>
            </a:pPr>
            <a:r>
              <a:rPr dirty="0" sz="2000" spc="-60" b="1">
                <a:solidFill>
                  <a:srgbClr val="2B3541"/>
                </a:solidFill>
                <a:latin typeface="Arial"/>
                <a:cs typeface="Arial"/>
              </a:rPr>
              <a:t>Integration</a:t>
            </a:r>
            <a:r>
              <a:rPr dirty="0" sz="2000" spc="-90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 spc="-40" b="1">
                <a:solidFill>
                  <a:srgbClr val="2B3541"/>
                </a:solidFill>
                <a:latin typeface="Arial"/>
                <a:cs typeface="Arial"/>
              </a:rPr>
              <a:t>with</a:t>
            </a:r>
            <a:r>
              <a:rPr dirty="0" sz="2000" spc="-90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 spc="-55" b="1">
                <a:solidFill>
                  <a:srgbClr val="2B3541"/>
                </a:solidFill>
                <a:latin typeface="Arial"/>
                <a:cs typeface="Arial"/>
              </a:rPr>
              <a:t>Wearables</a:t>
            </a:r>
            <a:r>
              <a:rPr dirty="0" sz="2000" spc="-80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B3541"/>
                </a:solidFill>
                <a:latin typeface="Arial"/>
                <a:cs typeface="Arial"/>
              </a:rPr>
              <a:t>&amp;</a:t>
            </a:r>
            <a:r>
              <a:rPr dirty="0" sz="2000" spc="-70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 spc="-50" b="1">
                <a:solidFill>
                  <a:srgbClr val="2B3541"/>
                </a:solidFill>
                <a:latin typeface="Arial"/>
                <a:cs typeface="Arial"/>
              </a:rPr>
              <a:t>Health</a:t>
            </a:r>
            <a:r>
              <a:rPr dirty="0" sz="2000" spc="-90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B3541"/>
                </a:solidFill>
                <a:latin typeface="Arial"/>
                <a:cs typeface="Arial"/>
              </a:rPr>
              <a:t>Devices</a:t>
            </a:r>
            <a:endParaRPr sz="2000">
              <a:latin typeface="Arial"/>
              <a:cs typeface="Arial"/>
            </a:endParaRPr>
          </a:p>
          <a:p>
            <a:pPr marL="12700" marR="390525">
              <a:lnSpc>
                <a:spcPct val="96500"/>
              </a:lnSpc>
              <a:spcBef>
                <a:spcPts val="35"/>
              </a:spcBef>
            </a:pPr>
            <a:r>
              <a:rPr dirty="0" sz="2000" spc="-50">
                <a:solidFill>
                  <a:srgbClr val="2B3541"/>
                </a:solidFill>
                <a:latin typeface="Arial MT"/>
                <a:cs typeface="Arial MT"/>
              </a:rPr>
              <a:t>Helix</a:t>
            </a:r>
            <a:r>
              <a:rPr dirty="0" sz="2000" spc="-7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40">
                <a:solidFill>
                  <a:srgbClr val="2B3541"/>
                </a:solidFill>
                <a:latin typeface="Arial MT"/>
                <a:cs typeface="Arial MT"/>
              </a:rPr>
              <a:t>AI</a:t>
            </a:r>
            <a:r>
              <a:rPr dirty="0" sz="2000" spc="-9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40">
                <a:solidFill>
                  <a:srgbClr val="2B3541"/>
                </a:solidFill>
                <a:latin typeface="Arial MT"/>
                <a:cs typeface="Arial MT"/>
              </a:rPr>
              <a:t>can</a:t>
            </a:r>
            <a:r>
              <a:rPr dirty="0" sz="2000" spc="-7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30">
                <a:solidFill>
                  <a:srgbClr val="2B3541"/>
                </a:solidFill>
                <a:latin typeface="Arial MT"/>
                <a:cs typeface="Arial MT"/>
              </a:rPr>
              <a:t>be</a:t>
            </a:r>
            <a:r>
              <a:rPr dirty="0" sz="2000" spc="-7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5">
                <a:solidFill>
                  <a:srgbClr val="2B3541"/>
                </a:solidFill>
                <a:latin typeface="Arial MT"/>
                <a:cs typeface="Arial MT"/>
              </a:rPr>
              <a:t>integrated</a:t>
            </a:r>
            <a:r>
              <a:rPr dirty="0" sz="2000" spc="-7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5">
                <a:solidFill>
                  <a:srgbClr val="2B3541"/>
                </a:solidFill>
                <a:latin typeface="Arial MT"/>
                <a:cs typeface="Arial MT"/>
              </a:rPr>
              <a:t>with</a:t>
            </a:r>
            <a:r>
              <a:rPr dirty="0" sz="2000" spc="-7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5">
                <a:solidFill>
                  <a:srgbClr val="2B3541"/>
                </a:solidFill>
                <a:latin typeface="Arial MT"/>
                <a:cs typeface="Arial MT"/>
              </a:rPr>
              <a:t>smartwatches</a:t>
            </a:r>
            <a:r>
              <a:rPr dirty="0" sz="2000" spc="-7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40">
                <a:solidFill>
                  <a:srgbClr val="2B3541"/>
                </a:solidFill>
                <a:latin typeface="Arial MT"/>
                <a:cs typeface="Arial MT"/>
              </a:rPr>
              <a:t>and</a:t>
            </a:r>
            <a:r>
              <a:rPr dirty="0" sz="2000" spc="-7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45">
                <a:solidFill>
                  <a:srgbClr val="2B3541"/>
                </a:solidFill>
                <a:latin typeface="Arial MT"/>
                <a:cs typeface="Arial MT"/>
              </a:rPr>
              <a:t>IoT</a:t>
            </a:r>
            <a:r>
              <a:rPr dirty="0" sz="2000" spc="-7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0">
                <a:solidFill>
                  <a:srgbClr val="2B3541"/>
                </a:solidFill>
                <a:latin typeface="Arial MT"/>
                <a:cs typeface="Arial MT"/>
              </a:rPr>
              <a:t>health</a:t>
            </a:r>
            <a:r>
              <a:rPr dirty="0" sz="2000" spc="-7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0">
                <a:solidFill>
                  <a:srgbClr val="2B3541"/>
                </a:solidFill>
                <a:latin typeface="Arial MT"/>
                <a:cs typeface="Arial MT"/>
              </a:rPr>
              <a:t>devices</a:t>
            </a:r>
            <a:r>
              <a:rPr dirty="0" sz="2000" spc="-6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30">
                <a:solidFill>
                  <a:srgbClr val="2B3541"/>
                </a:solidFill>
                <a:latin typeface="Arial MT"/>
                <a:cs typeface="Arial MT"/>
              </a:rPr>
              <a:t>to</a:t>
            </a:r>
            <a:r>
              <a:rPr dirty="0" sz="2000" spc="-9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5">
                <a:solidFill>
                  <a:srgbClr val="2B3541"/>
                </a:solidFill>
                <a:latin typeface="Arial MT"/>
                <a:cs typeface="Arial MT"/>
              </a:rPr>
              <a:t>automatically</a:t>
            </a:r>
            <a:r>
              <a:rPr dirty="0" sz="2000" spc="-7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0">
                <a:solidFill>
                  <a:srgbClr val="2B3541"/>
                </a:solidFill>
                <a:latin typeface="Arial MT"/>
                <a:cs typeface="Arial MT"/>
              </a:rPr>
              <a:t>collect</a:t>
            </a:r>
            <a:r>
              <a:rPr dirty="0" sz="2000" spc="-8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60">
                <a:solidFill>
                  <a:srgbClr val="2B3541"/>
                </a:solidFill>
                <a:latin typeface="Arial MT"/>
                <a:cs typeface="Arial MT"/>
              </a:rPr>
              <a:t>real-</a:t>
            </a:r>
            <a:r>
              <a:rPr dirty="0" sz="2000" spc="-20">
                <a:solidFill>
                  <a:srgbClr val="2B3541"/>
                </a:solidFill>
                <a:latin typeface="Arial MT"/>
                <a:cs typeface="Arial MT"/>
              </a:rPr>
              <a:t>time </a:t>
            </a:r>
            <a:r>
              <a:rPr dirty="0" sz="2000" spc="-50">
                <a:solidFill>
                  <a:srgbClr val="2B3541"/>
                </a:solidFill>
                <a:latin typeface="Arial MT"/>
                <a:cs typeface="Arial MT"/>
              </a:rPr>
              <a:t>vitals</a:t>
            </a:r>
            <a:r>
              <a:rPr dirty="0" sz="2000" spc="-8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40">
                <a:solidFill>
                  <a:srgbClr val="2B3541"/>
                </a:solidFill>
                <a:latin typeface="Arial MT"/>
                <a:cs typeface="Arial MT"/>
              </a:rPr>
              <a:t>such</a:t>
            </a:r>
            <a:r>
              <a:rPr dirty="0" sz="2000" spc="-8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30">
                <a:solidFill>
                  <a:srgbClr val="2B3541"/>
                </a:solidFill>
                <a:latin typeface="Arial MT"/>
                <a:cs typeface="Arial MT"/>
              </a:rPr>
              <a:t>as</a:t>
            </a:r>
            <a:r>
              <a:rPr dirty="0" sz="2000" spc="-8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40">
                <a:solidFill>
                  <a:srgbClr val="2B3541"/>
                </a:solidFill>
                <a:latin typeface="Arial MT"/>
                <a:cs typeface="Arial MT"/>
              </a:rPr>
              <a:t>heart</a:t>
            </a:r>
            <a:r>
              <a:rPr dirty="0" sz="2000" spc="-9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45">
                <a:solidFill>
                  <a:srgbClr val="2B3541"/>
                </a:solidFill>
                <a:latin typeface="Arial MT"/>
                <a:cs typeface="Arial MT"/>
              </a:rPr>
              <a:t>rate,</a:t>
            </a:r>
            <a:r>
              <a:rPr dirty="0" sz="2000" spc="-9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5">
                <a:solidFill>
                  <a:srgbClr val="2B3541"/>
                </a:solidFill>
                <a:latin typeface="Arial MT"/>
                <a:cs typeface="Arial MT"/>
              </a:rPr>
              <a:t>blood</a:t>
            </a:r>
            <a:r>
              <a:rPr dirty="0" sz="2000" spc="-7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0">
                <a:solidFill>
                  <a:srgbClr val="2B3541"/>
                </a:solidFill>
                <a:latin typeface="Arial MT"/>
                <a:cs typeface="Arial MT"/>
              </a:rPr>
              <a:t>pressure,</a:t>
            </a:r>
            <a:r>
              <a:rPr dirty="0" sz="2000" spc="-9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45">
                <a:solidFill>
                  <a:srgbClr val="2B3541"/>
                </a:solidFill>
                <a:latin typeface="Arial MT"/>
                <a:cs typeface="Arial MT"/>
              </a:rPr>
              <a:t>SpO</a:t>
            </a:r>
            <a:r>
              <a:rPr dirty="0" sz="2000" spc="-45">
                <a:solidFill>
                  <a:srgbClr val="2B3541"/>
                </a:solidFill>
                <a:latin typeface="Cambria Math"/>
                <a:cs typeface="Cambria Math"/>
              </a:rPr>
              <a:t>₂</a:t>
            </a:r>
            <a:r>
              <a:rPr dirty="0" sz="2000" spc="-45">
                <a:solidFill>
                  <a:srgbClr val="2B3541"/>
                </a:solidFill>
                <a:latin typeface="Arial MT"/>
                <a:cs typeface="Arial MT"/>
              </a:rPr>
              <a:t>,</a:t>
            </a:r>
            <a:r>
              <a:rPr dirty="0" sz="2000" spc="-10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45">
                <a:solidFill>
                  <a:srgbClr val="2B3541"/>
                </a:solidFill>
                <a:latin typeface="Arial MT"/>
                <a:cs typeface="Arial MT"/>
              </a:rPr>
              <a:t>sleep</a:t>
            </a:r>
            <a:r>
              <a:rPr dirty="0" sz="2000" spc="-9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0">
                <a:solidFill>
                  <a:srgbClr val="2B3541"/>
                </a:solidFill>
                <a:latin typeface="Arial MT"/>
                <a:cs typeface="Arial MT"/>
              </a:rPr>
              <a:t>patterns,</a:t>
            </a:r>
            <a:r>
              <a:rPr dirty="0" sz="2000" spc="-9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40">
                <a:solidFill>
                  <a:srgbClr val="2B3541"/>
                </a:solidFill>
                <a:latin typeface="Arial MT"/>
                <a:cs typeface="Arial MT"/>
              </a:rPr>
              <a:t>and</a:t>
            </a:r>
            <a:r>
              <a:rPr dirty="0" sz="2000" spc="-8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5">
                <a:solidFill>
                  <a:srgbClr val="2B3541"/>
                </a:solidFill>
                <a:latin typeface="Arial MT"/>
                <a:cs typeface="Arial MT"/>
              </a:rPr>
              <a:t>physical</a:t>
            </a:r>
            <a:r>
              <a:rPr dirty="0" sz="2000" spc="-8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0">
                <a:solidFill>
                  <a:srgbClr val="2B3541"/>
                </a:solidFill>
                <a:latin typeface="Arial MT"/>
                <a:cs typeface="Arial MT"/>
              </a:rPr>
              <a:t>activity.</a:t>
            </a:r>
            <a:r>
              <a:rPr dirty="0" sz="2000" spc="-9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0">
                <a:solidFill>
                  <a:srgbClr val="2B3541"/>
                </a:solidFill>
                <a:latin typeface="Arial MT"/>
                <a:cs typeface="Arial MT"/>
              </a:rPr>
              <a:t>This</a:t>
            </a:r>
            <a:r>
              <a:rPr dirty="0" sz="2000" spc="-8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60">
                <a:solidFill>
                  <a:srgbClr val="2B3541"/>
                </a:solidFill>
                <a:latin typeface="Arial MT"/>
                <a:cs typeface="Arial MT"/>
              </a:rPr>
              <a:t>will</a:t>
            </a:r>
            <a:r>
              <a:rPr dirty="0" sz="2000" spc="-8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2B3541"/>
                </a:solidFill>
                <a:latin typeface="Arial MT"/>
                <a:cs typeface="Arial MT"/>
              </a:rPr>
              <a:t>enable </a:t>
            </a:r>
            <a:r>
              <a:rPr dirty="0" sz="2000" spc="-55">
                <a:solidFill>
                  <a:srgbClr val="2B3541"/>
                </a:solidFill>
                <a:latin typeface="Arial MT"/>
                <a:cs typeface="Arial MT"/>
              </a:rPr>
              <a:t>continuous</a:t>
            </a:r>
            <a:r>
              <a:rPr dirty="0" sz="2000" spc="-8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45">
                <a:solidFill>
                  <a:srgbClr val="2B3541"/>
                </a:solidFill>
                <a:latin typeface="Arial MT"/>
                <a:cs typeface="Arial MT"/>
              </a:rPr>
              <a:t>health</a:t>
            </a:r>
            <a:r>
              <a:rPr dirty="0" sz="2000" spc="-7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5">
                <a:solidFill>
                  <a:srgbClr val="2B3541"/>
                </a:solidFill>
                <a:latin typeface="Arial MT"/>
                <a:cs typeface="Arial MT"/>
              </a:rPr>
              <a:t>monitoring,</a:t>
            </a:r>
            <a:r>
              <a:rPr dirty="0" sz="2000" spc="-8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0">
                <a:solidFill>
                  <a:srgbClr val="2B3541"/>
                </a:solidFill>
                <a:latin typeface="Arial MT"/>
                <a:cs typeface="Arial MT"/>
              </a:rPr>
              <a:t>improve</a:t>
            </a:r>
            <a:r>
              <a:rPr dirty="0" sz="2000" spc="-7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45">
                <a:solidFill>
                  <a:srgbClr val="2B3541"/>
                </a:solidFill>
                <a:latin typeface="Arial MT"/>
                <a:cs typeface="Arial MT"/>
              </a:rPr>
              <a:t>risk</a:t>
            </a:r>
            <a:r>
              <a:rPr dirty="0" sz="2000" spc="-8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5">
                <a:solidFill>
                  <a:srgbClr val="2B3541"/>
                </a:solidFill>
                <a:latin typeface="Arial MT"/>
                <a:cs typeface="Arial MT"/>
              </a:rPr>
              <a:t>prediction,</a:t>
            </a:r>
            <a:r>
              <a:rPr dirty="0" sz="2000" spc="-8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40">
                <a:solidFill>
                  <a:srgbClr val="2B3541"/>
                </a:solidFill>
                <a:latin typeface="Arial MT"/>
                <a:cs typeface="Arial MT"/>
              </a:rPr>
              <a:t>and</a:t>
            </a:r>
            <a:r>
              <a:rPr dirty="0" sz="2000" spc="-7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0">
                <a:solidFill>
                  <a:srgbClr val="2B3541"/>
                </a:solidFill>
                <a:latin typeface="Arial MT"/>
                <a:cs typeface="Arial MT"/>
              </a:rPr>
              <a:t>provide</a:t>
            </a:r>
            <a:r>
              <a:rPr dirty="0" sz="2000" spc="-7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0">
                <a:solidFill>
                  <a:srgbClr val="2B3541"/>
                </a:solidFill>
                <a:latin typeface="Arial MT"/>
                <a:cs typeface="Arial MT"/>
              </a:rPr>
              <a:t>more</a:t>
            </a:r>
            <a:r>
              <a:rPr dirty="0" sz="2000" spc="-7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5">
                <a:solidFill>
                  <a:srgbClr val="2B3541"/>
                </a:solidFill>
                <a:latin typeface="Arial MT"/>
                <a:cs typeface="Arial MT"/>
              </a:rPr>
              <a:t>personalized</a:t>
            </a:r>
            <a:r>
              <a:rPr dirty="0" sz="2000" spc="-7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2B3541"/>
                </a:solidFill>
                <a:latin typeface="Arial MT"/>
                <a:cs typeface="Arial MT"/>
              </a:rPr>
              <a:t>healthcare recommendations.</a:t>
            </a:r>
            <a:endParaRPr sz="2000">
              <a:latin typeface="Arial MT"/>
              <a:cs typeface="Arial MT"/>
            </a:endParaRPr>
          </a:p>
          <a:p>
            <a:pPr marL="274320" indent="-261620">
              <a:lnSpc>
                <a:spcPts val="2245"/>
              </a:lnSpc>
              <a:buAutoNum type="arabicPeriod" startAt="2"/>
              <a:tabLst>
                <a:tab pos="274320" algn="l"/>
              </a:tabLst>
            </a:pPr>
            <a:r>
              <a:rPr dirty="0" sz="2000" spc="-55" b="1">
                <a:solidFill>
                  <a:srgbClr val="2B3541"/>
                </a:solidFill>
                <a:latin typeface="Arial"/>
                <a:cs typeface="Arial"/>
              </a:rPr>
              <a:t>AI-</a:t>
            </a:r>
            <a:r>
              <a:rPr dirty="0" sz="2000" spc="-60" b="1">
                <a:solidFill>
                  <a:srgbClr val="2B3541"/>
                </a:solidFill>
                <a:latin typeface="Arial"/>
                <a:cs typeface="Arial"/>
              </a:rPr>
              <a:t>Powered</a:t>
            </a:r>
            <a:r>
              <a:rPr dirty="0" sz="2000" spc="-80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 spc="-50" b="1">
                <a:solidFill>
                  <a:srgbClr val="2B3541"/>
                </a:solidFill>
                <a:latin typeface="Arial"/>
                <a:cs typeface="Arial"/>
              </a:rPr>
              <a:t>Voice</a:t>
            </a:r>
            <a:r>
              <a:rPr dirty="0" sz="2000" spc="-85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 spc="-55" b="1">
                <a:solidFill>
                  <a:srgbClr val="2B3541"/>
                </a:solidFill>
                <a:latin typeface="Arial"/>
                <a:cs typeface="Arial"/>
              </a:rPr>
              <a:t>Assistant</a:t>
            </a:r>
            <a:r>
              <a:rPr dirty="0" sz="2000" spc="-70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B3541"/>
                </a:solidFill>
                <a:latin typeface="Arial"/>
                <a:cs typeface="Arial"/>
              </a:rPr>
              <a:t>&amp;</a:t>
            </a:r>
            <a:r>
              <a:rPr dirty="0" sz="2000" spc="-75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 spc="-55" b="1">
                <a:solidFill>
                  <a:srgbClr val="2B3541"/>
                </a:solidFill>
                <a:latin typeface="Arial"/>
                <a:cs typeface="Arial"/>
              </a:rPr>
              <a:t>Multilingual</a:t>
            </a:r>
            <a:r>
              <a:rPr dirty="0" sz="2000" spc="-80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B3541"/>
                </a:solidFill>
                <a:latin typeface="Arial"/>
                <a:cs typeface="Arial"/>
              </a:rPr>
              <a:t>Support</a:t>
            </a:r>
            <a:endParaRPr sz="2000">
              <a:latin typeface="Arial"/>
              <a:cs typeface="Arial"/>
            </a:endParaRPr>
          </a:p>
          <a:p>
            <a:pPr marL="12700" marR="360045">
              <a:lnSpc>
                <a:spcPct val="95800"/>
              </a:lnSpc>
              <a:spcBef>
                <a:spcPts val="50"/>
              </a:spcBef>
            </a:pPr>
            <a:r>
              <a:rPr dirty="0" sz="2000" spc="-45">
                <a:solidFill>
                  <a:srgbClr val="2B3541"/>
                </a:solidFill>
                <a:latin typeface="Arial MT"/>
                <a:cs typeface="Arial MT"/>
              </a:rPr>
              <a:t>The</a:t>
            </a:r>
            <a:r>
              <a:rPr dirty="0" sz="2000" spc="-8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0">
                <a:solidFill>
                  <a:srgbClr val="2B3541"/>
                </a:solidFill>
                <a:latin typeface="Arial MT"/>
                <a:cs typeface="Arial MT"/>
              </a:rPr>
              <a:t>platform</a:t>
            </a:r>
            <a:r>
              <a:rPr dirty="0" sz="2000" spc="-8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40">
                <a:solidFill>
                  <a:srgbClr val="2B3541"/>
                </a:solidFill>
                <a:latin typeface="Arial MT"/>
                <a:cs typeface="Arial MT"/>
              </a:rPr>
              <a:t>can</a:t>
            </a:r>
            <a:r>
              <a:rPr dirty="0" sz="2000" spc="-6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30">
                <a:solidFill>
                  <a:srgbClr val="2B3541"/>
                </a:solidFill>
                <a:latin typeface="Arial MT"/>
                <a:cs typeface="Arial MT"/>
              </a:rPr>
              <a:t>be</a:t>
            </a:r>
            <a:r>
              <a:rPr dirty="0" sz="2000" spc="-7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0">
                <a:solidFill>
                  <a:srgbClr val="2B3541"/>
                </a:solidFill>
                <a:latin typeface="Arial MT"/>
                <a:cs typeface="Arial MT"/>
              </a:rPr>
              <a:t>enhanced</a:t>
            </a:r>
            <a:r>
              <a:rPr dirty="0" sz="2000" spc="-7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0">
                <a:solidFill>
                  <a:srgbClr val="2B3541"/>
                </a:solidFill>
                <a:latin typeface="Arial MT"/>
                <a:cs typeface="Arial MT"/>
              </a:rPr>
              <a:t>with</a:t>
            </a:r>
            <a:r>
              <a:rPr dirty="0" sz="2000" spc="-7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B3541"/>
                </a:solidFill>
                <a:latin typeface="Arial MT"/>
                <a:cs typeface="Arial MT"/>
              </a:rPr>
              <a:t>a</a:t>
            </a:r>
            <a:r>
              <a:rPr dirty="0" sz="2000" spc="-7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60">
                <a:solidFill>
                  <a:srgbClr val="2B3541"/>
                </a:solidFill>
                <a:latin typeface="Arial MT"/>
                <a:cs typeface="Arial MT"/>
              </a:rPr>
              <a:t>voice-</a:t>
            </a:r>
            <a:r>
              <a:rPr dirty="0" sz="2000" spc="-50">
                <a:solidFill>
                  <a:srgbClr val="2B3541"/>
                </a:solidFill>
                <a:latin typeface="Arial MT"/>
                <a:cs typeface="Arial MT"/>
              </a:rPr>
              <a:t>enabled</a:t>
            </a:r>
            <a:r>
              <a:rPr dirty="0" sz="2000" spc="-7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5">
                <a:solidFill>
                  <a:srgbClr val="2B3541"/>
                </a:solidFill>
                <a:latin typeface="Arial MT"/>
                <a:cs typeface="Arial MT"/>
              </a:rPr>
              <a:t>healthcare</a:t>
            </a:r>
            <a:r>
              <a:rPr dirty="0" sz="2000" spc="-6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5">
                <a:solidFill>
                  <a:srgbClr val="2B3541"/>
                </a:solidFill>
                <a:latin typeface="Arial MT"/>
                <a:cs typeface="Arial MT"/>
              </a:rPr>
              <a:t>assistant</a:t>
            </a:r>
            <a:r>
              <a:rPr dirty="0" sz="2000" spc="-8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40">
                <a:solidFill>
                  <a:srgbClr val="2B3541"/>
                </a:solidFill>
                <a:latin typeface="Arial MT"/>
                <a:cs typeface="Arial MT"/>
              </a:rPr>
              <a:t>and</a:t>
            </a:r>
            <a:r>
              <a:rPr dirty="0" sz="2000" spc="-6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60">
                <a:solidFill>
                  <a:srgbClr val="2B3541"/>
                </a:solidFill>
                <a:latin typeface="Arial MT"/>
                <a:cs typeface="Arial MT"/>
              </a:rPr>
              <a:t>multilingual</a:t>
            </a:r>
            <a:r>
              <a:rPr dirty="0" sz="2000" spc="-7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2B3541"/>
                </a:solidFill>
                <a:latin typeface="Arial MT"/>
                <a:cs typeface="Arial MT"/>
              </a:rPr>
              <a:t>support, </a:t>
            </a:r>
            <a:r>
              <a:rPr dirty="0" sz="2000" spc="-55">
                <a:solidFill>
                  <a:srgbClr val="2B3541"/>
                </a:solidFill>
                <a:latin typeface="Arial MT"/>
                <a:cs typeface="Arial MT"/>
              </a:rPr>
              <a:t>allowing</a:t>
            </a:r>
            <a:r>
              <a:rPr dirty="0" sz="2000" spc="-7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45">
                <a:solidFill>
                  <a:srgbClr val="2B3541"/>
                </a:solidFill>
                <a:latin typeface="Arial MT"/>
                <a:cs typeface="Arial MT"/>
              </a:rPr>
              <a:t>users</a:t>
            </a:r>
            <a:r>
              <a:rPr dirty="0" sz="2000" spc="-8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20">
                <a:solidFill>
                  <a:srgbClr val="2B3541"/>
                </a:solidFill>
                <a:latin typeface="Arial MT"/>
                <a:cs typeface="Arial MT"/>
              </a:rPr>
              <a:t>to</a:t>
            </a:r>
            <a:r>
              <a:rPr dirty="0" sz="2000" spc="-7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0">
                <a:solidFill>
                  <a:srgbClr val="2B3541"/>
                </a:solidFill>
                <a:latin typeface="Arial MT"/>
                <a:cs typeface="Arial MT"/>
              </a:rPr>
              <a:t>interact</a:t>
            </a:r>
            <a:r>
              <a:rPr dirty="0" sz="2000" spc="-8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5">
                <a:solidFill>
                  <a:srgbClr val="2B3541"/>
                </a:solidFill>
                <a:latin typeface="Arial MT"/>
                <a:cs typeface="Arial MT"/>
              </a:rPr>
              <a:t>naturally</a:t>
            </a:r>
            <a:r>
              <a:rPr dirty="0" sz="2000" spc="-6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30">
                <a:solidFill>
                  <a:srgbClr val="2B3541"/>
                </a:solidFill>
                <a:latin typeface="Arial MT"/>
                <a:cs typeface="Arial MT"/>
              </a:rPr>
              <a:t>in</a:t>
            </a:r>
            <a:r>
              <a:rPr dirty="0" sz="2000" spc="-7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5">
                <a:solidFill>
                  <a:srgbClr val="2B3541"/>
                </a:solidFill>
                <a:latin typeface="Arial MT"/>
                <a:cs typeface="Arial MT"/>
              </a:rPr>
              <a:t>their</a:t>
            </a:r>
            <a:r>
              <a:rPr dirty="0" sz="2000" spc="-7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0">
                <a:solidFill>
                  <a:srgbClr val="2B3541"/>
                </a:solidFill>
                <a:latin typeface="Arial MT"/>
                <a:cs typeface="Arial MT"/>
              </a:rPr>
              <a:t>preferred</a:t>
            </a:r>
            <a:r>
              <a:rPr dirty="0" sz="2000" spc="-7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5">
                <a:solidFill>
                  <a:srgbClr val="2B3541"/>
                </a:solidFill>
                <a:latin typeface="Arial MT"/>
                <a:cs typeface="Arial MT"/>
              </a:rPr>
              <a:t>language.</a:t>
            </a:r>
            <a:r>
              <a:rPr dirty="0" sz="2000" spc="-8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0">
                <a:solidFill>
                  <a:srgbClr val="2B3541"/>
                </a:solidFill>
                <a:latin typeface="Arial MT"/>
                <a:cs typeface="Arial MT"/>
              </a:rPr>
              <a:t>This</a:t>
            </a:r>
            <a:r>
              <a:rPr dirty="0" sz="2000" spc="-7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5">
                <a:solidFill>
                  <a:srgbClr val="2B3541"/>
                </a:solidFill>
                <a:latin typeface="Arial MT"/>
                <a:cs typeface="Arial MT"/>
              </a:rPr>
              <a:t>will</a:t>
            </a:r>
            <a:r>
              <a:rPr dirty="0" sz="2000" spc="-7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5">
                <a:solidFill>
                  <a:srgbClr val="2B3541"/>
                </a:solidFill>
                <a:latin typeface="Arial MT"/>
                <a:cs typeface="Arial MT"/>
              </a:rPr>
              <a:t>improve</a:t>
            </a:r>
            <a:r>
              <a:rPr dirty="0" sz="2000" spc="-8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5">
                <a:solidFill>
                  <a:srgbClr val="2B3541"/>
                </a:solidFill>
                <a:latin typeface="Arial MT"/>
                <a:cs typeface="Arial MT"/>
              </a:rPr>
              <a:t>accessibility,</a:t>
            </a:r>
            <a:r>
              <a:rPr dirty="0" sz="2000" spc="-8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2B3541"/>
                </a:solidFill>
                <a:latin typeface="Arial MT"/>
                <a:cs typeface="Arial MT"/>
              </a:rPr>
              <a:t>enhance </a:t>
            </a:r>
            <a:r>
              <a:rPr dirty="0" sz="2000" spc="-40">
                <a:solidFill>
                  <a:srgbClr val="2B3541"/>
                </a:solidFill>
                <a:latin typeface="Arial MT"/>
                <a:cs typeface="Arial MT"/>
              </a:rPr>
              <a:t>user</a:t>
            </a:r>
            <a:r>
              <a:rPr dirty="0" sz="2000" spc="-8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5">
                <a:solidFill>
                  <a:srgbClr val="2B3541"/>
                </a:solidFill>
                <a:latin typeface="Arial MT"/>
                <a:cs typeface="Arial MT"/>
              </a:rPr>
              <a:t>experience,</a:t>
            </a:r>
            <a:r>
              <a:rPr dirty="0" sz="2000" spc="-8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45">
                <a:solidFill>
                  <a:srgbClr val="2B3541"/>
                </a:solidFill>
                <a:latin typeface="Arial MT"/>
                <a:cs typeface="Arial MT"/>
              </a:rPr>
              <a:t>and</a:t>
            </a:r>
            <a:r>
              <a:rPr dirty="0" sz="2000" spc="-8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40">
                <a:solidFill>
                  <a:srgbClr val="2B3541"/>
                </a:solidFill>
                <a:latin typeface="Arial MT"/>
                <a:cs typeface="Arial MT"/>
              </a:rPr>
              <a:t>make</a:t>
            </a:r>
            <a:r>
              <a:rPr dirty="0" sz="2000" spc="-8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0">
                <a:solidFill>
                  <a:srgbClr val="2B3541"/>
                </a:solidFill>
                <a:latin typeface="Arial MT"/>
                <a:cs typeface="Arial MT"/>
              </a:rPr>
              <a:t>Helix</a:t>
            </a:r>
            <a:r>
              <a:rPr dirty="0" sz="2000" spc="-7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40">
                <a:solidFill>
                  <a:srgbClr val="2B3541"/>
                </a:solidFill>
                <a:latin typeface="Arial MT"/>
                <a:cs typeface="Arial MT"/>
              </a:rPr>
              <a:t>AI</a:t>
            </a:r>
            <a:r>
              <a:rPr dirty="0" sz="2000" spc="-9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0">
                <a:solidFill>
                  <a:srgbClr val="2B3541"/>
                </a:solidFill>
                <a:latin typeface="Arial MT"/>
                <a:cs typeface="Arial MT"/>
              </a:rPr>
              <a:t>suitable</a:t>
            </a:r>
            <a:r>
              <a:rPr dirty="0" sz="2000" spc="-7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40">
                <a:solidFill>
                  <a:srgbClr val="2B3541"/>
                </a:solidFill>
                <a:latin typeface="Arial MT"/>
                <a:cs typeface="Arial MT"/>
              </a:rPr>
              <a:t>for</a:t>
            </a:r>
            <a:r>
              <a:rPr dirty="0" sz="2000" spc="-8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0">
                <a:solidFill>
                  <a:srgbClr val="2B3541"/>
                </a:solidFill>
                <a:latin typeface="Arial MT"/>
                <a:cs typeface="Arial MT"/>
              </a:rPr>
              <a:t>diverse</a:t>
            </a:r>
            <a:r>
              <a:rPr dirty="0" sz="2000" spc="-8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5">
                <a:solidFill>
                  <a:srgbClr val="2B3541"/>
                </a:solidFill>
                <a:latin typeface="Arial MT"/>
                <a:cs typeface="Arial MT"/>
              </a:rPr>
              <a:t>populations</a:t>
            </a:r>
            <a:r>
              <a:rPr dirty="0" sz="2000" spc="-8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40">
                <a:solidFill>
                  <a:srgbClr val="2B3541"/>
                </a:solidFill>
                <a:latin typeface="Arial MT"/>
                <a:cs typeface="Arial MT"/>
              </a:rPr>
              <a:t>and</a:t>
            </a:r>
            <a:r>
              <a:rPr dirty="0" sz="2000" spc="-7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5">
                <a:solidFill>
                  <a:srgbClr val="2B3541"/>
                </a:solidFill>
                <a:latin typeface="Arial MT"/>
                <a:cs typeface="Arial MT"/>
              </a:rPr>
              <a:t>healthcare</a:t>
            </a:r>
            <a:r>
              <a:rPr dirty="0" sz="2000" spc="-8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2B3541"/>
                </a:solidFill>
                <a:latin typeface="Arial MT"/>
                <a:cs typeface="Arial MT"/>
              </a:rPr>
              <a:t>environments.</a:t>
            </a:r>
            <a:endParaRPr sz="2000">
              <a:latin typeface="Arial MT"/>
              <a:cs typeface="Arial MT"/>
            </a:endParaRPr>
          </a:p>
          <a:p>
            <a:pPr marL="274320" indent="-261620">
              <a:lnSpc>
                <a:spcPts val="2255"/>
              </a:lnSpc>
              <a:buAutoNum type="arabicPeriod" startAt="3"/>
              <a:tabLst>
                <a:tab pos="274320" algn="l"/>
              </a:tabLst>
            </a:pPr>
            <a:r>
              <a:rPr dirty="0" sz="2000" spc="-55" b="1">
                <a:solidFill>
                  <a:srgbClr val="2B3541"/>
                </a:solidFill>
                <a:latin typeface="Arial"/>
                <a:cs typeface="Arial"/>
              </a:rPr>
              <a:t>Predictive</a:t>
            </a:r>
            <a:r>
              <a:rPr dirty="0" sz="2000" spc="-90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 spc="-50" b="1">
                <a:solidFill>
                  <a:srgbClr val="2B3541"/>
                </a:solidFill>
                <a:latin typeface="Arial"/>
                <a:cs typeface="Arial"/>
              </a:rPr>
              <a:t>Health</a:t>
            </a:r>
            <a:r>
              <a:rPr dirty="0" sz="2000" spc="-75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 spc="-45" b="1">
                <a:solidFill>
                  <a:srgbClr val="2B3541"/>
                </a:solidFill>
                <a:latin typeface="Arial"/>
                <a:cs typeface="Arial"/>
              </a:rPr>
              <a:t>Risk</a:t>
            </a:r>
            <a:r>
              <a:rPr dirty="0" sz="2000" spc="-85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B3541"/>
                </a:solidFill>
                <a:latin typeface="Arial"/>
                <a:cs typeface="Arial"/>
              </a:rPr>
              <a:t>Analysis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ct val="95700"/>
              </a:lnSpc>
              <a:spcBef>
                <a:spcPts val="55"/>
              </a:spcBef>
            </a:pPr>
            <a:r>
              <a:rPr dirty="0" sz="2000" spc="-30">
                <a:solidFill>
                  <a:srgbClr val="2B3541"/>
                </a:solidFill>
                <a:latin typeface="Arial MT"/>
                <a:cs typeface="Arial MT"/>
              </a:rPr>
              <a:t>By</a:t>
            </a:r>
            <a:r>
              <a:rPr dirty="0" sz="2000" spc="-7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5">
                <a:solidFill>
                  <a:srgbClr val="2B3541"/>
                </a:solidFill>
                <a:latin typeface="Arial MT"/>
                <a:cs typeface="Arial MT"/>
              </a:rPr>
              <a:t>leveraging</a:t>
            </a:r>
            <a:r>
              <a:rPr dirty="0" sz="2000" spc="-9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0">
                <a:solidFill>
                  <a:srgbClr val="2B3541"/>
                </a:solidFill>
                <a:latin typeface="Arial MT"/>
                <a:cs typeface="Arial MT"/>
              </a:rPr>
              <a:t>machine</a:t>
            </a:r>
            <a:r>
              <a:rPr dirty="0" sz="2000" spc="-7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5">
                <a:solidFill>
                  <a:srgbClr val="2B3541"/>
                </a:solidFill>
                <a:latin typeface="Arial MT"/>
                <a:cs typeface="Arial MT"/>
              </a:rPr>
              <a:t>learning</a:t>
            </a:r>
            <a:r>
              <a:rPr dirty="0" sz="2000" spc="-8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30">
                <a:solidFill>
                  <a:srgbClr val="2B3541"/>
                </a:solidFill>
                <a:latin typeface="Arial MT"/>
                <a:cs typeface="Arial MT"/>
              </a:rPr>
              <a:t>on</a:t>
            </a:r>
            <a:r>
              <a:rPr dirty="0" sz="2000" spc="-8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5">
                <a:solidFill>
                  <a:srgbClr val="2B3541"/>
                </a:solidFill>
                <a:latin typeface="Arial MT"/>
                <a:cs typeface="Arial MT"/>
              </a:rPr>
              <a:t>historical</a:t>
            </a:r>
            <a:r>
              <a:rPr dirty="0" sz="2000" spc="-8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0">
                <a:solidFill>
                  <a:srgbClr val="2B3541"/>
                </a:solidFill>
                <a:latin typeface="Arial MT"/>
                <a:cs typeface="Arial MT"/>
              </a:rPr>
              <a:t>health</a:t>
            </a:r>
            <a:r>
              <a:rPr dirty="0" sz="2000" spc="-9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0">
                <a:solidFill>
                  <a:srgbClr val="2B3541"/>
                </a:solidFill>
                <a:latin typeface="Arial MT"/>
                <a:cs typeface="Arial MT"/>
              </a:rPr>
              <a:t>records</a:t>
            </a:r>
            <a:r>
              <a:rPr dirty="0" sz="2000" spc="-8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40">
                <a:solidFill>
                  <a:srgbClr val="2B3541"/>
                </a:solidFill>
                <a:latin typeface="Arial MT"/>
                <a:cs typeface="Arial MT"/>
              </a:rPr>
              <a:t>and</a:t>
            </a:r>
            <a:r>
              <a:rPr dirty="0" sz="2000" spc="-7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45">
                <a:solidFill>
                  <a:srgbClr val="2B3541"/>
                </a:solidFill>
                <a:latin typeface="Arial MT"/>
                <a:cs typeface="Arial MT"/>
              </a:rPr>
              <a:t>vital</a:t>
            </a:r>
            <a:r>
              <a:rPr dirty="0" sz="2000" spc="-8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0">
                <a:solidFill>
                  <a:srgbClr val="2B3541"/>
                </a:solidFill>
                <a:latin typeface="Arial MT"/>
                <a:cs typeface="Arial MT"/>
              </a:rPr>
              <a:t>trends,</a:t>
            </a:r>
            <a:r>
              <a:rPr dirty="0" sz="2000" spc="-9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60">
                <a:solidFill>
                  <a:srgbClr val="2B3541"/>
                </a:solidFill>
                <a:latin typeface="Arial MT"/>
                <a:cs typeface="Arial MT"/>
              </a:rPr>
              <a:t>Helix</a:t>
            </a:r>
            <a:r>
              <a:rPr dirty="0" sz="2000" spc="-7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35">
                <a:solidFill>
                  <a:srgbClr val="2B3541"/>
                </a:solidFill>
                <a:latin typeface="Arial MT"/>
                <a:cs typeface="Arial MT"/>
              </a:rPr>
              <a:t>AI</a:t>
            </a:r>
            <a:r>
              <a:rPr dirty="0" sz="2000" spc="-9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40">
                <a:solidFill>
                  <a:srgbClr val="2B3541"/>
                </a:solidFill>
                <a:latin typeface="Arial MT"/>
                <a:cs typeface="Arial MT"/>
              </a:rPr>
              <a:t>can</a:t>
            </a:r>
            <a:r>
              <a:rPr dirty="0" sz="2000" spc="-8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0">
                <a:solidFill>
                  <a:srgbClr val="2B3541"/>
                </a:solidFill>
                <a:latin typeface="Arial MT"/>
                <a:cs typeface="Arial MT"/>
              </a:rPr>
              <a:t>predict</a:t>
            </a:r>
            <a:r>
              <a:rPr dirty="0" sz="2000" spc="-8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2B3541"/>
                </a:solidFill>
                <a:latin typeface="Arial MT"/>
                <a:cs typeface="Arial MT"/>
              </a:rPr>
              <a:t>potential </a:t>
            </a:r>
            <a:r>
              <a:rPr dirty="0" sz="2000" spc="-45">
                <a:solidFill>
                  <a:srgbClr val="2B3541"/>
                </a:solidFill>
                <a:latin typeface="Arial MT"/>
                <a:cs typeface="Arial MT"/>
              </a:rPr>
              <a:t>health</a:t>
            </a:r>
            <a:r>
              <a:rPr dirty="0" sz="2000" spc="-7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5">
                <a:solidFill>
                  <a:srgbClr val="2B3541"/>
                </a:solidFill>
                <a:latin typeface="Arial MT"/>
                <a:cs typeface="Arial MT"/>
              </a:rPr>
              <a:t>risks</a:t>
            </a:r>
            <a:r>
              <a:rPr dirty="0" sz="2000" spc="-6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30">
                <a:solidFill>
                  <a:srgbClr val="2B3541"/>
                </a:solidFill>
                <a:latin typeface="Arial MT"/>
                <a:cs typeface="Arial MT"/>
              </a:rPr>
              <a:t>at</a:t>
            </a:r>
            <a:r>
              <a:rPr dirty="0" sz="2000" spc="-8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20">
                <a:solidFill>
                  <a:srgbClr val="2B3541"/>
                </a:solidFill>
                <a:latin typeface="Arial MT"/>
                <a:cs typeface="Arial MT"/>
              </a:rPr>
              <a:t>an</a:t>
            </a:r>
            <a:r>
              <a:rPr dirty="0" sz="2000" spc="-7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5">
                <a:solidFill>
                  <a:srgbClr val="2B3541"/>
                </a:solidFill>
                <a:latin typeface="Arial MT"/>
                <a:cs typeface="Arial MT"/>
              </a:rPr>
              <a:t>early</a:t>
            </a:r>
            <a:r>
              <a:rPr dirty="0" sz="2000" spc="-7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45">
                <a:solidFill>
                  <a:srgbClr val="2B3541"/>
                </a:solidFill>
                <a:latin typeface="Arial MT"/>
                <a:cs typeface="Arial MT"/>
              </a:rPr>
              <a:t>stage.</a:t>
            </a:r>
            <a:r>
              <a:rPr dirty="0" sz="2000" spc="-7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0">
                <a:solidFill>
                  <a:srgbClr val="2B3541"/>
                </a:solidFill>
                <a:latin typeface="Arial MT"/>
                <a:cs typeface="Arial MT"/>
              </a:rPr>
              <a:t>This</a:t>
            </a:r>
            <a:r>
              <a:rPr dirty="0" sz="2000" spc="-7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60">
                <a:solidFill>
                  <a:srgbClr val="2B3541"/>
                </a:solidFill>
                <a:latin typeface="Arial MT"/>
                <a:cs typeface="Arial MT"/>
              </a:rPr>
              <a:t>will</a:t>
            </a:r>
            <a:r>
              <a:rPr dirty="0" sz="2000" spc="-7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0">
                <a:solidFill>
                  <a:srgbClr val="2B3541"/>
                </a:solidFill>
                <a:latin typeface="Arial MT"/>
                <a:cs typeface="Arial MT"/>
              </a:rPr>
              <a:t>enable</a:t>
            </a:r>
            <a:r>
              <a:rPr dirty="0" sz="2000" spc="-7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5">
                <a:solidFill>
                  <a:srgbClr val="2B3541"/>
                </a:solidFill>
                <a:latin typeface="Arial MT"/>
                <a:cs typeface="Arial MT"/>
              </a:rPr>
              <a:t>proactive</a:t>
            </a:r>
            <a:r>
              <a:rPr dirty="0" sz="2000" spc="-7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5">
                <a:solidFill>
                  <a:srgbClr val="2B3541"/>
                </a:solidFill>
                <a:latin typeface="Arial MT"/>
                <a:cs typeface="Arial MT"/>
              </a:rPr>
              <a:t>healthcare,</a:t>
            </a:r>
            <a:r>
              <a:rPr dirty="0" sz="2000" spc="-7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5">
                <a:solidFill>
                  <a:srgbClr val="2B3541"/>
                </a:solidFill>
                <a:latin typeface="Arial MT"/>
                <a:cs typeface="Arial MT"/>
              </a:rPr>
              <a:t>early</a:t>
            </a:r>
            <a:r>
              <a:rPr dirty="0" sz="2000" spc="-6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5">
                <a:solidFill>
                  <a:srgbClr val="2B3541"/>
                </a:solidFill>
                <a:latin typeface="Arial MT"/>
                <a:cs typeface="Arial MT"/>
              </a:rPr>
              <a:t>intervention,</a:t>
            </a:r>
            <a:r>
              <a:rPr dirty="0" sz="2000" spc="-9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40">
                <a:solidFill>
                  <a:srgbClr val="2B3541"/>
                </a:solidFill>
                <a:latin typeface="Arial MT"/>
                <a:cs typeface="Arial MT"/>
              </a:rPr>
              <a:t>and</a:t>
            </a:r>
            <a:r>
              <a:rPr dirty="0" sz="2000" spc="-7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2B3541"/>
                </a:solidFill>
                <a:latin typeface="Arial MT"/>
                <a:cs typeface="Arial MT"/>
              </a:rPr>
              <a:t>personalized </a:t>
            </a:r>
            <a:r>
              <a:rPr dirty="0" sz="2000" spc="-55">
                <a:solidFill>
                  <a:srgbClr val="2B3541"/>
                </a:solidFill>
                <a:latin typeface="Arial MT"/>
                <a:cs typeface="Arial MT"/>
              </a:rPr>
              <a:t>preventive</a:t>
            </a:r>
            <a:r>
              <a:rPr dirty="0" sz="2000" spc="-4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2B3541"/>
                </a:solidFill>
                <a:latin typeface="Arial MT"/>
                <a:cs typeface="Arial MT"/>
              </a:rPr>
              <a:t>recommendations.</a:t>
            </a:r>
            <a:endParaRPr sz="2000">
              <a:latin typeface="Arial MT"/>
              <a:cs typeface="Arial MT"/>
            </a:endParaRPr>
          </a:p>
          <a:p>
            <a:pPr marL="274320" indent="-261620">
              <a:lnSpc>
                <a:spcPts val="2255"/>
              </a:lnSpc>
              <a:buAutoNum type="arabicPeriod" startAt="4"/>
              <a:tabLst>
                <a:tab pos="274320" algn="l"/>
              </a:tabLst>
            </a:pPr>
            <a:r>
              <a:rPr dirty="0" sz="2000" spc="-55" b="1">
                <a:solidFill>
                  <a:srgbClr val="2B3541"/>
                </a:solidFill>
                <a:latin typeface="Arial"/>
                <a:cs typeface="Arial"/>
              </a:rPr>
              <a:t>Doctor</a:t>
            </a:r>
            <a:r>
              <a:rPr dirty="0" sz="2000" spc="-100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B3541"/>
                </a:solidFill>
                <a:latin typeface="Arial"/>
                <a:cs typeface="Arial"/>
              </a:rPr>
              <a:t>&amp;</a:t>
            </a:r>
            <a:r>
              <a:rPr dirty="0" sz="2000" spc="-80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 spc="-55" b="1">
                <a:solidFill>
                  <a:srgbClr val="2B3541"/>
                </a:solidFill>
                <a:latin typeface="Arial"/>
                <a:cs typeface="Arial"/>
              </a:rPr>
              <a:t>Hospital</a:t>
            </a:r>
            <a:r>
              <a:rPr dirty="0" sz="2000" spc="-90" b="1">
                <a:solidFill>
                  <a:srgbClr val="2B3541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B3541"/>
                </a:solidFill>
                <a:latin typeface="Arial"/>
                <a:cs typeface="Arial"/>
              </a:rPr>
              <a:t>Integration</a:t>
            </a:r>
            <a:endParaRPr sz="2000">
              <a:latin typeface="Arial"/>
              <a:cs typeface="Arial"/>
            </a:endParaRPr>
          </a:p>
          <a:p>
            <a:pPr marL="12700" marR="36195">
              <a:lnSpc>
                <a:spcPts val="2300"/>
              </a:lnSpc>
              <a:spcBef>
                <a:spcPts val="105"/>
              </a:spcBef>
            </a:pPr>
            <a:r>
              <a:rPr dirty="0" sz="2000" spc="-45">
                <a:solidFill>
                  <a:srgbClr val="2B3541"/>
                </a:solidFill>
                <a:latin typeface="Arial MT"/>
                <a:cs typeface="Arial MT"/>
              </a:rPr>
              <a:t>Future</a:t>
            </a:r>
            <a:r>
              <a:rPr dirty="0" sz="2000" spc="-9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5">
                <a:solidFill>
                  <a:srgbClr val="2B3541"/>
                </a:solidFill>
                <a:latin typeface="Arial MT"/>
                <a:cs typeface="Arial MT"/>
              </a:rPr>
              <a:t>versions</a:t>
            </a:r>
            <a:r>
              <a:rPr dirty="0" sz="2000" spc="-8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35">
                <a:solidFill>
                  <a:srgbClr val="2B3541"/>
                </a:solidFill>
                <a:latin typeface="Arial MT"/>
                <a:cs typeface="Arial MT"/>
              </a:rPr>
              <a:t>can</a:t>
            </a:r>
            <a:r>
              <a:rPr dirty="0" sz="2000" spc="-8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5">
                <a:solidFill>
                  <a:srgbClr val="2B3541"/>
                </a:solidFill>
                <a:latin typeface="Arial MT"/>
                <a:cs typeface="Arial MT"/>
              </a:rPr>
              <a:t>integrate</a:t>
            </a:r>
            <a:r>
              <a:rPr dirty="0" sz="2000" spc="-7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45">
                <a:solidFill>
                  <a:srgbClr val="2B3541"/>
                </a:solidFill>
                <a:latin typeface="Arial MT"/>
                <a:cs typeface="Arial MT"/>
              </a:rPr>
              <a:t>with</a:t>
            </a:r>
            <a:r>
              <a:rPr dirty="0" sz="2000" spc="-8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5">
                <a:solidFill>
                  <a:srgbClr val="2B3541"/>
                </a:solidFill>
                <a:latin typeface="Arial MT"/>
                <a:cs typeface="Arial MT"/>
              </a:rPr>
              <a:t>hospitals,</a:t>
            </a:r>
            <a:r>
              <a:rPr dirty="0" sz="2000" spc="-8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5">
                <a:solidFill>
                  <a:srgbClr val="2B3541"/>
                </a:solidFill>
                <a:latin typeface="Arial MT"/>
                <a:cs typeface="Arial MT"/>
              </a:rPr>
              <a:t>Electronic</a:t>
            </a:r>
            <a:r>
              <a:rPr dirty="0" sz="2000" spc="-8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0">
                <a:solidFill>
                  <a:srgbClr val="2B3541"/>
                </a:solidFill>
                <a:latin typeface="Arial MT"/>
                <a:cs typeface="Arial MT"/>
              </a:rPr>
              <a:t>Health</a:t>
            </a:r>
            <a:r>
              <a:rPr dirty="0" sz="2000" spc="-9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0">
                <a:solidFill>
                  <a:srgbClr val="2B3541"/>
                </a:solidFill>
                <a:latin typeface="Arial MT"/>
                <a:cs typeface="Arial MT"/>
              </a:rPr>
              <a:t>Records</a:t>
            </a:r>
            <a:r>
              <a:rPr dirty="0" sz="2000" spc="-8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0">
                <a:solidFill>
                  <a:srgbClr val="2B3541"/>
                </a:solidFill>
                <a:latin typeface="Arial MT"/>
                <a:cs typeface="Arial MT"/>
              </a:rPr>
              <a:t>(EHR),</a:t>
            </a:r>
            <a:r>
              <a:rPr dirty="0" sz="2000" spc="-9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40">
                <a:solidFill>
                  <a:srgbClr val="2B3541"/>
                </a:solidFill>
                <a:latin typeface="Arial MT"/>
                <a:cs typeface="Arial MT"/>
              </a:rPr>
              <a:t>and</a:t>
            </a:r>
            <a:r>
              <a:rPr dirty="0" sz="2000" spc="-7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2B3541"/>
                </a:solidFill>
                <a:latin typeface="Arial MT"/>
                <a:cs typeface="Arial MT"/>
              </a:rPr>
              <a:t>telemedicine </a:t>
            </a:r>
            <a:r>
              <a:rPr dirty="0" sz="2000" spc="-50">
                <a:solidFill>
                  <a:srgbClr val="2B3541"/>
                </a:solidFill>
                <a:latin typeface="Arial MT"/>
                <a:cs typeface="Arial MT"/>
              </a:rPr>
              <a:t>platforms,</a:t>
            </a:r>
            <a:r>
              <a:rPr dirty="0" sz="2000" spc="-8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5">
                <a:solidFill>
                  <a:srgbClr val="2B3541"/>
                </a:solidFill>
                <a:latin typeface="Arial MT"/>
                <a:cs typeface="Arial MT"/>
              </a:rPr>
              <a:t>enabling</a:t>
            </a:r>
            <a:r>
              <a:rPr dirty="0" sz="2000" spc="-7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45">
                <a:solidFill>
                  <a:srgbClr val="2B3541"/>
                </a:solidFill>
                <a:latin typeface="Arial MT"/>
                <a:cs typeface="Arial MT"/>
              </a:rPr>
              <a:t>secure</a:t>
            </a:r>
            <a:r>
              <a:rPr dirty="0" sz="2000" spc="-7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0">
                <a:solidFill>
                  <a:srgbClr val="2B3541"/>
                </a:solidFill>
                <a:latin typeface="Arial MT"/>
                <a:cs typeface="Arial MT"/>
              </a:rPr>
              <a:t>sharing</a:t>
            </a:r>
            <a:r>
              <a:rPr dirty="0" sz="2000" spc="-7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20">
                <a:solidFill>
                  <a:srgbClr val="2B3541"/>
                </a:solidFill>
                <a:latin typeface="Arial MT"/>
                <a:cs typeface="Arial MT"/>
              </a:rPr>
              <a:t>of</a:t>
            </a:r>
            <a:r>
              <a:rPr dirty="0" sz="2000" spc="-8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65">
                <a:solidFill>
                  <a:srgbClr val="2B3541"/>
                </a:solidFill>
                <a:latin typeface="Arial MT"/>
                <a:cs typeface="Arial MT"/>
              </a:rPr>
              <a:t>AI-</a:t>
            </a:r>
            <a:r>
              <a:rPr dirty="0" sz="2000" spc="-50">
                <a:solidFill>
                  <a:srgbClr val="2B3541"/>
                </a:solidFill>
                <a:latin typeface="Arial MT"/>
                <a:cs typeface="Arial MT"/>
              </a:rPr>
              <a:t>generated</a:t>
            </a:r>
            <a:r>
              <a:rPr dirty="0" sz="2000" spc="-7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0">
                <a:solidFill>
                  <a:srgbClr val="2B3541"/>
                </a:solidFill>
                <a:latin typeface="Arial MT"/>
                <a:cs typeface="Arial MT"/>
              </a:rPr>
              <a:t>health</a:t>
            </a:r>
            <a:r>
              <a:rPr dirty="0" sz="2000" spc="-7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5">
                <a:solidFill>
                  <a:srgbClr val="2B3541"/>
                </a:solidFill>
                <a:latin typeface="Arial MT"/>
                <a:cs typeface="Arial MT"/>
              </a:rPr>
              <a:t>reports</a:t>
            </a:r>
            <a:r>
              <a:rPr dirty="0" sz="2000" spc="-6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45">
                <a:solidFill>
                  <a:srgbClr val="2B3541"/>
                </a:solidFill>
                <a:latin typeface="Arial MT"/>
                <a:cs typeface="Arial MT"/>
              </a:rPr>
              <a:t>with</a:t>
            </a:r>
            <a:r>
              <a:rPr dirty="0" sz="2000" spc="-8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5">
                <a:solidFill>
                  <a:srgbClr val="2B3541"/>
                </a:solidFill>
                <a:latin typeface="Arial MT"/>
                <a:cs typeface="Arial MT"/>
              </a:rPr>
              <a:t>healthcare</a:t>
            </a:r>
            <a:r>
              <a:rPr dirty="0" sz="2000" spc="-8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5">
                <a:solidFill>
                  <a:srgbClr val="2B3541"/>
                </a:solidFill>
                <a:latin typeface="Arial MT"/>
                <a:cs typeface="Arial MT"/>
              </a:rPr>
              <a:t>professionals</a:t>
            </a:r>
            <a:r>
              <a:rPr dirty="0" sz="2000" spc="-6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45">
                <a:solidFill>
                  <a:srgbClr val="2B3541"/>
                </a:solidFill>
                <a:latin typeface="Arial MT"/>
                <a:cs typeface="Arial MT"/>
              </a:rPr>
              <a:t>for</a:t>
            </a:r>
            <a:r>
              <a:rPr dirty="0" sz="2000" spc="-8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2B3541"/>
                </a:solidFill>
                <a:latin typeface="Arial MT"/>
                <a:cs typeface="Arial MT"/>
              </a:rPr>
              <a:t>better </a:t>
            </a:r>
            <a:r>
              <a:rPr dirty="0" sz="2000" spc="-55">
                <a:solidFill>
                  <a:srgbClr val="2B3541"/>
                </a:solidFill>
                <a:latin typeface="Arial MT"/>
                <a:cs typeface="Arial MT"/>
              </a:rPr>
              <a:t>diagnosis,</a:t>
            </a:r>
            <a:r>
              <a:rPr dirty="0" sz="2000" spc="-8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5">
                <a:solidFill>
                  <a:srgbClr val="2B3541"/>
                </a:solidFill>
                <a:latin typeface="Arial MT"/>
                <a:cs typeface="Arial MT"/>
              </a:rPr>
              <a:t>continuous</a:t>
            </a:r>
            <a:r>
              <a:rPr dirty="0" sz="2000" spc="-50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5">
                <a:solidFill>
                  <a:srgbClr val="2B3541"/>
                </a:solidFill>
                <a:latin typeface="Arial MT"/>
                <a:cs typeface="Arial MT"/>
              </a:rPr>
              <a:t>monitoring,</a:t>
            </a:r>
            <a:r>
              <a:rPr dirty="0" sz="2000" spc="-6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45">
                <a:solidFill>
                  <a:srgbClr val="2B3541"/>
                </a:solidFill>
                <a:latin typeface="Arial MT"/>
                <a:cs typeface="Arial MT"/>
              </a:rPr>
              <a:t>and</a:t>
            </a:r>
            <a:r>
              <a:rPr dirty="0" sz="2000" spc="-6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55">
                <a:solidFill>
                  <a:srgbClr val="2B3541"/>
                </a:solidFill>
                <a:latin typeface="Arial MT"/>
                <a:cs typeface="Arial MT"/>
              </a:rPr>
              <a:t>collaborative </a:t>
            </a:r>
            <a:r>
              <a:rPr dirty="0" sz="2000" spc="-50">
                <a:solidFill>
                  <a:srgbClr val="2B3541"/>
                </a:solidFill>
                <a:latin typeface="Arial MT"/>
                <a:cs typeface="Arial MT"/>
              </a:rPr>
              <a:t>patient</a:t>
            </a:r>
            <a:r>
              <a:rPr dirty="0" sz="2000" spc="-65">
                <a:solidFill>
                  <a:srgbClr val="2B3541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2B3541"/>
                </a:solidFill>
                <a:latin typeface="Arial MT"/>
                <a:cs typeface="Arial MT"/>
              </a:rPr>
              <a:t>care.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901700" y="229616"/>
            <a:ext cx="336613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latin typeface="Arial"/>
                <a:cs typeface="Arial"/>
              </a:rPr>
              <a:t>Certificates</a:t>
            </a:r>
            <a:r>
              <a:rPr dirty="0" sz="2800" spc="-105" b="1">
                <a:latin typeface="Arial"/>
                <a:cs typeface="Arial"/>
              </a:rPr>
              <a:t> </a:t>
            </a:r>
            <a:r>
              <a:rPr dirty="0" sz="2800" spc="-10" b="1">
                <a:latin typeface="Arial"/>
                <a:cs typeface="Arial"/>
              </a:rPr>
              <a:t>Earned: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15644" y="776986"/>
            <a:ext cx="2771775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b="1">
                <a:latin typeface="Arial"/>
                <a:cs typeface="Arial"/>
              </a:rPr>
              <a:t>Credly</a:t>
            </a:r>
            <a:r>
              <a:rPr dirty="0" sz="2600" spc="135" b="1">
                <a:latin typeface="Arial"/>
                <a:cs typeface="Arial"/>
              </a:rPr>
              <a:t> </a:t>
            </a:r>
            <a:r>
              <a:rPr dirty="0" sz="2600" spc="-10" b="1">
                <a:latin typeface="Arial"/>
                <a:cs typeface="Arial"/>
              </a:rPr>
              <a:t>Certificate</a:t>
            </a:r>
            <a:endParaRPr sz="26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9601" y="1736620"/>
            <a:ext cx="6523990" cy="505840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5812" y="6133639"/>
            <a:ext cx="2103744" cy="6764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711895" y="1098099"/>
            <a:ext cx="423545" cy="990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50">
                <a:latin typeface="Arial MT"/>
                <a:cs typeface="Arial MT"/>
              </a:rPr>
              <a:t>''2b.</a:t>
            </a:r>
            <a:r>
              <a:rPr dirty="0" sz="450" spc="90">
                <a:latin typeface="Arial MT"/>
                <a:cs typeface="Arial MT"/>
              </a:rPr>
              <a:t> </a:t>
            </a:r>
            <a:r>
              <a:rPr dirty="0" sz="450">
                <a:latin typeface="Arial MT"/>
                <a:cs typeface="Arial MT"/>
              </a:rPr>
              <a:t>b.4ñ'</a:t>
            </a:r>
            <a:r>
              <a:rPr dirty="0" sz="450" spc="95">
                <a:latin typeface="Arial MT"/>
                <a:cs typeface="Arial MT"/>
              </a:rPr>
              <a:t> </a:t>
            </a:r>
            <a:r>
              <a:rPr dirty="0" sz="450" spc="-25">
                <a:latin typeface="Arial MT"/>
                <a:cs typeface="Arial MT"/>
              </a:rPr>
              <a:t>Ah1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08190" y="1098099"/>
            <a:ext cx="1089025" cy="990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50">
                <a:latin typeface="Arial MT"/>
                <a:cs typeface="Arial MT"/>
              </a:rPr>
              <a:t>C</a:t>
            </a:r>
            <a:r>
              <a:rPr dirty="0" sz="450" spc="-50">
                <a:latin typeface="Arial MT"/>
                <a:cs typeface="Arial MT"/>
              </a:rPr>
              <a:t> </a:t>
            </a:r>
            <a:r>
              <a:rPr dirty="0" sz="450">
                <a:latin typeface="Arial MT"/>
                <a:cs typeface="Arial MT"/>
              </a:rPr>
              <a:t>u</a:t>
            </a:r>
            <a:r>
              <a:rPr dirty="0" sz="450" spc="-75">
                <a:latin typeface="Arial MT"/>
                <a:cs typeface="Arial MT"/>
              </a:rPr>
              <a:t> </a:t>
            </a:r>
            <a:r>
              <a:rPr dirty="0" sz="450" spc="50">
                <a:solidFill>
                  <a:srgbClr val="343434"/>
                </a:solidFill>
                <a:latin typeface="Arial MT"/>
                <a:cs typeface="Arial MT"/>
              </a:rPr>
              <a:t>mp</a:t>
            </a:r>
            <a:r>
              <a:rPr dirty="0" sz="450" spc="25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dirty="0" sz="450">
                <a:latin typeface="Arial MT"/>
                <a:cs typeface="Arial MT"/>
              </a:rPr>
              <a:t>+fiori </a:t>
            </a:r>
            <a:r>
              <a:rPr dirty="0" sz="450">
                <a:solidFill>
                  <a:srgbClr val="343434"/>
                </a:solidFill>
                <a:latin typeface="Arial MT"/>
                <a:cs typeface="Arial MT"/>
              </a:rPr>
              <a:t>L</a:t>
            </a:r>
            <a:r>
              <a:rPr dirty="0" sz="450" spc="14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dirty="0" sz="450">
                <a:latin typeface="Arial MT"/>
                <a:cs typeface="Arial MT"/>
              </a:rPr>
              <a:t>er</a:t>
            </a:r>
            <a:r>
              <a:rPr dirty="0" sz="450" spc="-55">
                <a:latin typeface="Arial MT"/>
                <a:cs typeface="Arial MT"/>
              </a:rPr>
              <a:t> </a:t>
            </a:r>
            <a:r>
              <a:rPr dirty="0" sz="450">
                <a:latin typeface="Arial MT"/>
                <a:cs typeface="Arial MT"/>
              </a:rPr>
              <a:t>ti'i</a:t>
            </a:r>
            <a:r>
              <a:rPr dirty="0" sz="450" spc="245">
                <a:latin typeface="Arial MT"/>
                <a:cs typeface="Arial MT"/>
              </a:rPr>
              <a:t> </a:t>
            </a:r>
            <a:r>
              <a:rPr dirty="0" sz="450">
                <a:latin typeface="Arial MT"/>
                <a:cs typeface="Arial MT"/>
              </a:rPr>
              <a:t>oie</a:t>
            </a:r>
            <a:r>
              <a:rPr dirty="0" sz="450" spc="245">
                <a:latin typeface="Arial MT"/>
                <a:cs typeface="Arial MT"/>
              </a:rPr>
              <a:t>  </a:t>
            </a:r>
            <a:r>
              <a:rPr dirty="0" sz="450">
                <a:latin typeface="Arial MT"/>
                <a:cs typeface="Arial MT"/>
              </a:rPr>
              <a:t>Sk</a:t>
            </a:r>
            <a:r>
              <a:rPr dirty="0" sz="450" spc="25">
                <a:latin typeface="Arial MT"/>
                <a:cs typeface="Arial MT"/>
              </a:rPr>
              <a:t> </a:t>
            </a:r>
            <a:r>
              <a:rPr dirty="0" sz="450" spc="-10">
                <a:latin typeface="Arial MT"/>
                <a:cs typeface="Arial MT"/>
              </a:rPr>
              <a:t>IISB</a:t>
            </a:r>
            <a:r>
              <a:rPr dirty="0" sz="450" spc="-50">
                <a:latin typeface="Arial MT"/>
                <a:cs typeface="Arial MT"/>
              </a:rPr>
              <a:t> </a:t>
            </a:r>
            <a:r>
              <a:rPr dirty="0" sz="450">
                <a:latin typeface="Arial MT"/>
                <a:cs typeface="Arial MT"/>
              </a:rPr>
              <a:t>.ii</a:t>
            </a:r>
            <a:r>
              <a:rPr dirty="0" sz="450" spc="175">
                <a:latin typeface="Arial MT"/>
                <a:cs typeface="Arial MT"/>
              </a:rPr>
              <a:t> </a:t>
            </a:r>
            <a:r>
              <a:rPr dirty="0" sz="450" spc="-50">
                <a:latin typeface="Arial MT"/>
                <a:cs typeface="Arial MT"/>
              </a:rPr>
              <a:t>J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73454" y="1357406"/>
            <a:ext cx="1437005" cy="2749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00">
                <a:latin typeface="Arial MT"/>
                <a:cs typeface="Arial MT"/>
              </a:rPr>
              <a:t>IBM</a:t>
            </a:r>
            <a:r>
              <a:rPr dirty="0" sz="1600" spc="3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SkitlsBuitd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06515" y="1357406"/>
            <a:ext cx="1991360" cy="2749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00" spc="-10">
                <a:latin typeface="Arial MT"/>
                <a:cs typeface="Arial MT"/>
              </a:rPr>
              <a:t>Completion</a:t>
            </a:r>
            <a:r>
              <a:rPr dirty="0" sz="1600" spc="-7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Certificate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79600" y="2182864"/>
            <a:ext cx="1994535" cy="2012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>
                <a:latin typeface="Arial MT"/>
                <a:cs typeface="Arial MT"/>
              </a:rPr>
              <a:t>This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certiñcate</a:t>
            </a:r>
            <a:r>
              <a:rPr dirty="0" sz="1150" spc="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is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presented</a:t>
            </a:r>
            <a:r>
              <a:rPr dirty="0" sz="1150" spc="50">
                <a:latin typeface="Arial MT"/>
                <a:cs typeface="Arial MT"/>
              </a:rPr>
              <a:t> </a:t>
            </a:r>
            <a:r>
              <a:rPr dirty="0" sz="1150" spc="-25">
                <a:latin typeface="Arial MT"/>
                <a:cs typeface="Arial MT"/>
              </a:rPr>
              <a:t>to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85819" y="2468760"/>
            <a:ext cx="1772285" cy="29654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50">
                <a:latin typeface="Calibri"/>
                <a:cs typeface="Calibri"/>
              </a:rPr>
              <a:t>Pranathi</a:t>
            </a:r>
            <a:r>
              <a:rPr dirty="0" sz="1750" spc="434">
                <a:latin typeface="Calibri"/>
                <a:cs typeface="Calibri"/>
              </a:rPr>
              <a:t> </a:t>
            </a:r>
            <a:r>
              <a:rPr dirty="0" sz="1750" spc="-10">
                <a:latin typeface="Calibri"/>
                <a:cs typeface="Calibri"/>
              </a:rPr>
              <a:t>Korupolu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86178" y="3038893"/>
            <a:ext cx="5190490" cy="132651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algn="ctr" marR="4445">
              <a:lnSpc>
                <a:spcPct val="100000"/>
              </a:lnSpc>
              <a:spcBef>
                <a:spcPts val="185"/>
              </a:spcBef>
            </a:pP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completion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25">
                <a:latin typeface="Arial MT"/>
                <a:cs typeface="Arial MT"/>
              </a:rPr>
              <a:t>of</a:t>
            </a:r>
            <a:endParaRPr sz="1200">
              <a:latin typeface="Arial MT"/>
              <a:cs typeface="Arial MT"/>
            </a:endParaRPr>
          </a:p>
          <a:p>
            <a:pPr algn="ctr" marL="12700" marR="5080">
              <a:lnSpc>
                <a:spcPct val="100000"/>
              </a:lnSpc>
              <a:spcBef>
                <a:spcPts val="160"/>
              </a:spcBef>
            </a:pPr>
            <a:r>
              <a:rPr dirty="0" sz="2050" spc="60">
                <a:latin typeface="Arial MT"/>
                <a:cs typeface="Arial MT"/>
              </a:rPr>
              <a:t>Getting</a:t>
            </a:r>
            <a:r>
              <a:rPr dirty="0" sz="2050" spc="-25">
                <a:latin typeface="Arial MT"/>
                <a:cs typeface="Arial MT"/>
              </a:rPr>
              <a:t> </a:t>
            </a:r>
            <a:r>
              <a:rPr dirty="0" sz="2050" spc="60">
                <a:latin typeface="Arial MT"/>
                <a:cs typeface="Arial MT"/>
              </a:rPr>
              <a:t>Started</a:t>
            </a:r>
            <a:r>
              <a:rPr dirty="0" sz="2050" spc="120">
                <a:latin typeface="Arial MT"/>
                <a:cs typeface="Arial MT"/>
              </a:rPr>
              <a:t> </a:t>
            </a:r>
            <a:r>
              <a:rPr dirty="0" sz="2050" spc="150">
                <a:latin typeface="Arial MT"/>
                <a:cs typeface="Arial MT"/>
              </a:rPr>
              <a:t>with</a:t>
            </a:r>
            <a:r>
              <a:rPr dirty="0" sz="2050" spc="15">
                <a:latin typeface="Arial MT"/>
                <a:cs typeface="Arial MT"/>
              </a:rPr>
              <a:t> </a:t>
            </a:r>
            <a:r>
              <a:rPr dirty="0" sz="2050">
                <a:latin typeface="Arial MT"/>
                <a:cs typeface="Arial MT"/>
              </a:rPr>
              <a:t>Cybersecurity</a:t>
            </a:r>
            <a:r>
              <a:rPr dirty="0" sz="2050" spc="190">
                <a:latin typeface="Arial MT"/>
                <a:cs typeface="Arial MT"/>
              </a:rPr>
              <a:t> </a:t>
            </a:r>
            <a:r>
              <a:rPr dirty="0" sz="2050">
                <a:latin typeface="Arial MT"/>
                <a:cs typeface="Arial MT"/>
              </a:rPr>
              <a:t>(Earn</a:t>
            </a:r>
            <a:r>
              <a:rPr dirty="0" sz="2050" spc="80">
                <a:latin typeface="Arial MT"/>
                <a:cs typeface="Arial MT"/>
              </a:rPr>
              <a:t> </a:t>
            </a:r>
            <a:r>
              <a:rPr dirty="0" sz="2050" spc="25">
                <a:latin typeface="Arial MT"/>
                <a:cs typeface="Arial MT"/>
              </a:rPr>
              <a:t>a </a:t>
            </a:r>
            <a:r>
              <a:rPr dirty="0" sz="2050" spc="40">
                <a:latin typeface="Arial MT"/>
                <a:cs typeface="Arial MT"/>
              </a:rPr>
              <a:t>credential!)</a:t>
            </a:r>
            <a:endParaRPr sz="2050">
              <a:latin typeface="Arial MT"/>
              <a:cs typeface="Arial MT"/>
            </a:endParaRPr>
          </a:p>
          <a:p>
            <a:pPr algn="ctr" marR="1905">
              <a:lnSpc>
                <a:spcPct val="100000"/>
              </a:lnSpc>
              <a:spcBef>
                <a:spcPts val="505"/>
              </a:spcBef>
            </a:pPr>
            <a:r>
              <a:rPr dirty="0" sz="1100" spc="-114">
                <a:latin typeface="Arial MT"/>
                <a:cs typeface="Arial MT"/>
              </a:rPr>
              <a:t>(PLAN—</a:t>
            </a:r>
            <a:r>
              <a:rPr dirty="0" sz="1100" spc="-110">
                <a:latin typeface="Arial MT"/>
                <a:cs typeface="Arial MT"/>
              </a:rPr>
              <a:t>C7</a:t>
            </a:r>
            <a:r>
              <a:rPr dirty="0" sz="1100" spc="-80">
                <a:latin typeface="Arial MT"/>
                <a:cs typeface="Arial MT"/>
              </a:rPr>
              <a:t> </a:t>
            </a:r>
            <a:r>
              <a:rPr dirty="0" sz="1100" spc="-145">
                <a:latin typeface="Arial MT"/>
                <a:cs typeface="Arial MT"/>
              </a:rPr>
              <a:t>EE</a:t>
            </a:r>
            <a:r>
              <a:rPr dirty="0" sz="1100" spc="-10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7CC953</a:t>
            </a:r>
            <a:r>
              <a:rPr dirty="0" sz="1100" spc="-6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70)</a:t>
            </a:r>
            <a:endParaRPr sz="11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970"/>
              </a:spcBef>
            </a:pPr>
            <a:r>
              <a:rPr dirty="0" sz="700">
                <a:latin typeface="Arial MT"/>
                <a:cs typeface="Arial MT"/>
              </a:rPr>
              <a:t>/\ccord</a:t>
            </a:r>
            <a:r>
              <a:rPr dirty="0" sz="700" spc="-5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ink</a:t>
            </a:r>
            <a:r>
              <a:rPr dirty="0" sz="700" spc="90"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707070"/>
                </a:solidFill>
                <a:latin typeface="Arial MT"/>
                <a:cs typeface="Arial MT"/>
              </a:rPr>
              <a:t>to</a:t>
            </a:r>
            <a:r>
              <a:rPr dirty="0" sz="700" spc="80">
                <a:solidFill>
                  <a:srgbClr val="707070"/>
                </a:solidFill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the</a:t>
            </a:r>
            <a:r>
              <a:rPr dirty="0" sz="700" spc="14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Your</a:t>
            </a:r>
            <a:r>
              <a:rPr dirty="0" sz="700" spc="15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Leai</a:t>
            </a:r>
            <a:r>
              <a:rPr dirty="0" sz="700" spc="5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ni</a:t>
            </a:r>
            <a:r>
              <a:rPr dirty="0" sz="700" spc="-10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ng</a:t>
            </a:r>
            <a:r>
              <a:rPr dirty="0" sz="700" spc="70"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4B4B4B"/>
                </a:solidFill>
                <a:latin typeface="Arial MT"/>
                <a:cs typeface="Arial MT"/>
              </a:rPr>
              <a:t>8</a:t>
            </a:r>
            <a:r>
              <a:rPr dirty="0" sz="700" spc="-5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707070"/>
                </a:solidFill>
                <a:latin typeface="Arial MT"/>
                <a:cs typeface="Arial MT"/>
              </a:rPr>
              <a:t>J</a:t>
            </a:r>
            <a:r>
              <a:rPr dirty="0" sz="700">
                <a:solidFill>
                  <a:srgbClr val="333333"/>
                </a:solidFill>
                <a:latin typeface="Arial MT"/>
                <a:cs typeface="Arial MT"/>
              </a:rPr>
              <a:t>ilder</a:t>
            </a:r>
            <a:r>
              <a:rPr dirty="0" sz="700" spc="13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700" spc="-434">
                <a:latin typeface="Arial MT"/>
                <a:cs typeface="Arial MT"/>
              </a:rPr>
              <a:t>—</a:t>
            </a:r>
            <a:r>
              <a:rPr dirty="0" sz="700" spc="90"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4B4B4B"/>
                </a:solidFill>
                <a:latin typeface="Arial MT"/>
                <a:cs typeface="Arial MT"/>
              </a:rPr>
              <a:t>Plans</a:t>
            </a:r>
            <a:r>
              <a:rPr dirty="0" sz="700" spc="14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system</a:t>
            </a:r>
            <a:r>
              <a:rPr dirty="0" sz="700" spc="114"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707070"/>
                </a:solidFill>
                <a:latin typeface="Arial MT"/>
                <a:cs typeface="Arial MT"/>
              </a:rPr>
              <a:t>of</a:t>
            </a:r>
            <a:r>
              <a:rPr dirty="0" sz="700" spc="150">
                <a:solidFill>
                  <a:srgbClr val="707070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record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93500" y="4926627"/>
            <a:ext cx="1912620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>
                <a:latin typeface="Arial MT"/>
                <a:cs typeface="Arial MT"/>
              </a:rPr>
              <a:t>Complatlon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data: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023ul</a:t>
            </a:r>
            <a:r>
              <a:rPr dirty="0" sz="950" spc="-45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2026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-35">
                <a:latin typeface="Arial MT"/>
                <a:cs typeface="Arial MT"/>
              </a:rPr>
              <a:t>(GNTJ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25929" y="6110604"/>
            <a:ext cx="113030" cy="990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50" spc="-20">
                <a:latin typeface="Arial MT"/>
                <a:cs typeface="Arial MT"/>
              </a:rPr>
              <a:t>1.''1</a:t>
            </a:r>
            <a:endParaRPr sz="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2369" y="4868747"/>
            <a:ext cx="6641434" cy="47141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22369" y="1215290"/>
            <a:ext cx="6641434" cy="62392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98821" y="2262106"/>
            <a:ext cx="637799" cy="9081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37279" y="6234460"/>
            <a:ext cx="2197634" cy="6932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824012" y="2210795"/>
            <a:ext cx="2028189" cy="2133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1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certificate</a:t>
            </a:r>
            <a:r>
              <a:rPr dirty="0" sz="1200" spc="2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1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presented</a:t>
            </a:r>
            <a:r>
              <a:rPr dirty="0" sz="1200" spc="26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4929446" y="2494068"/>
            <a:ext cx="1804035" cy="31877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900" spc="-10" b="0">
                <a:latin typeface="Calibri"/>
                <a:cs typeface="Calibri"/>
              </a:rPr>
              <a:t>Pranathi</a:t>
            </a:r>
            <a:r>
              <a:rPr dirty="0" sz="1900" spc="-5" b="0">
                <a:latin typeface="Calibri"/>
                <a:cs typeface="Calibri"/>
              </a:rPr>
              <a:t> </a:t>
            </a:r>
            <a:r>
              <a:rPr dirty="0" sz="1900" spc="-10" b="0">
                <a:latin typeface="Calibri"/>
                <a:cs typeface="Calibri"/>
              </a:rPr>
              <a:t>Korupolu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05956" y="3088438"/>
            <a:ext cx="5213985" cy="104266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L="46355">
              <a:lnSpc>
                <a:spcPts val="1495"/>
              </a:lnSpc>
              <a:spcBef>
                <a:spcPts val="130"/>
              </a:spcBef>
            </a:pPr>
            <a:r>
              <a:rPr dirty="0" sz="1250" spc="-20">
                <a:latin typeface="Calibri"/>
                <a:cs typeface="Calibri"/>
              </a:rPr>
              <a:t>for</a:t>
            </a:r>
            <a:r>
              <a:rPr dirty="0" sz="1250" spc="-5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the</a:t>
            </a:r>
            <a:r>
              <a:rPr dirty="0" sz="1250" spc="-1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completion</a:t>
            </a:r>
            <a:r>
              <a:rPr dirty="0" sz="1250" spc="110">
                <a:latin typeface="Calibri"/>
                <a:cs typeface="Calibri"/>
              </a:rPr>
              <a:t> </a:t>
            </a:r>
            <a:r>
              <a:rPr dirty="0" sz="1250" spc="-25">
                <a:latin typeface="Calibri"/>
                <a:cs typeface="Calibri"/>
              </a:rPr>
              <a:t>of</a:t>
            </a:r>
            <a:endParaRPr sz="1250">
              <a:latin typeface="Calibri"/>
              <a:cs typeface="Calibri"/>
            </a:endParaRPr>
          </a:p>
          <a:p>
            <a:pPr algn="ctr">
              <a:lnSpc>
                <a:spcPts val="2755"/>
              </a:lnSpc>
            </a:pPr>
            <a:r>
              <a:rPr dirty="0" sz="2300" spc="70">
                <a:latin typeface="Calibri"/>
                <a:cs typeface="Calibri"/>
              </a:rPr>
              <a:t>Level</a:t>
            </a:r>
            <a:r>
              <a:rPr dirty="0" sz="2300" spc="-114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Up</a:t>
            </a:r>
            <a:r>
              <a:rPr dirty="0" sz="2300" spc="6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Cybersecurity</a:t>
            </a:r>
            <a:r>
              <a:rPr dirty="0" sz="2300" spc="275">
                <a:latin typeface="Calibri"/>
                <a:cs typeface="Calibri"/>
              </a:rPr>
              <a:t> </a:t>
            </a:r>
            <a:r>
              <a:rPr dirty="0" sz="2300" spc="55">
                <a:latin typeface="Calibri"/>
                <a:cs typeface="Calibri"/>
              </a:rPr>
              <a:t>with</a:t>
            </a:r>
            <a:r>
              <a:rPr dirty="0" sz="2300" spc="2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Generative</a:t>
            </a:r>
            <a:r>
              <a:rPr dirty="0" sz="2300" spc="350">
                <a:latin typeface="Calibri"/>
                <a:cs typeface="Calibri"/>
              </a:rPr>
              <a:t> </a:t>
            </a:r>
            <a:r>
              <a:rPr dirty="0" sz="2300" spc="-25">
                <a:latin typeface="Calibri"/>
                <a:cs typeface="Calibri"/>
              </a:rPr>
              <a:t>AI</a:t>
            </a:r>
            <a:endParaRPr sz="2300">
              <a:latin typeface="Calibri"/>
              <a:cs typeface="Calibri"/>
            </a:endParaRPr>
          </a:p>
          <a:p>
            <a:pPr algn="ctr" marL="45085">
              <a:lnSpc>
                <a:spcPct val="100000"/>
              </a:lnSpc>
              <a:spcBef>
                <a:spcPts val="335"/>
              </a:spcBef>
            </a:pPr>
            <a:r>
              <a:rPr dirty="0" sz="1250" spc="-65">
                <a:latin typeface="Calibri"/>
                <a:cs typeface="Calibri"/>
              </a:rPr>
              <a:t>(ALM—</a:t>
            </a:r>
            <a:r>
              <a:rPr dirty="0" sz="1250" spc="-10">
                <a:latin typeface="Calibri"/>
                <a:cs typeface="Calibri"/>
              </a:rPr>
              <a:t>COURSE</a:t>
            </a:r>
            <a:r>
              <a:rPr dirty="0" sz="1250" spc="320">
                <a:latin typeface="Calibri"/>
                <a:cs typeface="Calibri"/>
              </a:rPr>
              <a:t> </a:t>
            </a:r>
            <a:r>
              <a:rPr dirty="0" sz="1250" spc="45">
                <a:latin typeface="Calibri"/>
                <a:cs typeface="Calibri"/>
              </a:rPr>
              <a:t>3947352)</a:t>
            </a:r>
            <a:endParaRPr sz="1250">
              <a:latin typeface="Calibri"/>
              <a:cs typeface="Calibri"/>
            </a:endParaRPr>
          </a:p>
          <a:p>
            <a:pPr algn="ctr" marL="54610">
              <a:lnSpc>
                <a:spcPct val="100000"/>
              </a:lnSpc>
              <a:spcBef>
                <a:spcPts val="865"/>
              </a:spcBef>
            </a:pPr>
            <a:r>
              <a:rPr dirty="0" sz="850" spc="-10">
                <a:latin typeface="Calibri"/>
                <a:cs typeface="Calibri"/>
              </a:rPr>
              <a:t>According </a:t>
            </a:r>
            <a:r>
              <a:rPr dirty="0" sz="850" spc="-20">
                <a:solidFill>
                  <a:srgbClr val="5E5E5E"/>
                </a:solidFill>
                <a:latin typeface="Calibri"/>
                <a:cs typeface="Calibri"/>
              </a:rPr>
              <a:t>to</a:t>
            </a:r>
            <a:r>
              <a:rPr dirty="0" sz="850" spc="-25">
                <a:solidFill>
                  <a:srgbClr val="5E5E5E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5E5E5E"/>
                </a:solidFill>
                <a:latin typeface="Calibri"/>
                <a:cs typeface="Calibri"/>
              </a:rPr>
              <a:t>the</a:t>
            </a:r>
            <a:r>
              <a:rPr dirty="0" sz="850" spc="-30">
                <a:solidFill>
                  <a:srgbClr val="5E5E5E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333333"/>
                </a:solidFill>
                <a:latin typeface="Calibri"/>
                <a:cs typeface="Calibri"/>
              </a:rPr>
              <a:t>Adobe</a:t>
            </a:r>
            <a:r>
              <a:rPr dirty="0" sz="850" spc="-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Learning</a:t>
            </a:r>
            <a:r>
              <a:rPr dirty="0" sz="850" spc="20">
                <a:latin typeface="Calibri"/>
                <a:cs typeface="Calibri"/>
              </a:rPr>
              <a:t> </a:t>
            </a:r>
            <a:r>
              <a:rPr dirty="0" sz="850" spc="-25">
                <a:solidFill>
                  <a:srgbClr val="333333"/>
                </a:solidFill>
                <a:latin typeface="Calibri"/>
                <a:cs typeface="Calibri"/>
              </a:rPr>
              <a:t>Manager</a:t>
            </a:r>
            <a:r>
              <a:rPr dirty="0" sz="85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system</a:t>
            </a:r>
            <a:r>
              <a:rPr dirty="0" sz="850" spc="10">
                <a:latin typeface="Calibri"/>
                <a:cs typeface="Calibri"/>
              </a:rPr>
              <a:t> </a:t>
            </a:r>
            <a:r>
              <a:rPr dirty="0" sz="850" spc="-30">
                <a:latin typeface="Calibri"/>
                <a:cs typeface="Calibri"/>
              </a:rPr>
              <a:t>of</a:t>
            </a:r>
            <a:r>
              <a:rPr dirty="0" sz="850" spc="-20"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333333"/>
                </a:solidFill>
                <a:latin typeface="Calibri"/>
                <a:cs typeface="Calibri"/>
              </a:rPr>
              <a:t>record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34845" y="6198651"/>
            <a:ext cx="116205" cy="1155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00" spc="-30">
                <a:latin typeface="Calibri"/>
                <a:cs typeface="Calibri"/>
              </a:rPr>
              <a:t>1/1</a:t>
            </a:r>
            <a:endParaRPr sz="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1145539" y="781558"/>
            <a:ext cx="336740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latin typeface="Arial"/>
                <a:cs typeface="Arial"/>
              </a:rPr>
              <a:t>Certificates</a:t>
            </a:r>
            <a:r>
              <a:rPr dirty="0" sz="2800" spc="-105" b="1">
                <a:latin typeface="Arial"/>
                <a:cs typeface="Arial"/>
              </a:rPr>
              <a:t> </a:t>
            </a:r>
            <a:r>
              <a:rPr dirty="0" sz="2800" spc="-10" b="1">
                <a:latin typeface="Arial"/>
                <a:cs typeface="Arial"/>
              </a:rPr>
              <a:t>Earned: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63369" y="1415541"/>
            <a:ext cx="3144520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b="1">
                <a:latin typeface="Arial"/>
                <a:cs typeface="Arial"/>
              </a:rPr>
              <a:t>IBM BOB</a:t>
            </a:r>
            <a:r>
              <a:rPr dirty="0" sz="2600" spc="-65" b="1">
                <a:latin typeface="Arial"/>
                <a:cs typeface="Arial"/>
              </a:rPr>
              <a:t> </a:t>
            </a:r>
            <a:r>
              <a:rPr dirty="0" sz="2600" spc="-10" b="1">
                <a:latin typeface="Arial"/>
                <a:cs typeface="Arial"/>
              </a:rPr>
              <a:t>Certificate</a:t>
            </a:r>
            <a:endParaRPr sz="26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90646" y="2232571"/>
            <a:ext cx="6102984" cy="4191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2026-07-15T18:08:57Z</dcterms:created>
  <dcterms:modified xsi:type="dcterms:W3CDTF">2026-07-15T18:08:57Z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2026-07-15T00:00:00Z</vt:filetime>
  </property>
  <property fmtid="{D5CDD505-2E9C-101B-9397-08002B2CF9AE}" pid="4" name="Creator">
    <vt:lpwstr>Microsoft® Word for Microsoft 365</vt:lpwstr>
  </property>
  <property fmtid="{D5CDD505-2E9C-101B-9397-08002B2CF9AE}" pid="5" name="LastSaved">
    <vt:filetime>2026-07-15T00:00:00Z</vt:filetime>
  </property>
  <property fmtid="{D5CDD505-2E9C-101B-9397-08002B2CF9AE}" pid="6" name="Producer">
    <vt:lpwstr>Microsoft® Word for Microsoft 365</vt:lpwstr>
  </property>
</Properties>
</file>